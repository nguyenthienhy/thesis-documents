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9"/>
  </p:notesMasterIdLst>
  <p:sldIdLst>
    <p:sldId id="256" r:id="rId2"/>
    <p:sldId id="257" r:id="rId3"/>
    <p:sldId id="259" r:id="rId4"/>
    <p:sldId id="287" r:id="rId5"/>
    <p:sldId id="291" r:id="rId6"/>
    <p:sldId id="293" r:id="rId7"/>
    <p:sldId id="321" r:id="rId8"/>
    <p:sldId id="292" r:id="rId9"/>
    <p:sldId id="294" r:id="rId10"/>
    <p:sldId id="261" r:id="rId11"/>
    <p:sldId id="304" r:id="rId12"/>
    <p:sldId id="299" r:id="rId13"/>
    <p:sldId id="300" r:id="rId14"/>
    <p:sldId id="301" r:id="rId15"/>
    <p:sldId id="302" r:id="rId16"/>
    <p:sldId id="303" r:id="rId17"/>
    <p:sldId id="305" r:id="rId18"/>
    <p:sldId id="306" r:id="rId19"/>
    <p:sldId id="307" r:id="rId20"/>
    <p:sldId id="308" r:id="rId21"/>
    <p:sldId id="309" r:id="rId22"/>
    <p:sldId id="310" r:id="rId23"/>
    <p:sldId id="312" r:id="rId24"/>
    <p:sldId id="313" r:id="rId25"/>
    <p:sldId id="315" r:id="rId26"/>
    <p:sldId id="314" r:id="rId27"/>
    <p:sldId id="316" r:id="rId28"/>
    <p:sldId id="317" r:id="rId29"/>
    <p:sldId id="318" r:id="rId30"/>
    <p:sldId id="319" r:id="rId31"/>
    <p:sldId id="327" r:id="rId32"/>
    <p:sldId id="325" r:id="rId33"/>
    <p:sldId id="320" r:id="rId34"/>
    <p:sldId id="322" r:id="rId35"/>
    <p:sldId id="323" r:id="rId36"/>
    <p:sldId id="324" r:id="rId37"/>
    <p:sldId id="280" r:id="rId38"/>
  </p:sldIdLst>
  <p:sldSz cx="9144000" cy="5143500" type="screen16x9"/>
  <p:notesSz cx="6858000" cy="9144000"/>
  <p:embeddedFontLst>
    <p:embeddedFont>
      <p:font typeface="Calibri" panose="020F0502020204030204" pitchFamily="34" charset="0"/>
      <p:regular r:id="rId40"/>
      <p:bold r:id="rId41"/>
      <p:italic r:id="rId42"/>
      <p:boldItalic r:id="rId43"/>
    </p:embeddedFont>
    <p:embeddedFont>
      <p:font typeface="Roboto Slab" panose="020B0604020202020204" charset="0"/>
      <p:regular r:id="rId44"/>
      <p:bold r:id="rId45"/>
    </p:embeddedFont>
    <p:embeddedFont>
      <p:font typeface="Nixie One" panose="020B0604020202020204" charset="0"/>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AACA145-2711-4909-83B6-47A45A03EB26}">
  <a:tblStyle styleId="{1AACA145-2711-4909-83B6-47A45A03EB26}"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15" autoAdjust="0"/>
  </p:normalViewPr>
  <p:slideViewPr>
    <p:cSldViewPr snapToGrid="0">
      <p:cViewPr varScale="1">
        <p:scale>
          <a:sx n="134" d="100"/>
          <a:sy n="134" d="100"/>
        </p:scale>
        <p:origin x="95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Kính thưa thầy chủ tịch và các thầy trong hội đồng, thưa toàn thể các bạn sinh viên.</a:t>
            </a:r>
          </a:p>
          <a:p>
            <a:pPr marL="0" lvl="0" indent="0" algn="l" rtl="0">
              <a:spcBef>
                <a:spcPts val="0"/>
              </a:spcBef>
              <a:spcAft>
                <a:spcPts val="0"/>
              </a:spcAft>
              <a:buNone/>
            </a:pPr>
            <a:r>
              <a:rPr lang="vi-VN" dirty="0" smtClean="0"/>
              <a:t>Em là Nguyễn Thiện Hỷ, sinh viên lớp CNTT2.02-K61.</a:t>
            </a:r>
          </a:p>
          <a:p>
            <a:pPr marL="0" lvl="0" indent="0" algn="l" rtl="0">
              <a:spcBef>
                <a:spcPts val="0"/>
              </a:spcBef>
              <a:spcAft>
                <a:spcPts val="0"/>
              </a:spcAft>
              <a:buNone/>
            </a:pPr>
            <a:r>
              <a:rPr lang="vi-VN" dirty="0" smtClean="0"/>
              <a:t>Sau đây em xin trình bày Đồ án tốt nghiệp với đề tài Nhận diện phát âm từ khoá trên thiết bị</a:t>
            </a: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Với</a:t>
            </a:r>
            <a:r>
              <a:rPr lang="en-US" baseline="0" dirty="0" smtClean="0"/>
              <a:t> sự phát triển vợt bậc trong lĩnh vực trí tuệ nhân tạo, con người đã chế tạo ra rất nhiều các thiết bị thông minh có thể kể đến như:  Điện thoại thông minh, Google home, Robot thông minh, hay đơn giản là các thiết bị được sử dụng cho một mô hình nhà thông minh.</a:t>
            </a:r>
          </a:p>
          <a:p>
            <a:pPr marL="0" lvl="0" indent="0" algn="l" rtl="0">
              <a:spcBef>
                <a:spcPts val="0"/>
              </a:spcBef>
              <a:spcAft>
                <a:spcPts val="0"/>
              </a:spcAft>
              <a:buNone/>
            </a:pPr>
            <a:r>
              <a:rPr lang="en-US" baseline="0" dirty="0" smtClean="0"/>
              <a:t>Có 2 câu hỏi được đặt ra là:</a:t>
            </a:r>
          </a:p>
          <a:p>
            <a:pPr marL="0" lvl="0" indent="0" algn="l" rtl="0">
              <a:spcBef>
                <a:spcPts val="0"/>
              </a:spcBef>
              <a:spcAft>
                <a:spcPts val="0"/>
              </a:spcAft>
              <a:buNone/>
            </a:pPr>
            <a:r>
              <a:rPr lang="en-US" baseline="0" dirty="0" smtClean="0"/>
              <a:t>Thứ nhất – Cách thức để điều khiển các thiết bị này:  Có thể thông qua câu lệnh hay là các từ khoá điều khiển cơ bản</a:t>
            </a:r>
          </a:p>
          <a:p>
            <a:pPr marL="0" lvl="0" indent="0" algn="l" rtl="0">
              <a:spcBef>
                <a:spcPts val="0"/>
              </a:spcBef>
              <a:spcAft>
                <a:spcPts val="0"/>
              </a:spcAft>
              <a:buNone/>
            </a:pPr>
            <a:r>
              <a:rPr lang="en-US" baseline="0" dirty="0" smtClean="0"/>
              <a:t>Thứ hai – Xây dựng các chương trình điều khiển như thế nào sao cho hợp lý về tài nguyên phần cứng?: Cách thức đơn giản nhất là xây dựng các mô hình nhận diện thông minh</a:t>
            </a:r>
            <a:endParaRPr dirty="0"/>
          </a:p>
        </p:txBody>
      </p:sp>
    </p:spTree>
    <p:extLst>
      <p:ext uri="{BB962C8B-B14F-4D97-AF65-F5344CB8AC3E}">
        <p14:creationId xmlns:p14="http://schemas.microsoft.com/office/powerpoint/2010/main" val="4260851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Bài</a:t>
            </a:r>
            <a:r>
              <a:rPr lang="en-US" baseline="0" dirty="0" smtClean="0"/>
              <a:t> toán điều khiển các thiết bị thông minh thì cũng đã nhận được sự quan tâm của rất nhiều các nhà nghiên cứu trên thế giới</a:t>
            </a:r>
          </a:p>
          <a:p>
            <a:pPr marL="0" lvl="0" indent="0" algn="l" rtl="0">
              <a:spcBef>
                <a:spcPts val="0"/>
              </a:spcBef>
              <a:spcAft>
                <a:spcPts val="0"/>
              </a:spcAft>
              <a:buNone/>
            </a:pPr>
            <a:r>
              <a:rPr lang="en-US" baseline="0" dirty="0" smtClean="0"/>
              <a:t>Tiêu biểu nhất là các nghiên cứu gần đây cho bộ dữ liệu từ khoá của google với mô hình có độ chính xác cao nhất cho đến thời điểm hiện tại là 98.6%. Nhóm tác giả người Hàn Quốc đề xuất mô hình TC-RESNET cho một hiệu suất khả quan trên thiết bị di động với độ trễ thời gian dự đoán khoảng 0.3 giây.</a:t>
            </a:r>
          </a:p>
          <a:p>
            <a:pPr marL="0" lvl="0" indent="0" algn="l" rtl="0">
              <a:spcBef>
                <a:spcPts val="0"/>
              </a:spcBef>
              <a:spcAft>
                <a:spcPts val="0"/>
              </a:spcAft>
              <a:buNone/>
            </a:pPr>
            <a:r>
              <a:rPr lang="en-US" baseline="0" dirty="0" smtClean="0"/>
              <a:t>Tại Việt Nam thì cũng có một số nghiên cứu về việc xây dựng các mô hinh điều khiển nhà thông minh thông qua các câu lệnh điều khiển cơ bản, nghiên cứu về các yếu tố ảnh hưởng mô hình nhận diện phát âm từ khoá. </a:t>
            </a:r>
          </a:p>
          <a:p>
            <a:pPr marL="0" lvl="0" indent="0" algn="l" rtl="0">
              <a:spcBef>
                <a:spcPts val="0"/>
              </a:spcBef>
              <a:spcAft>
                <a:spcPts val="0"/>
              </a:spcAft>
              <a:buNone/>
            </a:pPr>
            <a:r>
              <a:rPr lang="en-US" baseline="0" dirty="0" smtClean="0"/>
              <a:t>Tuy nhiên đa số các nghiên cứu này mới chỉ ở mức độ sơ khai, chưa có ứng dụng thực tế cụ thể nào trong đời sống.</a:t>
            </a:r>
            <a:endParaRPr dirty="0"/>
          </a:p>
        </p:txBody>
      </p:sp>
    </p:spTree>
    <p:extLst>
      <p:ext uri="{BB962C8B-B14F-4D97-AF65-F5344CB8AC3E}">
        <p14:creationId xmlns:p14="http://schemas.microsoft.com/office/powerpoint/2010/main" val="3217319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Qua một</a:t>
            </a:r>
            <a:r>
              <a:rPr lang="en-US" baseline="0" dirty="0" smtClean="0"/>
              <a:t> số tìm hiểu cũng như là nghiên cứu ở trên, em rút ra một số nhận xét như sau:</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760922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aseline="0" smtClean="0"/>
              <a:t>Chính vì các lý do trên </a:t>
            </a:r>
            <a:r>
              <a:rPr lang="en-US" baseline="0" dirty="0" smtClean="0"/>
              <a:t>mà em lựa chọn đề tài...</a:t>
            </a:r>
            <a:endParaRPr dirty="0"/>
          </a:p>
        </p:txBody>
      </p:sp>
    </p:spTree>
    <p:extLst>
      <p:ext uri="{BB962C8B-B14F-4D97-AF65-F5344CB8AC3E}">
        <p14:creationId xmlns:p14="http://schemas.microsoft.com/office/powerpoint/2010/main" val="1689289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6010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9515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Quy trình giải quyết bài toán trải qua </a:t>
            </a:r>
            <a:r>
              <a:rPr lang="en-US" dirty="0" smtClean="0"/>
              <a:t>5</a:t>
            </a:r>
            <a:r>
              <a:rPr lang="vi-VN" dirty="0" smtClean="0"/>
              <a:t> bước:</a:t>
            </a:r>
          </a:p>
          <a:p>
            <a:pPr marL="0" lvl="0" indent="0" algn="l" rtl="0">
              <a:spcBef>
                <a:spcPts val="0"/>
              </a:spcBef>
              <a:spcAft>
                <a:spcPts val="0"/>
              </a:spcAft>
              <a:buNone/>
            </a:pPr>
            <a:r>
              <a:rPr lang="vi-VN" dirty="0" smtClean="0"/>
              <a:t>Bước 1: Thu thập dữ liệu audio từ khoá từ các bạn sinh viên đại học Bách Khoa Hà Nội</a:t>
            </a:r>
          </a:p>
          <a:p>
            <a:pPr marL="0" lvl="0" indent="0" algn="l" rtl="0">
              <a:spcBef>
                <a:spcPts val="0"/>
              </a:spcBef>
              <a:spcAft>
                <a:spcPts val="0"/>
              </a:spcAft>
              <a:buNone/>
            </a:pPr>
            <a:r>
              <a:rPr lang="vi-VN" dirty="0" smtClean="0"/>
              <a:t>Bước 2: Tiền xử lý, làm giàu dữ liệu: lọc audio kém chất lượng, tìm hiểu các phương pháp làm giàu dữ liệu audio</a:t>
            </a:r>
          </a:p>
          <a:p>
            <a:pPr marL="0" lvl="0" indent="0" algn="l" rtl="0">
              <a:spcBef>
                <a:spcPts val="0"/>
              </a:spcBef>
              <a:spcAft>
                <a:spcPts val="0"/>
              </a:spcAft>
              <a:buNone/>
            </a:pPr>
            <a:r>
              <a:rPr lang="vi-VN" dirty="0" smtClean="0"/>
              <a:t>Bước 3: Trích xuất các đặc trưng quan trọng cho đầu vào của mô hình</a:t>
            </a:r>
            <a:endParaRPr lang="en-US" dirty="0" smtClean="0"/>
          </a:p>
          <a:p>
            <a:pPr marL="0" lvl="0" indent="0" algn="l" rtl="0">
              <a:spcBef>
                <a:spcPts val="0"/>
              </a:spcBef>
              <a:spcAft>
                <a:spcPts val="0"/>
              </a:spcAft>
              <a:buNone/>
            </a:pPr>
            <a:r>
              <a:rPr lang="en-US" dirty="0" smtClean="0"/>
              <a:t>Bước</a:t>
            </a:r>
            <a:r>
              <a:rPr lang="en-US" baseline="0" dirty="0" smtClean="0"/>
              <a:t> 4: Xây dựng các mô hình học máy, học sâu dựa trên các đặc trưng thu được</a:t>
            </a:r>
            <a:endParaRPr lang="vi-VN" dirty="0" smtClean="0"/>
          </a:p>
          <a:p>
            <a:pPr marL="0" lvl="0" indent="0" algn="l" rtl="0">
              <a:spcBef>
                <a:spcPts val="0"/>
              </a:spcBef>
              <a:spcAft>
                <a:spcPts val="0"/>
              </a:spcAft>
              <a:buNone/>
            </a:pPr>
            <a:r>
              <a:rPr lang="vi-VN" dirty="0" smtClean="0"/>
              <a:t>Bước </a:t>
            </a:r>
            <a:r>
              <a:rPr lang="en-US" dirty="0" smtClean="0"/>
              <a:t>5</a:t>
            </a:r>
            <a:r>
              <a:rPr lang="vi-VN" dirty="0" smtClean="0"/>
              <a:t>: Đánh giá, lựa chọn mô hình tốt nhất để đưa lên thiết bị (đánh giá này bao gồm đánh giá về độ chính xác, thời gian dự đoán)</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6514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Dữ liệu audio được thu thập thông qua một website được thiết kế bởi bạn Trần Minh Hiếu khoá k62 trong môn Project 2</a:t>
            </a:r>
          </a:p>
          <a:p>
            <a:pPr marL="0" lvl="0" indent="0" algn="l" rtl="0">
              <a:spcBef>
                <a:spcPts val="0"/>
              </a:spcBef>
              <a:spcAft>
                <a:spcPts val="0"/>
              </a:spcAft>
              <a:buNone/>
            </a:pPr>
            <a:r>
              <a:rPr lang="vi-VN" dirty="0" smtClean="0"/>
              <a:t>Lấy ý tưởng từ các lệnh điều khiển robot cơ bản, hệ thống định nghĩa ra 17 nhãn từ khoá cần phải thu âm hiển thị ở slide trang số 7</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5977834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Trong quá trình ghi âm thì không phải audio nào cũng được thu âm một cách hoàn hảo do ảnh hưởng bởi nhiều yếu tố chủ quan cũng như khách quan như: tiếng ồn, microphone kém chất lượng, vv...</a:t>
            </a:r>
          </a:p>
          <a:p>
            <a:pPr marL="0" lvl="0" indent="0" algn="l" rtl="0">
              <a:spcBef>
                <a:spcPts val="0"/>
              </a:spcBef>
              <a:spcAft>
                <a:spcPts val="0"/>
              </a:spcAft>
              <a:buNone/>
            </a:pPr>
            <a:r>
              <a:rPr lang="vi-VN" dirty="0" smtClean="0"/>
              <a:t>Vì thế mà em tiến hành loại bỏ các audio không có ý nghĩa theo các tiêu chí như là</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224378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Để tiện cho việc đánh giá phân bố dữ liệu thì em tiến hành đánh dấu lại các audio theo giọng vùng miền B-T-N cũng như là theo giới tính Nam hoặc Nữ</a:t>
            </a:r>
          </a:p>
          <a:p>
            <a:pPr marL="0" lvl="0" indent="0" algn="l" rtl="0">
              <a:spcBef>
                <a:spcPts val="0"/>
              </a:spcBef>
              <a:spcAft>
                <a:spcPts val="0"/>
              </a:spcAft>
              <a:buNone/>
            </a:pPr>
            <a:r>
              <a:rPr lang="vi-VN" dirty="0" smtClean="0"/>
              <a:t>Bộ dữ liệu hiện tại sau khi thu thập và tiền xử lý sẽ bao gồm 2 bộ:</a:t>
            </a:r>
          </a:p>
          <a:p>
            <a:pPr marL="0" lvl="0" indent="0" algn="l" rtl="0">
              <a:spcBef>
                <a:spcPts val="0"/>
              </a:spcBef>
              <a:spcAft>
                <a:spcPts val="0"/>
              </a:spcAft>
              <a:buNone/>
            </a:pPr>
            <a:r>
              <a:rPr lang="vi-VN" dirty="0" smtClean="0"/>
              <a:t>Bộ DS2020: Bộ dữ liệu đã được thu âm từ năm 2020</a:t>
            </a:r>
          </a:p>
          <a:p>
            <a:pPr marL="0" lvl="0" indent="0" algn="l" rtl="0">
              <a:spcBef>
                <a:spcPts val="0"/>
              </a:spcBef>
              <a:spcAft>
                <a:spcPts val="0"/>
              </a:spcAft>
              <a:buNone/>
            </a:pPr>
            <a:r>
              <a:rPr lang="vi-VN" dirty="0" smtClean="0"/>
              <a:t>Bộ DS2021: Bộ dữ liệu DS2020 + Dữ liệu được thu âm từ tháng 2 đến cuối tháng 4/2021</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18867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Phân bố dữ liệu chủ yếu bao gồm các audio giọng nam miền Bắc, tỷ lệ số audio giọng nữ còn khá ít chiếm khoảng 14% trong tập dữ liệu</a:t>
            </a:r>
          </a:p>
          <a:p>
            <a:pPr marL="0" lvl="0" indent="0" algn="l" rtl="0">
              <a:spcBef>
                <a:spcPts val="0"/>
              </a:spcBef>
              <a:spcAft>
                <a:spcPts val="0"/>
              </a:spcAft>
              <a:buNone/>
            </a:pPr>
            <a:r>
              <a:rPr lang="vi-VN" dirty="0" smtClean="0"/>
              <a:t>=&gt; Chính vì lý do đó mà đồ án này chỉ tập chung tối ưu mô hình nhận diện phát âm từ khoá cho giọng nam miền Bắc</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807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Do số lượng audio còn khá ít, cho nên em đề xuất thêm một số phương pháp làm giàu dữ liệu bao gồm 5 phương pháp sau:</a:t>
            </a:r>
          </a:p>
          <a:p>
            <a:pPr marL="0" lvl="0" indent="0" algn="l" rtl="0">
              <a:spcBef>
                <a:spcPts val="0"/>
              </a:spcBef>
              <a:spcAft>
                <a:spcPts val="0"/>
              </a:spcAft>
              <a:buNone/>
            </a:pPr>
            <a:r>
              <a:rPr lang="vi-VN" dirty="0" smtClean="0"/>
              <a:t>+ Loại bỏ nhiễu: tức là Làm im lặng (đưa về biên độ 0) các đoạn âm thanh nhiễu trong file audio từ khoá</a:t>
            </a:r>
          </a:p>
          <a:p>
            <a:pPr marL="0" lvl="0" indent="0" algn="l" rtl="0">
              <a:spcBef>
                <a:spcPts val="0"/>
              </a:spcBef>
              <a:spcAft>
                <a:spcPts val="0"/>
              </a:spcAft>
              <a:buNone/>
            </a:pPr>
            <a:r>
              <a:rPr lang="vi-VN" dirty="0" smtClean="0"/>
              <a:t>+ Nâng giảm cao độ: Tăng hoặc giảm tần số của audio lên một mức nhất định (cung)</a:t>
            </a:r>
          </a:p>
          <a:p>
            <a:pPr marL="0" lvl="0" indent="0" algn="l" rtl="0">
              <a:spcBef>
                <a:spcPts val="0"/>
              </a:spcBef>
              <a:spcAft>
                <a:spcPts val="0"/>
              </a:spcAft>
              <a:buNone/>
            </a:pPr>
            <a:r>
              <a:rPr lang="vi-VN" dirty="0" smtClean="0"/>
              <a:t>+ Tua nhanh thời gian: Tăng tốc độ phát âm từ khoá mà vẫn giữ nguyên về cao độ cũng như âm sắc</a:t>
            </a:r>
          </a:p>
          <a:p>
            <a:pPr marL="0" lvl="0" indent="0" algn="l" rtl="0">
              <a:spcBef>
                <a:spcPts val="0"/>
              </a:spcBef>
              <a:spcAft>
                <a:spcPts val="0"/>
              </a:spcAft>
              <a:buNone/>
            </a:pPr>
            <a:r>
              <a:rPr lang="vi-VN" dirty="0" smtClean="0"/>
              <a:t>+ Trộn các âm thanh nhiễu</a:t>
            </a:r>
          </a:p>
          <a:p>
            <a:pPr marL="0" lvl="0" indent="0" algn="l" rtl="0">
              <a:spcBef>
                <a:spcPts val="0"/>
              </a:spcBef>
              <a:spcAft>
                <a:spcPts val="0"/>
              </a:spcAft>
              <a:buNone/>
            </a:pPr>
            <a:r>
              <a:rPr lang="vi-VN" dirty="0" smtClean="0"/>
              <a:t>+ Chuẩn hoá âm lượng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782142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688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Đặc trưng MFCC là đặc trưng được sử dụng phổ biến nhất trong các bài toán nhận diện giọng nói ngày nay, thường được trích xuất thông qua 2 bước cơ bản:</a:t>
            </a:r>
          </a:p>
          <a:p>
            <a:pPr marL="0" lvl="0" indent="0" algn="l" rtl="0">
              <a:spcBef>
                <a:spcPts val="0"/>
              </a:spcBef>
              <a:spcAft>
                <a:spcPts val="0"/>
              </a:spcAft>
              <a:buNone/>
            </a:pPr>
            <a:r>
              <a:rPr lang="vi-VN" dirty="0" smtClean="0"/>
              <a:t>Bước 1: Lấy mẫu, phân khung thời gian cho tín hiệu âm thanh, mỗi một khung được gọi là một frame </a:t>
            </a:r>
          </a:p>
          <a:p>
            <a:pPr marL="0" lvl="0" indent="0" algn="l" rtl="0">
              <a:spcBef>
                <a:spcPts val="0"/>
              </a:spcBef>
              <a:spcAft>
                <a:spcPts val="0"/>
              </a:spcAft>
              <a:buNone/>
            </a:pPr>
            <a:r>
              <a:rPr lang="vi-VN" dirty="0" smtClean="0"/>
              <a:t>Bước 2: Ứng với mỗi frame thì ta sử dụng</a:t>
            </a:r>
            <a:r>
              <a:rPr lang="en-US" dirty="0" smtClean="0"/>
              <a:t> các</a:t>
            </a:r>
            <a:r>
              <a:rPr lang="vi-VN" dirty="0" smtClean="0"/>
              <a:t> phép biến đổi fourier, tính toán các đạo hàm bậc 1 và bậc 2 để thu được các hệ số MFCC</a:t>
            </a:r>
          </a:p>
          <a:p>
            <a:pPr marL="0" lvl="0" indent="0" algn="l" rtl="0">
              <a:spcBef>
                <a:spcPts val="0"/>
              </a:spcBef>
              <a:spcAft>
                <a:spcPts val="0"/>
              </a:spcAft>
              <a:buNone/>
            </a:pPr>
            <a:r>
              <a:rPr lang="vi-VN" dirty="0" smtClean="0"/>
              <a:t>Tổng hợp các hệ số MFCC ứng với mỗi frame, ta thu được đặc trưng MFCC cần tìm cho một đoạn tín hiệu âm thanh</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57213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5173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Mô hình TC-RESNET sử dụng kiến trúc CNN1D thay vì các kiến trúc CNN2D giúp cho mô hình có thể bao phủ trọn tất cả đặc trưng về tần số,</a:t>
            </a:r>
          </a:p>
          <a:p>
            <a:pPr marL="0" lvl="0" indent="0" algn="l" rtl="0">
              <a:spcBef>
                <a:spcPts val="0"/>
              </a:spcBef>
              <a:spcAft>
                <a:spcPts val="0"/>
              </a:spcAft>
              <a:buNone/>
            </a:pPr>
            <a:r>
              <a:rPr lang="vi-VN" dirty="0" smtClean="0"/>
              <a:t>đồng thời khối lượng tính toán cho đầu ra cũng ít hơn</a:t>
            </a:r>
          </a:p>
          <a:p>
            <a:pPr marL="0" lvl="0" indent="0" algn="l" rtl="0">
              <a:spcBef>
                <a:spcPts val="0"/>
              </a:spcBef>
              <a:spcAft>
                <a:spcPts val="0"/>
              </a:spcAft>
              <a:buNone/>
            </a:pPr>
            <a:r>
              <a:rPr lang="vi-VN" dirty="0" smtClean="0"/>
              <a:t>Kiến trúc các lớp mạng thì kế thừa lại kiến trúc của mạng resnet – đặc trưng chủ yếu bởi các kết nối tắt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77681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Mô hình MULTIHEAD-ATTENTION-RNN sử dụng kết hợp giữa mạng tích chập, mạng nơ ron hồi quy với cơ chế attention</a:t>
            </a:r>
          </a:p>
          <a:p>
            <a:pPr marL="0" lvl="0" indent="0" algn="l" rtl="0">
              <a:spcBef>
                <a:spcPts val="0"/>
              </a:spcBef>
              <a:spcAft>
                <a:spcPts val="0"/>
              </a:spcAft>
              <a:buNone/>
            </a:pPr>
            <a:r>
              <a:rPr lang="vi-VN" dirty="0" smtClean="0"/>
              <a:t>Mạng tích chập có mục đích tính toán các mối quan hệ địa phương giữa các dải tần số gần nhau</a:t>
            </a:r>
          </a:p>
          <a:p>
            <a:pPr marL="0" lvl="0" indent="0" algn="l" rtl="0">
              <a:spcBef>
                <a:spcPts val="0"/>
              </a:spcBef>
              <a:spcAft>
                <a:spcPts val="0"/>
              </a:spcAft>
              <a:buNone/>
            </a:pPr>
            <a:r>
              <a:rPr lang="vi-VN" dirty="0" smtClean="0"/>
              <a:t>Mạng nơ ron hồi quy nhằm thu thập thông tin về cả 2 chiều của tín hiệu âm thanh</a:t>
            </a:r>
          </a:p>
          <a:p>
            <a:pPr marL="0" lvl="0" indent="0" algn="l" rtl="0">
              <a:spcBef>
                <a:spcPts val="0"/>
              </a:spcBef>
              <a:spcAft>
                <a:spcPts val="0"/>
              </a:spcAft>
              <a:buNone/>
            </a:pPr>
            <a:r>
              <a:rPr lang="vi-VN" dirty="0" smtClean="0"/>
              <a:t>Cơ chế attention để đánh giá xem phần nào của audio là quan trọng nhất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4936204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09144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 </a:t>
            </a:r>
            <a:r>
              <a:rPr lang="en-US" baseline="0" dirty="0" smtClean="0"/>
              <a:t> Quá trình ghi âm audio sẽ được tổng hợp theo các frame</a:t>
            </a:r>
            <a:endParaRPr lang="en-US" dirty="0" smtClean="0"/>
          </a:p>
          <a:p>
            <a:pPr marL="0" lvl="0" indent="0" algn="l" rtl="0">
              <a:spcBef>
                <a:spcPts val="0"/>
              </a:spcBef>
              <a:spcAft>
                <a:spcPts val="0"/>
              </a:spcAft>
              <a:buFontTx/>
              <a:buNone/>
            </a:pPr>
            <a:r>
              <a:rPr lang="en-US" dirty="0" smtClean="0"/>
              <a:t>-  </a:t>
            </a:r>
            <a:r>
              <a:rPr lang="vi-VN" dirty="0" smtClean="0"/>
              <a:t>Thông thường, trong một giao dịch dự đoán thì mô hình sẽ phải đợi 1 đến 2 giây ghi âm rồi mới bắt đầu nhận diện, dẫn đến một nhược điểm là ta không biết được thời điểm người dùng bắt đầu nói </a:t>
            </a:r>
            <a:endParaRPr lang="en-US" dirty="0" smtClean="0"/>
          </a:p>
          <a:p>
            <a:pPr marL="0" lvl="0" indent="0" algn="l" rtl="0">
              <a:spcBef>
                <a:spcPts val="0"/>
              </a:spcBef>
              <a:spcAft>
                <a:spcPts val="0"/>
              </a:spcAft>
              <a:buFontTx/>
              <a:buNone/>
            </a:pPr>
            <a:r>
              <a:rPr lang="vi-VN" dirty="0" smtClean="0"/>
              <a:t>cũng như là thời gian nhận diện từ khoá sẽ bị chậm</a:t>
            </a:r>
          </a:p>
          <a:p>
            <a:pPr marL="0" lvl="0" indent="0" algn="l" rtl="0">
              <a:spcBef>
                <a:spcPts val="0"/>
              </a:spcBef>
              <a:spcAft>
                <a:spcPts val="0"/>
              </a:spcAft>
              <a:buNone/>
            </a:pPr>
            <a:r>
              <a:rPr lang="vi-VN" dirty="0" smtClean="0"/>
              <a:t>- Chính vì thế </a:t>
            </a:r>
            <a:r>
              <a:rPr lang="en-US" dirty="0" smtClean="0"/>
              <a:t>mà</a:t>
            </a:r>
            <a:r>
              <a:rPr lang="en-US" baseline="0" dirty="0" smtClean="0"/>
              <a:t> google đã đề xuất </a:t>
            </a:r>
            <a:r>
              <a:rPr lang="vi-VN" dirty="0" smtClean="0"/>
              <a:t>thuật toán webrtcvad</a:t>
            </a:r>
            <a:r>
              <a:rPr lang="en-US" baseline="0" dirty="0" smtClean="0"/>
              <a:t> </a:t>
            </a:r>
            <a:r>
              <a:rPr lang="vi-VN" dirty="0" smtClean="0"/>
              <a:t>để nhận diện xem các frame có phải là tiếng người hay là không</a:t>
            </a:r>
          </a:p>
          <a:p>
            <a:pPr marL="0" lvl="0" indent="0" algn="l" rtl="0">
              <a:spcBef>
                <a:spcPts val="0"/>
              </a:spcBef>
              <a:spcAft>
                <a:spcPts val="0"/>
              </a:spcAft>
              <a:buNone/>
            </a:pPr>
            <a:r>
              <a:rPr lang="en-US" dirty="0" smtClean="0"/>
              <a:t>- </a:t>
            </a:r>
            <a:r>
              <a:rPr lang="vi-VN" dirty="0" smtClean="0"/>
              <a:t>Khi số frame tiếng người chiếm khoảng 80 đến 90% trong tổng số frame đang xét thì kết thúc quá trình ghi âm</a:t>
            </a:r>
          </a:p>
          <a:p>
            <a:pPr marL="0" lvl="0" indent="0" algn="l" rtl="0">
              <a:spcBef>
                <a:spcPts val="0"/>
              </a:spcBef>
              <a:spcAft>
                <a:spcPts val="0"/>
              </a:spcAft>
              <a:buNone/>
            </a:pPr>
            <a:r>
              <a:rPr lang="en-US" dirty="0" smtClean="0"/>
              <a:t>- </a:t>
            </a:r>
            <a:r>
              <a:rPr lang="vi-VN" dirty="0" smtClean="0"/>
              <a:t>Dữ liệu audio frame thu được sẽ đưa vào mô hình để nhận diện</a:t>
            </a:r>
          </a:p>
          <a:p>
            <a:pPr marL="0" lvl="0" indent="0" algn="l" rtl="0">
              <a:spcBef>
                <a:spcPts val="0"/>
              </a:spcBef>
              <a:spcAft>
                <a:spcPts val="0"/>
              </a:spcAft>
              <a:buNone/>
            </a:pPr>
            <a:r>
              <a:rPr lang="vi-VN" dirty="0" smtClean="0"/>
              <a:t>Phương pháp này sẽ đáp ứng 2 nhu cầu:</a:t>
            </a:r>
          </a:p>
          <a:p>
            <a:pPr marL="0" lvl="0" indent="0" algn="l" rtl="0">
              <a:spcBef>
                <a:spcPts val="0"/>
              </a:spcBef>
              <a:spcAft>
                <a:spcPts val="0"/>
              </a:spcAft>
              <a:buNone/>
            </a:pPr>
            <a:r>
              <a:rPr lang="en-US" dirty="0" smtClean="0"/>
              <a:t>+ </a:t>
            </a:r>
            <a:r>
              <a:rPr lang="vi-VN" dirty="0" smtClean="0"/>
              <a:t>Khi nói đủ thì sẽ ngay lập tức</a:t>
            </a:r>
            <a:r>
              <a:rPr lang="en-US" dirty="0" smtClean="0"/>
              <a:t> đưa</a:t>
            </a:r>
            <a:r>
              <a:rPr lang="en-US" baseline="0" dirty="0" smtClean="0"/>
              <a:t> vào mô hình để</a:t>
            </a:r>
            <a:r>
              <a:rPr lang="vi-VN" dirty="0" smtClean="0"/>
              <a:t> nhận diện</a:t>
            </a:r>
          </a:p>
          <a:p>
            <a:pPr marL="0" lvl="0" indent="0" algn="l" rtl="0">
              <a:spcBef>
                <a:spcPts val="0"/>
              </a:spcBef>
              <a:spcAft>
                <a:spcPts val="0"/>
              </a:spcAft>
              <a:buNone/>
            </a:pPr>
            <a:r>
              <a:rPr lang="en-US" dirty="0" smtClean="0"/>
              <a:t>+ </a:t>
            </a:r>
            <a:r>
              <a:rPr lang="vi-VN" dirty="0" smtClean="0"/>
              <a:t>Khi không nói hoặc nói chưa đủ thì sẽ tiếp tục ghi âm</a:t>
            </a:r>
          </a:p>
          <a:p>
            <a:pPr marL="0" lvl="0" indent="0" algn="l" rtl="0">
              <a:spcBef>
                <a:spcPts val="0"/>
              </a:spcBef>
              <a:spcAft>
                <a:spcPts val="0"/>
              </a:spcAft>
              <a:buNone/>
            </a:pPr>
            <a:r>
              <a:rPr lang="en-US" dirty="0" smtClean="0"/>
              <a:t>Nhược</a:t>
            </a:r>
            <a:r>
              <a:rPr lang="en-US" baseline="0" dirty="0" smtClean="0"/>
              <a:t> điểm: Rất nhạy cảm với nhiễu</a:t>
            </a:r>
            <a:endParaRPr dirty="0"/>
          </a:p>
        </p:txBody>
      </p:sp>
    </p:spTree>
    <p:extLst>
      <p:ext uri="{BB962C8B-B14F-4D97-AF65-F5344CB8AC3E}">
        <p14:creationId xmlns:p14="http://schemas.microsoft.com/office/powerpoint/2010/main" val="15935311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9463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02568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Ở đây em sử dụng công cụ tflite-converter của tensorflow để có thể chuyển đổi mô hình nhận diện </a:t>
            </a:r>
            <a:r>
              <a:rPr lang="en-US" dirty="0" smtClean="0"/>
              <a:t>phát</a:t>
            </a:r>
            <a:r>
              <a:rPr lang="en-US" baseline="0" dirty="0" smtClean="0"/>
              <a:t> âm </a:t>
            </a:r>
            <a:r>
              <a:rPr lang="vi-VN" dirty="0" smtClean="0"/>
              <a:t>từ khoá sang dạng rút gọn</a:t>
            </a:r>
            <a:r>
              <a:rPr lang="en-US" dirty="0" smtClean="0"/>
              <a:t>,</a:t>
            </a:r>
            <a:r>
              <a:rPr lang="en-US" baseline="0" dirty="0" smtClean="0"/>
              <a:t> sau đó sẽ được đưa lên thiết bị</a:t>
            </a:r>
            <a:r>
              <a:rPr lang="vi-VN" dirty="0" smtClean="0"/>
              <a:t>, mô hình được cắt tỉa một số lớp nhưng vẫn đảm bảo về độ chính xác đồng thời thì thời gian nhận diện sẽ nhanh hơn </a:t>
            </a:r>
            <a:r>
              <a:rPr lang="en-US" dirty="0" smtClean="0"/>
              <a:t>đáng</a:t>
            </a:r>
            <a:r>
              <a:rPr lang="en-US" baseline="0" dirty="0" smtClean="0"/>
              <a:t> kể.</a:t>
            </a:r>
            <a:endParaRPr dirty="0"/>
          </a:p>
        </p:txBody>
      </p:sp>
    </p:spTree>
    <p:extLst>
      <p:ext uri="{BB962C8B-B14F-4D97-AF65-F5344CB8AC3E}">
        <p14:creationId xmlns:p14="http://schemas.microsoft.com/office/powerpoint/2010/main" val="936548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67525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Tx/>
              <a:buNone/>
            </a:pPr>
            <a:r>
              <a:rPr lang="en-US" dirty="0" smtClean="0"/>
              <a:t>Với</a:t>
            </a:r>
            <a:r>
              <a:rPr lang="en-US" baseline="0" dirty="0" smtClean="0"/>
              <a:t> mô hình không sử dụng phương pháp làm giàu dữ liệu:</a:t>
            </a:r>
          </a:p>
          <a:p>
            <a:pPr marL="0" indent="0">
              <a:buFontTx/>
              <a:buNone/>
            </a:pPr>
            <a:r>
              <a:rPr lang="en-US" dirty="0" smtClean="0"/>
              <a:t>Mô</a:t>
            </a:r>
            <a:r>
              <a:rPr lang="en-US" baseline="0" dirty="0" smtClean="0"/>
              <a:t> hình TC-RESNET đạt độ chính xác 96.61% trên tập test chỉ bao gồm giọng nam miền Bắc đối với bộ dữ liệu sử dụng 100% dữ liệu trong tập training để huấn luyện</a:t>
            </a:r>
          </a:p>
          <a:p>
            <a:pPr marL="0" indent="0">
              <a:buFontTx/>
              <a:buNone/>
            </a:pPr>
            <a:r>
              <a:rPr lang="en-US" baseline="0" dirty="0" smtClean="0"/>
              <a:t>Trong khi đó khi chỉ sử dụng một nửa dữ liệu trong tập training để huấn luyện thì độ chính xác trên tập test chỉ đạt khoảng 93.76%</a:t>
            </a:r>
          </a:p>
          <a:p>
            <a:pPr marL="0" indent="0">
              <a:buFontTx/>
              <a:buNone/>
            </a:pPr>
            <a:r>
              <a:rPr lang="en-US" baseline="0" dirty="0" smtClean="0"/>
              <a:t>Từ đó mà ta thấy được tầm quan trọng của số lượng dữ liệu trong việc xây dựng mô hình nhận diện phát âm từ khoá</a:t>
            </a:r>
            <a:endParaRPr lang="en-VN"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3385730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Tx/>
              <a:buNone/>
            </a:pPr>
            <a:r>
              <a:rPr lang="en-US" dirty="0" smtClean="0"/>
              <a:t>Khi sử</a:t>
            </a:r>
            <a:r>
              <a:rPr lang="en-US" baseline="0" dirty="0" smtClean="0"/>
              <a:t> dụng thêm phương pháp làm giàu dữ liệu thì độ chính xác của các mô hình tăng thêm khoảng từ 1 đến 2%, cụ thể:</a:t>
            </a:r>
          </a:p>
          <a:p>
            <a:pPr marL="0" indent="0">
              <a:buFontTx/>
              <a:buNone/>
            </a:pPr>
            <a:r>
              <a:rPr lang="en-US" baseline="0" dirty="0" smtClean="0"/>
              <a:t>Mô hình TC-RESNET đạt độ chính xác khoảng 97.50% khi sử dụng 100% dữ </a:t>
            </a:r>
            <a:r>
              <a:rPr lang="en-US" baseline="0" smtClean="0"/>
              <a:t>liệu trong tập </a:t>
            </a:r>
            <a:r>
              <a:rPr lang="en-US" baseline="0" dirty="0" smtClean="0"/>
              <a:t>training để huấn luyện</a:t>
            </a:r>
          </a:p>
          <a:p>
            <a:pPr marL="0" indent="0">
              <a:buFontTx/>
              <a:buNone/>
            </a:pPr>
            <a:r>
              <a:rPr lang="en-US" baseline="0" dirty="0" smtClean="0"/>
              <a:t>Mô hình MULTIHEAD-ATTENTION-RNN có thấp hơn một chút nhưng độ chính xác cũng đạt khoảng 96.79%.</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58567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Tx/>
              <a:buNone/>
            </a:pPr>
            <a:r>
              <a:rPr lang="en-US" baseline="0" dirty="0" smtClean="0"/>
              <a:t>Sau khi thử nghiệm khoảng 30 lần ghi âm thì em thu được bảng tổng hợp chi tiết về thời gian trung bình cho một lần nhận diện phát âm từ khoá của 2 mô hình TC-RESNET và MULTIHEAD-ATTENTION-RNN, cụ thể:</a:t>
            </a:r>
          </a:p>
          <a:p>
            <a:pPr marL="0" indent="0">
              <a:buFontTx/>
              <a:buNone/>
            </a:pPr>
            <a:r>
              <a:rPr lang="en-US" baseline="0" dirty="0" smtClean="0"/>
              <a:t>Thời gian nhận diện phát âm từ khoá của mô hình TC-RESNET đa số không quá 0.2 giây (chỉ dao động trong khoảng từ 0.03 đến 0.1 giây)</a:t>
            </a:r>
          </a:p>
          <a:p>
            <a:pPr marL="0" indent="0">
              <a:buFontTx/>
              <a:buNone/>
            </a:pPr>
            <a:r>
              <a:rPr lang="en-US" baseline="0" dirty="0" smtClean="0"/>
              <a:t>Trong khi đó, đối với mô hình MULTIHEAD-ATTENTION-RNN,  thời gian dự đoán trong khoảng từ 0.3 đến 0.4 giây, nguyên nhân có thể là do mô hình sử dụng kiến trúc mạng chuỗi RNN - không tận dụng được tối đa khả năng tính toán song song của phần cứng thiết bị</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8924755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Thì</a:t>
            </a:r>
            <a:r>
              <a:rPr lang="en-US" baseline="0" dirty="0" smtClean="0"/>
              <a:t> sau đây là bảng tổng hợp một số kết quả nhận diện từ khoá cho một số trường hợp cụ thể.</a:t>
            </a:r>
          </a:p>
          <a:p>
            <a:pPr marL="0" lvl="0" indent="0" algn="l" rtl="0">
              <a:spcBef>
                <a:spcPts val="0"/>
              </a:spcBef>
              <a:spcAft>
                <a:spcPts val="0"/>
              </a:spcAft>
              <a:buNone/>
            </a:pPr>
            <a:r>
              <a:rPr lang="en-US" baseline="0" dirty="0" smtClean="0"/>
              <a:t>Theo thực nghiệm thì khi người dùng nói rành mạch, rõ ràng các từ khoá trong môi trường ít tiếng ồn thì các nhãn được dự đoán luôn luôn chính xác với một độ tin cậy rất cao</a:t>
            </a:r>
          </a:p>
          <a:p>
            <a:pPr marL="0" lvl="0" indent="0" algn="l" rtl="0">
              <a:spcBef>
                <a:spcPts val="0"/>
              </a:spcBef>
              <a:spcAft>
                <a:spcPts val="0"/>
              </a:spcAft>
              <a:buNone/>
            </a:pPr>
            <a:r>
              <a:rPr lang="en-US" baseline="0" dirty="0" smtClean="0"/>
              <a:t>Trong khi đó đối với các âm thanh nhiễu như là: Tiếng xịt xoạt, tiếng xe cộ, mặc dù mô hình dự đoán được ra nhãn của từ khoá tuy nhiên là độ tin cậy của mô hình là rất thấp.</a:t>
            </a:r>
          </a:p>
          <a:p>
            <a:pPr marL="0" lvl="0" indent="0" algn="l" rtl="0">
              <a:spcBef>
                <a:spcPts val="0"/>
              </a:spcBef>
              <a:spcAft>
                <a:spcPts val="0"/>
              </a:spcAft>
              <a:buNone/>
            </a:pPr>
            <a:r>
              <a:rPr lang="en-US" baseline="0" dirty="0" smtClean="0"/>
              <a:t>Một số các từ được ghi âm nhưng không nằm trong phạm vi các nhãn từ khoá được huấn luyện, mô hình vẫn cho ra kết quả dự đoán với một độ tin cậy cao.</a:t>
            </a:r>
          </a:p>
          <a:p>
            <a:pPr marL="0" lvl="0" indent="0" algn="l" rtl="0">
              <a:spcBef>
                <a:spcPts val="0"/>
              </a:spcBef>
              <a:spcAft>
                <a:spcPts val="0"/>
              </a:spcAft>
              <a:buNone/>
            </a:pPr>
            <a:r>
              <a:rPr lang="en-US" dirty="0" smtClean="0"/>
              <a:t>Các</a:t>
            </a:r>
            <a:r>
              <a:rPr lang="en-US" baseline="0" dirty="0" smtClean="0"/>
              <a:t> từ có các âm giống với các âm trong các từ khoá được huấn luyện thì có xu hướng bị nhận diện nhầm</a:t>
            </a:r>
          </a:p>
          <a:p>
            <a:pPr marL="0" lvl="0" indent="0" algn="l" rtl="0">
              <a:spcBef>
                <a:spcPts val="0"/>
              </a:spcBef>
              <a:spcAft>
                <a:spcPts val="0"/>
              </a:spcAft>
              <a:buNone/>
            </a:pPr>
            <a:r>
              <a:rPr lang="en-US" baseline="0" dirty="0" smtClean="0"/>
              <a:t>Mô hình cũng rất nhạy cảm với những từ được phát ra trong các cuộc nói chuyện của con người, do trong các câu hội thoại thì khó tránh khỏi một số từ khoá được huấn luyện như: Phải, Xuống, Lên, vv... </a:t>
            </a:r>
            <a:endParaRPr dirty="0"/>
          </a:p>
        </p:txBody>
      </p:sp>
    </p:spTree>
    <p:extLst>
      <p:ext uri="{BB962C8B-B14F-4D97-AF65-F5344CB8AC3E}">
        <p14:creationId xmlns:p14="http://schemas.microsoft.com/office/powerpoint/2010/main" val="28408212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smtClean="0"/>
              <a:t>Sau</a:t>
            </a:r>
            <a:r>
              <a:rPr lang="en-US" baseline="0" dirty="0" smtClean="0"/>
              <a:t> đây là một video ngắn demo mô hình nhận diện phát âm từ khoá do em và cả gia đình cùng thử nghiệm...</a:t>
            </a:r>
            <a:endParaRPr lang="en-US"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18414934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28410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Ba vs Bá</a:t>
            </a:r>
          </a:p>
          <a:p>
            <a:pPr marL="0" lvl="0" indent="0" algn="l" rtl="0">
              <a:spcBef>
                <a:spcPts val="0"/>
              </a:spcBef>
              <a:spcAft>
                <a:spcPts val="0"/>
              </a:spcAft>
              <a:buNone/>
            </a:pPr>
            <a:r>
              <a:rPr lang="en-US" dirty="0" smtClean="0"/>
              <a:t>Ta vs Tám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1649544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90270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81083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0" y="4288500"/>
            <a:ext cx="9144000" cy="247500"/>
          </a:xfrm>
          <a:prstGeom prst="rect">
            <a:avLst/>
          </a:prstGeom>
          <a:solidFill>
            <a:srgbClr val="1657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0"/>
            <a:ext cx="9144000" cy="530700"/>
          </a:xfrm>
          <a:prstGeom prst="rect">
            <a:avLst/>
          </a:prstGeom>
          <a:solidFill>
            <a:srgbClr val="1863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4454"/>
              </a:solidFill>
            </a:endParaRPr>
          </a:p>
        </p:txBody>
      </p:sp>
      <p:sp>
        <p:nvSpPr>
          <p:cNvPr id="12" name="Google Shape;12;p2"/>
          <p:cNvSpPr/>
          <p:nvPr/>
        </p:nvSpPr>
        <p:spPr>
          <a:xfrm>
            <a:off x="0" y="500626"/>
            <a:ext cx="9144000" cy="3824100"/>
          </a:xfrm>
          <a:prstGeom prst="rect">
            <a:avLst/>
          </a:prstGeom>
          <a:solidFill>
            <a:srgbClr val="124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0" y="4493605"/>
            <a:ext cx="9144000" cy="118200"/>
          </a:xfrm>
          <a:prstGeom prst="rect">
            <a:avLst/>
          </a:prstGeom>
          <a:solidFill>
            <a:srgbClr val="3B8D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0" y="4584075"/>
            <a:ext cx="9144000" cy="559500"/>
          </a:xfrm>
          <a:prstGeom prst="rect">
            <a:avLst/>
          </a:prstGeom>
          <a:solidFill>
            <a:srgbClr val="94B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txBox="1">
            <a:spLocks noGrp="1"/>
          </p:cNvSpPr>
          <p:nvPr>
            <p:ph type="ctrTitle"/>
          </p:nvPr>
        </p:nvSpPr>
        <p:spPr>
          <a:xfrm>
            <a:off x="685800" y="2601425"/>
            <a:ext cx="5810400" cy="11598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6"/>
        <p:cNvGrpSpPr/>
        <p:nvPr/>
      </p:nvGrpSpPr>
      <p:grpSpPr>
        <a:xfrm>
          <a:off x="0" y="0"/>
          <a:ext cx="0" cy="0"/>
          <a:chOff x="0" y="0"/>
          <a:chExt cx="0" cy="0"/>
        </a:xfrm>
      </p:grpSpPr>
      <p:sp>
        <p:nvSpPr>
          <p:cNvPr id="17" name="Google Shape;17;p3"/>
          <p:cNvSpPr txBox="1">
            <a:spLocks noGrp="1"/>
          </p:cNvSpPr>
          <p:nvPr>
            <p:ph type="ctrTitle"/>
          </p:nvPr>
        </p:nvSpPr>
        <p:spPr>
          <a:xfrm>
            <a:off x="4113600" y="2878750"/>
            <a:ext cx="4505700" cy="1159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14454"/>
              </a:buClr>
              <a:buSzPts val="4800"/>
              <a:buNone/>
              <a:defRPr sz="4800">
                <a:solidFill>
                  <a:srgbClr val="114454"/>
                </a:solidFill>
              </a:defRPr>
            </a:lvl1pPr>
            <a:lvl2pPr lvl="1" rtl="0">
              <a:spcBef>
                <a:spcPts val="0"/>
              </a:spcBef>
              <a:spcAft>
                <a:spcPts val="0"/>
              </a:spcAft>
              <a:buClr>
                <a:srgbClr val="114454"/>
              </a:buClr>
              <a:buSzPts val="4800"/>
              <a:buNone/>
              <a:defRPr sz="4800">
                <a:solidFill>
                  <a:srgbClr val="114454"/>
                </a:solidFill>
              </a:defRPr>
            </a:lvl2pPr>
            <a:lvl3pPr lvl="2" rtl="0">
              <a:spcBef>
                <a:spcPts val="0"/>
              </a:spcBef>
              <a:spcAft>
                <a:spcPts val="0"/>
              </a:spcAft>
              <a:buClr>
                <a:srgbClr val="114454"/>
              </a:buClr>
              <a:buSzPts val="4800"/>
              <a:buNone/>
              <a:defRPr sz="4800">
                <a:solidFill>
                  <a:srgbClr val="114454"/>
                </a:solidFill>
              </a:defRPr>
            </a:lvl3pPr>
            <a:lvl4pPr lvl="3" rtl="0">
              <a:spcBef>
                <a:spcPts val="0"/>
              </a:spcBef>
              <a:spcAft>
                <a:spcPts val="0"/>
              </a:spcAft>
              <a:buClr>
                <a:srgbClr val="114454"/>
              </a:buClr>
              <a:buSzPts val="4800"/>
              <a:buNone/>
              <a:defRPr sz="4800">
                <a:solidFill>
                  <a:srgbClr val="114454"/>
                </a:solidFill>
              </a:defRPr>
            </a:lvl4pPr>
            <a:lvl5pPr lvl="4" rtl="0">
              <a:spcBef>
                <a:spcPts val="0"/>
              </a:spcBef>
              <a:spcAft>
                <a:spcPts val="0"/>
              </a:spcAft>
              <a:buClr>
                <a:srgbClr val="114454"/>
              </a:buClr>
              <a:buSzPts val="4800"/>
              <a:buNone/>
              <a:defRPr sz="4800">
                <a:solidFill>
                  <a:srgbClr val="114454"/>
                </a:solidFill>
              </a:defRPr>
            </a:lvl5pPr>
            <a:lvl6pPr lvl="5" rtl="0">
              <a:spcBef>
                <a:spcPts val="0"/>
              </a:spcBef>
              <a:spcAft>
                <a:spcPts val="0"/>
              </a:spcAft>
              <a:buClr>
                <a:srgbClr val="114454"/>
              </a:buClr>
              <a:buSzPts val="4800"/>
              <a:buNone/>
              <a:defRPr sz="4800">
                <a:solidFill>
                  <a:srgbClr val="114454"/>
                </a:solidFill>
              </a:defRPr>
            </a:lvl6pPr>
            <a:lvl7pPr lvl="6" rtl="0">
              <a:spcBef>
                <a:spcPts val="0"/>
              </a:spcBef>
              <a:spcAft>
                <a:spcPts val="0"/>
              </a:spcAft>
              <a:buClr>
                <a:srgbClr val="114454"/>
              </a:buClr>
              <a:buSzPts val="4800"/>
              <a:buNone/>
              <a:defRPr sz="4800">
                <a:solidFill>
                  <a:srgbClr val="114454"/>
                </a:solidFill>
              </a:defRPr>
            </a:lvl7pPr>
            <a:lvl8pPr lvl="7" rtl="0">
              <a:spcBef>
                <a:spcPts val="0"/>
              </a:spcBef>
              <a:spcAft>
                <a:spcPts val="0"/>
              </a:spcAft>
              <a:buClr>
                <a:srgbClr val="114454"/>
              </a:buClr>
              <a:buSzPts val="4800"/>
              <a:buNone/>
              <a:defRPr sz="4800">
                <a:solidFill>
                  <a:srgbClr val="114454"/>
                </a:solidFill>
              </a:defRPr>
            </a:lvl8pPr>
            <a:lvl9pPr lvl="8" rtl="0">
              <a:spcBef>
                <a:spcPts val="0"/>
              </a:spcBef>
              <a:spcAft>
                <a:spcPts val="0"/>
              </a:spcAft>
              <a:buClr>
                <a:srgbClr val="114454"/>
              </a:buClr>
              <a:buSzPts val="4800"/>
              <a:buNone/>
              <a:defRPr sz="4800">
                <a:solidFill>
                  <a:srgbClr val="114454"/>
                </a:solidFill>
              </a:defRPr>
            </a:lvl9pPr>
          </a:lstStyle>
          <a:p>
            <a:endParaRPr/>
          </a:p>
        </p:txBody>
      </p:sp>
      <p:sp>
        <p:nvSpPr>
          <p:cNvPr id="18" name="Google Shape;18;p3"/>
          <p:cNvSpPr txBox="1">
            <a:spLocks noGrp="1"/>
          </p:cNvSpPr>
          <p:nvPr>
            <p:ph type="subTitle" idx="1"/>
          </p:nvPr>
        </p:nvSpPr>
        <p:spPr>
          <a:xfrm>
            <a:off x="4113600" y="3983050"/>
            <a:ext cx="4505700" cy="784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94BF6E"/>
              </a:buClr>
              <a:buSzPts val="1800"/>
              <a:buNone/>
              <a:defRPr sz="1800" b="1">
                <a:solidFill>
                  <a:srgbClr val="94BF6E"/>
                </a:solidFill>
              </a:defRPr>
            </a:lvl1pPr>
            <a:lvl2pPr lvl="1" rtl="0">
              <a:spcBef>
                <a:spcPts val="0"/>
              </a:spcBef>
              <a:spcAft>
                <a:spcPts val="0"/>
              </a:spcAft>
              <a:buClr>
                <a:srgbClr val="94BF6E"/>
              </a:buClr>
              <a:buSzPts val="1800"/>
              <a:buNone/>
              <a:defRPr sz="1800" b="1">
                <a:solidFill>
                  <a:srgbClr val="94BF6E"/>
                </a:solidFill>
              </a:defRPr>
            </a:lvl2pPr>
            <a:lvl3pPr lvl="2" rtl="0">
              <a:spcBef>
                <a:spcPts val="0"/>
              </a:spcBef>
              <a:spcAft>
                <a:spcPts val="0"/>
              </a:spcAft>
              <a:buClr>
                <a:srgbClr val="94BF6E"/>
              </a:buClr>
              <a:buSzPts val="1800"/>
              <a:buNone/>
              <a:defRPr sz="1800" b="1">
                <a:solidFill>
                  <a:srgbClr val="94BF6E"/>
                </a:solidFill>
              </a:defRPr>
            </a:lvl3pPr>
            <a:lvl4pPr lvl="3" rtl="0">
              <a:spcBef>
                <a:spcPts val="0"/>
              </a:spcBef>
              <a:spcAft>
                <a:spcPts val="0"/>
              </a:spcAft>
              <a:buClr>
                <a:srgbClr val="94BF6E"/>
              </a:buClr>
              <a:buSzPts val="1800"/>
              <a:buNone/>
              <a:defRPr b="1">
                <a:solidFill>
                  <a:srgbClr val="94BF6E"/>
                </a:solidFill>
              </a:defRPr>
            </a:lvl4pPr>
            <a:lvl5pPr lvl="4" rtl="0">
              <a:spcBef>
                <a:spcPts val="0"/>
              </a:spcBef>
              <a:spcAft>
                <a:spcPts val="0"/>
              </a:spcAft>
              <a:buClr>
                <a:srgbClr val="94BF6E"/>
              </a:buClr>
              <a:buSzPts val="1800"/>
              <a:buNone/>
              <a:defRPr b="1">
                <a:solidFill>
                  <a:srgbClr val="94BF6E"/>
                </a:solidFill>
              </a:defRPr>
            </a:lvl5pPr>
            <a:lvl6pPr lvl="5" rtl="0">
              <a:spcBef>
                <a:spcPts val="0"/>
              </a:spcBef>
              <a:spcAft>
                <a:spcPts val="0"/>
              </a:spcAft>
              <a:buClr>
                <a:srgbClr val="94BF6E"/>
              </a:buClr>
              <a:buSzPts val="1800"/>
              <a:buNone/>
              <a:defRPr b="1">
                <a:solidFill>
                  <a:srgbClr val="94BF6E"/>
                </a:solidFill>
              </a:defRPr>
            </a:lvl6pPr>
            <a:lvl7pPr lvl="6" rtl="0">
              <a:spcBef>
                <a:spcPts val="0"/>
              </a:spcBef>
              <a:spcAft>
                <a:spcPts val="0"/>
              </a:spcAft>
              <a:buClr>
                <a:srgbClr val="94BF6E"/>
              </a:buClr>
              <a:buSzPts val="1800"/>
              <a:buNone/>
              <a:defRPr b="1">
                <a:solidFill>
                  <a:srgbClr val="94BF6E"/>
                </a:solidFill>
              </a:defRPr>
            </a:lvl7pPr>
            <a:lvl8pPr lvl="7" rtl="0">
              <a:spcBef>
                <a:spcPts val="0"/>
              </a:spcBef>
              <a:spcAft>
                <a:spcPts val="0"/>
              </a:spcAft>
              <a:buClr>
                <a:srgbClr val="94BF6E"/>
              </a:buClr>
              <a:buSzPts val="1800"/>
              <a:buNone/>
              <a:defRPr b="1">
                <a:solidFill>
                  <a:srgbClr val="94BF6E"/>
                </a:solidFill>
              </a:defRPr>
            </a:lvl8pPr>
            <a:lvl9pPr lvl="8" rtl="0">
              <a:spcBef>
                <a:spcPts val="0"/>
              </a:spcBef>
              <a:spcAft>
                <a:spcPts val="0"/>
              </a:spcAft>
              <a:buClr>
                <a:srgbClr val="94BF6E"/>
              </a:buClr>
              <a:buSzPts val="1800"/>
              <a:buNone/>
              <a:defRPr b="1">
                <a:solidFill>
                  <a:srgbClr val="94BF6E"/>
                </a:solidFill>
              </a:defRPr>
            </a:lvl9pPr>
          </a:lstStyle>
          <a:p>
            <a:endParaRPr/>
          </a:p>
        </p:txBody>
      </p:sp>
      <p:sp>
        <p:nvSpPr>
          <p:cNvPr id="19" name="Google Shape;19;p3"/>
          <p:cNvSpPr/>
          <p:nvPr/>
        </p:nvSpPr>
        <p:spPr>
          <a:xfrm>
            <a:off x="0" y="4288499"/>
            <a:ext cx="3474300" cy="247500"/>
          </a:xfrm>
          <a:prstGeom prst="rect">
            <a:avLst/>
          </a:prstGeom>
          <a:solidFill>
            <a:srgbClr val="1657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0" y="0"/>
            <a:ext cx="3474300" cy="530700"/>
          </a:xfrm>
          <a:prstGeom prst="rect">
            <a:avLst/>
          </a:prstGeom>
          <a:solidFill>
            <a:srgbClr val="1863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4454"/>
              </a:solidFill>
            </a:endParaRPr>
          </a:p>
        </p:txBody>
      </p:sp>
      <p:sp>
        <p:nvSpPr>
          <p:cNvPr id="21" name="Google Shape;21;p3"/>
          <p:cNvSpPr/>
          <p:nvPr/>
        </p:nvSpPr>
        <p:spPr>
          <a:xfrm>
            <a:off x="0" y="500626"/>
            <a:ext cx="3474300" cy="3824100"/>
          </a:xfrm>
          <a:prstGeom prst="rect">
            <a:avLst/>
          </a:prstGeom>
          <a:solidFill>
            <a:srgbClr val="124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0" y="4493604"/>
            <a:ext cx="3474300" cy="118200"/>
          </a:xfrm>
          <a:prstGeom prst="rect">
            <a:avLst/>
          </a:prstGeom>
          <a:solidFill>
            <a:srgbClr val="3B8D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0" y="4584075"/>
            <a:ext cx="3474300" cy="559500"/>
          </a:xfrm>
          <a:prstGeom prst="rect">
            <a:avLst/>
          </a:prstGeom>
          <a:solidFill>
            <a:srgbClr val="94B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lvl1pPr lvl="0" algn="ctr" rtl="0">
              <a:buNone/>
              <a:defRPr sz="800">
                <a:solidFill>
                  <a:srgbClr val="FFFFFF"/>
                </a:solidFill>
                <a:latin typeface="Roboto Slab"/>
                <a:ea typeface="Roboto Slab"/>
                <a:cs typeface="Roboto Slab"/>
                <a:sym typeface="Roboto Slab"/>
              </a:defRPr>
            </a:lvl1pPr>
            <a:lvl2pPr lvl="1" algn="ctr" rtl="0">
              <a:buNone/>
              <a:defRPr sz="800">
                <a:solidFill>
                  <a:srgbClr val="FFFFFF"/>
                </a:solidFill>
                <a:latin typeface="Roboto Slab"/>
                <a:ea typeface="Roboto Slab"/>
                <a:cs typeface="Roboto Slab"/>
                <a:sym typeface="Roboto Slab"/>
              </a:defRPr>
            </a:lvl2pPr>
            <a:lvl3pPr lvl="2" algn="ctr" rtl="0">
              <a:buNone/>
              <a:defRPr sz="800">
                <a:solidFill>
                  <a:srgbClr val="FFFFFF"/>
                </a:solidFill>
                <a:latin typeface="Roboto Slab"/>
                <a:ea typeface="Roboto Slab"/>
                <a:cs typeface="Roboto Slab"/>
                <a:sym typeface="Roboto Slab"/>
              </a:defRPr>
            </a:lvl3pPr>
            <a:lvl4pPr lvl="3" algn="ctr" rtl="0">
              <a:buNone/>
              <a:defRPr sz="800">
                <a:solidFill>
                  <a:srgbClr val="FFFFFF"/>
                </a:solidFill>
                <a:latin typeface="Roboto Slab"/>
                <a:ea typeface="Roboto Slab"/>
                <a:cs typeface="Roboto Slab"/>
                <a:sym typeface="Roboto Slab"/>
              </a:defRPr>
            </a:lvl4pPr>
            <a:lvl5pPr lvl="4" algn="ctr" rtl="0">
              <a:buNone/>
              <a:defRPr sz="800">
                <a:solidFill>
                  <a:srgbClr val="FFFFFF"/>
                </a:solidFill>
                <a:latin typeface="Roboto Slab"/>
                <a:ea typeface="Roboto Slab"/>
                <a:cs typeface="Roboto Slab"/>
                <a:sym typeface="Roboto Slab"/>
              </a:defRPr>
            </a:lvl5pPr>
            <a:lvl6pPr lvl="5" algn="ctr" rtl="0">
              <a:buNone/>
              <a:defRPr sz="800">
                <a:solidFill>
                  <a:srgbClr val="FFFFFF"/>
                </a:solidFill>
                <a:latin typeface="Roboto Slab"/>
                <a:ea typeface="Roboto Slab"/>
                <a:cs typeface="Roboto Slab"/>
                <a:sym typeface="Roboto Slab"/>
              </a:defRPr>
            </a:lvl6pPr>
            <a:lvl7pPr lvl="6" algn="ctr" rtl="0">
              <a:buNone/>
              <a:defRPr sz="800">
                <a:solidFill>
                  <a:srgbClr val="FFFFFF"/>
                </a:solidFill>
                <a:latin typeface="Roboto Slab"/>
                <a:ea typeface="Roboto Slab"/>
                <a:cs typeface="Roboto Slab"/>
                <a:sym typeface="Roboto Slab"/>
              </a:defRPr>
            </a:lvl7pPr>
            <a:lvl8pPr lvl="7" algn="ctr" rtl="0">
              <a:buNone/>
              <a:defRPr sz="800">
                <a:solidFill>
                  <a:srgbClr val="FFFFFF"/>
                </a:solidFill>
                <a:latin typeface="Roboto Slab"/>
                <a:ea typeface="Roboto Slab"/>
                <a:cs typeface="Roboto Slab"/>
                <a:sym typeface="Roboto Slab"/>
              </a:defRPr>
            </a:lvl8pPr>
            <a:lvl9pPr lvl="8" algn="ctr" rtl="0">
              <a:buNone/>
              <a:defRPr sz="800">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4"/>
        <p:cNvGrpSpPr/>
        <p:nvPr/>
      </p:nvGrpSpPr>
      <p:grpSpPr>
        <a:xfrm>
          <a:off x="0" y="0"/>
          <a:ext cx="0" cy="0"/>
          <a:chOff x="0" y="0"/>
          <a:chExt cx="0" cy="0"/>
        </a:xfrm>
      </p:grpSpPr>
      <p:sp>
        <p:nvSpPr>
          <p:cNvPr id="35" name="Google Shape;35;p5"/>
          <p:cNvSpPr/>
          <p:nvPr/>
        </p:nvSpPr>
        <p:spPr>
          <a:xfrm>
            <a:off x="0" y="0"/>
            <a:ext cx="247200" cy="530700"/>
          </a:xfrm>
          <a:prstGeom prst="rect">
            <a:avLst/>
          </a:prstGeom>
          <a:solidFill>
            <a:srgbClr val="1863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4454"/>
              </a:solidFill>
            </a:endParaRPr>
          </a:p>
        </p:txBody>
      </p:sp>
      <p:sp>
        <p:nvSpPr>
          <p:cNvPr id="36" name="Google Shape;36;p5"/>
          <p:cNvSpPr/>
          <p:nvPr/>
        </p:nvSpPr>
        <p:spPr>
          <a:xfrm>
            <a:off x="0" y="500625"/>
            <a:ext cx="4572000" cy="1058700"/>
          </a:xfrm>
          <a:prstGeom prst="rect">
            <a:avLst/>
          </a:prstGeom>
          <a:solidFill>
            <a:srgbClr val="124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0" y="1553406"/>
            <a:ext cx="247200" cy="1532700"/>
          </a:xfrm>
          <a:prstGeom prst="rect">
            <a:avLst/>
          </a:prstGeom>
          <a:solidFill>
            <a:srgbClr val="1657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5"/>
          <p:cNvSpPr/>
          <p:nvPr/>
        </p:nvSpPr>
        <p:spPr>
          <a:xfrm>
            <a:off x="0" y="3086100"/>
            <a:ext cx="247200" cy="605400"/>
          </a:xfrm>
          <a:prstGeom prst="rect">
            <a:avLst/>
          </a:prstGeom>
          <a:solidFill>
            <a:srgbClr val="3B8D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0" y="3691500"/>
            <a:ext cx="247200" cy="1452000"/>
          </a:xfrm>
          <a:prstGeom prst="rect">
            <a:avLst/>
          </a:prstGeom>
          <a:solidFill>
            <a:srgbClr val="94B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5"/>
          <p:cNvCxnSpPr/>
          <p:nvPr/>
        </p:nvCxnSpPr>
        <p:spPr>
          <a:xfrm>
            <a:off x="1037450" y="809725"/>
            <a:ext cx="0" cy="470700"/>
          </a:xfrm>
          <a:prstGeom prst="straightConnector1">
            <a:avLst/>
          </a:prstGeom>
          <a:noFill/>
          <a:ln w="9525" cap="flat" cmpd="sng">
            <a:solidFill>
              <a:srgbClr val="18637B"/>
            </a:solidFill>
            <a:prstDash val="solid"/>
            <a:round/>
            <a:headEnd type="none" w="med" len="med"/>
            <a:tailEnd type="none" w="med" len="med"/>
          </a:ln>
        </p:spPr>
      </p:cxnSp>
      <p:sp>
        <p:nvSpPr>
          <p:cNvPr id="41" name="Google Shape;41;p5"/>
          <p:cNvSpPr txBox="1">
            <a:spLocks noGrp="1"/>
          </p:cNvSpPr>
          <p:nvPr>
            <p:ph type="title"/>
          </p:nvPr>
        </p:nvSpPr>
        <p:spPr>
          <a:xfrm>
            <a:off x="1146025" y="530725"/>
            <a:ext cx="3208800" cy="1028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42" name="Google Shape;42;p5"/>
          <p:cNvSpPr txBox="1">
            <a:spLocks noGrp="1"/>
          </p:cNvSpPr>
          <p:nvPr>
            <p:ph type="body" idx="1"/>
          </p:nvPr>
        </p:nvSpPr>
        <p:spPr>
          <a:xfrm>
            <a:off x="1146025" y="1767275"/>
            <a:ext cx="7540800" cy="3158700"/>
          </a:xfrm>
          <a:prstGeom prst="rect">
            <a:avLst/>
          </a:prstGeom>
        </p:spPr>
        <p:txBody>
          <a:bodyPr spcFirstLastPara="1" wrap="square" lIns="91425" tIns="91425" rIns="91425" bIns="91425" anchor="t" anchorCtr="0">
            <a:noAutofit/>
          </a:bodyPr>
          <a:lstStyle>
            <a:lvl1pPr marL="457200" lvl="0" indent="-406400">
              <a:spcBef>
                <a:spcPts val="600"/>
              </a:spcBef>
              <a:spcAft>
                <a:spcPts val="0"/>
              </a:spcAft>
              <a:buSzPts val="2800"/>
              <a:buChar char="▪"/>
              <a:defRPr sz="2800"/>
            </a:lvl1pPr>
            <a:lvl2pPr marL="914400" lvl="1" indent="-406400">
              <a:spcBef>
                <a:spcPts val="0"/>
              </a:spcBef>
              <a:spcAft>
                <a:spcPts val="0"/>
              </a:spcAft>
              <a:buSzPts val="2800"/>
              <a:buChar char="▫"/>
              <a:defRPr sz="2800"/>
            </a:lvl2pPr>
            <a:lvl3pPr marL="1371600" lvl="2" indent="-406400">
              <a:spcBef>
                <a:spcPts val="0"/>
              </a:spcBef>
              <a:spcAft>
                <a:spcPts val="0"/>
              </a:spcAft>
              <a:buSzPts val="2800"/>
              <a:buChar char="■"/>
              <a:defRPr sz="2800"/>
            </a:lvl3pPr>
            <a:lvl4pPr marL="1828800" lvl="3" indent="-406400">
              <a:spcBef>
                <a:spcPts val="0"/>
              </a:spcBef>
              <a:spcAft>
                <a:spcPts val="0"/>
              </a:spcAft>
              <a:buSzPts val="2800"/>
              <a:buChar char="●"/>
              <a:defRPr sz="2800"/>
            </a:lvl4pPr>
            <a:lvl5pPr marL="2286000" lvl="4" indent="-406400">
              <a:spcBef>
                <a:spcPts val="0"/>
              </a:spcBef>
              <a:spcAft>
                <a:spcPts val="0"/>
              </a:spcAft>
              <a:buSzPts val="2800"/>
              <a:buChar char="○"/>
              <a:defRPr sz="2800"/>
            </a:lvl5pPr>
            <a:lvl6pPr marL="2743200" lvl="5" indent="-406400">
              <a:spcBef>
                <a:spcPts val="0"/>
              </a:spcBef>
              <a:spcAft>
                <a:spcPts val="0"/>
              </a:spcAft>
              <a:buSzPts val="2800"/>
              <a:buChar char="■"/>
              <a:defRPr sz="2800"/>
            </a:lvl6pPr>
            <a:lvl7pPr marL="3200400" lvl="6" indent="-406400">
              <a:spcBef>
                <a:spcPts val="0"/>
              </a:spcBef>
              <a:spcAft>
                <a:spcPts val="0"/>
              </a:spcAft>
              <a:buSzPts val="2800"/>
              <a:buChar char="●"/>
              <a:defRPr sz="2800"/>
            </a:lvl7pPr>
            <a:lvl8pPr marL="3657600" lvl="7" indent="-406400">
              <a:spcBef>
                <a:spcPts val="0"/>
              </a:spcBef>
              <a:spcAft>
                <a:spcPts val="0"/>
              </a:spcAft>
              <a:buSzPts val="2800"/>
              <a:buChar char="○"/>
              <a:defRPr sz="2800"/>
            </a:lvl8pPr>
            <a:lvl9pPr marL="4114800" lvl="8" indent="-406400">
              <a:spcBef>
                <a:spcPts val="0"/>
              </a:spcBef>
              <a:spcAft>
                <a:spcPts val="0"/>
              </a:spcAft>
              <a:buSzPts val="2800"/>
              <a:buChar char="■"/>
              <a:defRPr sz="2800"/>
            </a:lvl9pPr>
          </a:lstStyle>
          <a:p>
            <a:endParaRPr/>
          </a:p>
        </p:txBody>
      </p:sp>
      <p:sp>
        <p:nvSpPr>
          <p:cNvPr id="43" name="Google Shape;43;p5"/>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lvl1pPr lvl="0" algn="ctr" rtl="0">
              <a:buNone/>
              <a:defRPr sz="800">
                <a:solidFill>
                  <a:srgbClr val="FFFFFF"/>
                </a:solidFill>
                <a:latin typeface="Roboto Slab"/>
                <a:ea typeface="Roboto Slab"/>
                <a:cs typeface="Roboto Slab"/>
                <a:sym typeface="Roboto Slab"/>
              </a:defRPr>
            </a:lvl1pPr>
            <a:lvl2pPr lvl="1" algn="ctr" rtl="0">
              <a:buNone/>
              <a:defRPr sz="800">
                <a:solidFill>
                  <a:srgbClr val="FFFFFF"/>
                </a:solidFill>
                <a:latin typeface="Roboto Slab"/>
                <a:ea typeface="Roboto Slab"/>
                <a:cs typeface="Roboto Slab"/>
                <a:sym typeface="Roboto Slab"/>
              </a:defRPr>
            </a:lvl2pPr>
            <a:lvl3pPr lvl="2" algn="ctr" rtl="0">
              <a:buNone/>
              <a:defRPr sz="800">
                <a:solidFill>
                  <a:srgbClr val="FFFFFF"/>
                </a:solidFill>
                <a:latin typeface="Roboto Slab"/>
                <a:ea typeface="Roboto Slab"/>
                <a:cs typeface="Roboto Slab"/>
                <a:sym typeface="Roboto Slab"/>
              </a:defRPr>
            </a:lvl3pPr>
            <a:lvl4pPr lvl="3" algn="ctr" rtl="0">
              <a:buNone/>
              <a:defRPr sz="800">
                <a:solidFill>
                  <a:srgbClr val="FFFFFF"/>
                </a:solidFill>
                <a:latin typeface="Roboto Slab"/>
                <a:ea typeface="Roboto Slab"/>
                <a:cs typeface="Roboto Slab"/>
                <a:sym typeface="Roboto Slab"/>
              </a:defRPr>
            </a:lvl4pPr>
            <a:lvl5pPr lvl="4" algn="ctr" rtl="0">
              <a:buNone/>
              <a:defRPr sz="800">
                <a:solidFill>
                  <a:srgbClr val="FFFFFF"/>
                </a:solidFill>
                <a:latin typeface="Roboto Slab"/>
                <a:ea typeface="Roboto Slab"/>
                <a:cs typeface="Roboto Slab"/>
                <a:sym typeface="Roboto Slab"/>
              </a:defRPr>
            </a:lvl5pPr>
            <a:lvl6pPr lvl="5" algn="ctr" rtl="0">
              <a:buNone/>
              <a:defRPr sz="800">
                <a:solidFill>
                  <a:srgbClr val="FFFFFF"/>
                </a:solidFill>
                <a:latin typeface="Roboto Slab"/>
                <a:ea typeface="Roboto Slab"/>
                <a:cs typeface="Roboto Slab"/>
                <a:sym typeface="Roboto Slab"/>
              </a:defRPr>
            </a:lvl6pPr>
            <a:lvl7pPr lvl="6" algn="ctr" rtl="0">
              <a:buNone/>
              <a:defRPr sz="800">
                <a:solidFill>
                  <a:srgbClr val="FFFFFF"/>
                </a:solidFill>
                <a:latin typeface="Roboto Slab"/>
                <a:ea typeface="Roboto Slab"/>
                <a:cs typeface="Roboto Slab"/>
                <a:sym typeface="Roboto Slab"/>
              </a:defRPr>
            </a:lvl7pPr>
            <a:lvl8pPr lvl="7" algn="ctr" rtl="0">
              <a:buNone/>
              <a:defRPr sz="800">
                <a:solidFill>
                  <a:srgbClr val="FFFFFF"/>
                </a:solidFill>
                <a:latin typeface="Roboto Slab"/>
                <a:ea typeface="Roboto Slab"/>
                <a:cs typeface="Roboto Slab"/>
                <a:sym typeface="Roboto Slab"/>
              </a:defRPr>
            </a:lvl8pPr>
            <a:lvl9pPr lvl="8" algn="ctr" rtl="0">
              <a:buNone/>
              <a:defRPr sz="800">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44"/>
        <p:cNvGrpSpPr/>
        <p:nvPr/>
      </p:nvGrpSpPr>
      <p:grpSpPr>
        <a:xfrm>
          <a:off x="0" y="0"/>
          <a:ext cx="0" cy="0"/>
          <a:chOff x="0" y="0"/>
          <a:chExt cx="0" cy="0"/>
        </a:xfrm>
      </p:grpSpPr>
      <p:sp>
        <p:nvSpPr>
          <p:cNvPr id="45" name="Google Shape;45;p6"/>
          <p:cNvSpPr/>
          <p:nvPr/>
        </p:nvSpPr>
        <p:spPr>
          <a:xfrm>
            <a:off x="0" y="0"/>
            <a:ext cx="247200" cy="530700"/>
          </a:xfrm>
          <a:prstGeom prst="rect">
            <a:avLst/>
          </a:prstGeom>
          <a:solidFill>
            <a:srgbClr val="1863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4454"/>
              </a:solidFill>
            </a:endParaRPr>
          </a:p>
        </p:txBody>
      </p:sp>
      <p:sp>
        <p:nvSpPr>
          <p:cNvPr id="46" name="Google Shape;46;p6"/>
          <p:cNvSpPr/>
          <p:nvPr/>
        </p:nvSpPr>
        <p:spPr>
          <a:xfrm>
            <a:off x="0" y="500625"/>
            <a:ext cx="4572000" cy="1058700"/>
          </a:xfrm>
          <a:prstGeom prst="rect">
            <a:avLst/>
          </a:prstGeom>
          <a:solidFill>
            <a:srgbClr val="124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a:off x="0" y="1553406"/>
            <a:ext cx="247200" cy="1532700"/>
          </a:xfrm>
          <a:prstGeom prst="rect">
            <a:avLst/>
          </a:prstGeom>
          <a:solidFill>
            <a:srgbClr val="1657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6"/>
          <p:cNvSpPr/>
          <p:nvPr/>
        </p:nvSpPr>
        <p:spPr>
          <a:xfrm>
            <a:off x="0" y="3086100"/>
            <a:ext cx="247200" cy="605400"/>
          </a:xfrm>
          <a:prstGeom prst="rect">
            <a:avLst/>
          </a:prstGeom>
          <a:solidFill>
            <a:srgbClr val="3B8D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a:off x="0" y="3691500"/>
            <a:ext cx="247200" cy="1452000"/>
          </a:xfrm>
          <a:prstGeom prst="rect">
            <a:avLst/>
          </a:prstGeom>
          <a:solidFill>
            <a:srgbClr val="94B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 name="Google Shape;50;p6"/>
          <p:cNvCxnSpPr/>
          <p:nvPr/>
        </p:nvCxnSpPr>
        <p:spPr>
          <a:xfrm>
            <a:off x="1037450" y="809725"/>
            <a:ext cx="0" cy="470700"/>
          </a:xfrm>
          <a:prstGeom prst="straightConnector1">
            <a:avLst/>
          </a:prstGeom>
          <a:noFill/>
          <a:ln w="9525" cap="flat" cmpd="sng">
            <a:solidFill>
              <a:srgbClr val="18637B"/>
            </a:solidFill>
            <a:prstDash val="solid"/>
            <a:round/>
            <a:headEnd type="none" w="med" len="med"/>
            <a:tailEnd type="none" w="med" len="med"/>
          </a:ln>
        </p:spPr>
      </p:cxnSp>
      <p:sp>
        <p:nvSpPr>
          <p:cNvPr id="51" name="Google Shape;51;p6"/>
          <p:cNvSpPr txBox="1">
            <a:spLocks noGrp="1"/>
          </p:cNvSpPr>
          <p:nvPr>
            <p:ph type="title"/>
          </p:nvPr>
        </p:nvSpPr>
        <p:spPr>
          <a:xfrm>
            <a:off x="1146025" y="530725"/>
            <a:ext cx="3208800" cy="1028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52" name="Google Shape;52;p6"/>
          <p:cNvSpPr txBox="1">
            <a:spLocks noGrp="1"/>
          </p:cNvSpPr>
          <p:nvPr>
            <p:ph type="body" idx="1"/>
          </p:nvPr>
        </p:nvSpPr>
        <p:spPr>
          <a:xfrm>
            <a:off x="1146025" y="1767275"/>
            <a:ext cx="3660300" cy="3158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53" name="Google Shape;53;p6"/>
          <p:cNvSpPr txBox="1">
            <a:spLocks noGrp="1"/>
          </p:cNvSpPr>
          <p:nvPr>
            <p:ph type="body" idx="2"/>
          </p:nvPr>
        </p:nvSpPr>
        <p:spPr>
          <a:xfrm>
            <a:off x="5026623" y="1767275"/>
            <a:ext cx="3660300" cy="3158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54" name="Google Shape;54;p6"/>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lvl1pPr lvl="0" algn="ctr" rtl="0">
              <a:buNone/>
              <a:defRPr sz="800">
                <a:solidFill>
                  <a:srgbClr val="FFFFFF"/>
                </a:solidFill>
                <a:latin typeface="Roboto Slab"/>
                <a:ea typeface="Roboto Slab"/>
                <a:cs typeface="Roboto Slab"/>
                <a:sym typeface="Roboto Slab"/>
              </a:defRPr>
            </a:lvl1pPr>
            <a:lvl2pPr lvl="1" algn="ctr" rtl="0">
              <a:buNone/>
              <a:defRPr sz="800">
                <a:solidFill>
                  <a:srgbClr val="FFFFFF"/>
                </a:solidFill>
                <a:latin typeface="Roboto Slab"/>
                <a:ea typeface="Roboto Slab"/>
                <a:cs typeface="Roboto Slab"/>
                <a:sym typeface="Roboto Slab"/>
              </a:defRPr>
            </a:lvl2pPr>
            <a:lvl3pPr lvl="2" algn="ctr" rtl="0">
              <a:buNone/>
              <a:defRPr sz="800">
                <a:solidFill>
                  <a:srgbClr val="FFFFFF"/>
                </a:solidFill>
                <a:latin typeface="Roboto Slab"/>
                <a:ea typeface="Roboto Slab"/>
                <a:cs typeface="Roboto Slab"/>
                <a:sym typeface="Roboto Slab"/>
              </a:defRPr>
            </a:lvl3pPr>
            <a:lvl4pPr lvl="3" algn="ctr" rtl="0">
              <a:buNone/>
              <a:defRPr sz="800">
                <a:solidFill>
                  <a:srgbClr val="FFFFFF"/>
                </a:solidFill>
                <a:latin typeface="Roboto Slab"/>
                <a:ea typeface="Roboto Slab"/>
                <a:cs typeface="Roboto Slab"/>
                <a:sym typeface="Roboto Slab"/>
              </a:defRPr>
            </a:lvl4pPr>
            <a:lvl5pPr lvl="4" algn="ctr" rtl="0">
              <a:buNone/>
              <a:defRPr sz="800">
                <a:solidFill>
                  <a:srgbClr val="FFFFFF"/>
                </a:solidFill>
                <a:latin typeface="Roboto Slab"/>
                <a:ea typeface="Roboto Slab"/>
                <a:cs typeface="Roboto Slab"/>
                <a:sym typeface="Roboto Slab"/>
              </a:defRPr>
            </a:lvl5pPr>
            <a:lvl6pPr lvl="5" algn="ctr" rtl="0">
              <a:buNone/>
              <a:defRPr sz="800">
                <a:solidFill>
                  <a:srgbClr val="FFFFFF"/>
                </a:solidFill>
                <a:latin typeface="Roboto Slab"/>
                <a:ea typeface="Roboto Slab"/>
                <a:cs typeface="Roboto Slab"/>
                <a:sym typeface="Roboto Slab"/>
              </a:defRPr>
            </a:lvl6pPr>
            <a:lvl7pPr lvl="6" algn="ctr" rtl="0">
              <a:buNone/>
              <a:defRPr sz="800">
                <a:solidFill>
                  <a:srgbClr val="FFFFFF"/>
                </a:solidFill>
                <a:latin typeface="Roboto Slab"/>
                <a:ea typeface="Roboto Slab"/>
                <a:cs typeface="Roboto Slab"/>
                <a:sym typeface="Roboto Slab"/>
              </a:defRPr>
            </a:lvl7pPr>
            <a:lvl8pPr lvl="7" algn="ctr" rtl="0">
              <a:buNone/>
              <a:defRPr sz="800">
                <a:solidFill>
                  <a:srgbClr val="FFFFFF"/>
                </a:solidFill>
                <a:latin typeface="Roboto Slab"/>
                <a:ea typeface="Roboto Slab"/>
                <a:cs typeface="Roboto Slab"/>
                <a:sym typeface="Roboto Slab"/>
              </a:defRPr>
            </a:lvl8pPr>
            <a:lvl9pPr lvl="8" algn="ctr" rtl="0">
              <a:buNone/>
              <a:defRPr sz="800">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
        <p:nvSpPr>
          <p:cNvPr id="85" name="Google Shape;85;p10"/>
          <p:cNvSpPr/>
          <p:nvPr/>
        </p:nvSpPr>
        <p:spPr>
          <a:xfrm>
            <a:off x="0" y="0"/>
            <a:ext cx="247200" cy="530700"/>
          </a:xfrm>
          <a:prstGeom prst="rect">
            <a:avLst/>
          </a:prstGeom>
          <a:solidFill>
            <a:srgbClr val="1863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4454"/>
              </a:solidFill>
            </a:endParaRPr>
          </a:p>
        </p:txBody>
      </p:sp>
      <p:sp>
        <p:nvSpPr>
          <p:cNvPr id="86" name="Google Shape;86;p10"/>
          <p:cNvSpPr/>
          <p:nvPr/>
        </p:nvSpPr>
        <p:spPr>
          <a:xfrm>
            <a:off x="0" y="500625"/>
            <a:ext cx="247200" cy="1058700"/>
          </a:xfrm>
          <a:prstGeom prst="rect">
            <a:avLst/>
          </a:prstGeom>
          <a:solidFill>
            <a:srgbClr val="124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0"/>
          <p:cNvSpPr/>
          <p:nvPr/>
        </p:nvSpPr>
        <p:spPr>
          <a:xfrm>
            <a:off x="0" y="1553406"/>
            <a:ext cx="247200" cy="1532700"/>
          </a:xfrm>
          <a:prstGeom prst="rect">
            <a:avLst/>
          </a:prstGeom>
          <a:solidFill>
            <a:srgbClr val="1657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0"/>
          <p:cNvSpPr/>
          <p:nvPr/>
        </p:nvSpPr>
        <p:spPr>
          <a:xfrm>
            <a:off x="0" y="3086100"/>
            <a:ext cx="247200" cy="605400"/>
          </a:xfrm>
          <a:prstGeom prst="rect">
            <a:avLst/>
          </a:prstGeom>
          <a:solidFill>
            <a:srgbClr val="3B8D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0"/>
          <p:cNvSpPr/>
          <p:nvPr/>
        </p:nvSpPr>
        <p:spPr>
          <a:xfrm>
            <a:off x="0" y="3691500"/>
            <a:ext cx="247200" cy="1452000"/>
          </a:xfrm>
          <a:prstGeom prst="rect">
            <a:avLst/>
          </a:prstGeom>
          <a:solidFill>
            <a:srgbClr val="94B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0"/>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lvl1pPr lvl="0" algn="ctr" rtl="0">
              <a:buNone/>
              <a:defRPr sz="800">
                <a:solidFill>
                  <a:srgbClr val="FFFFFF"/>
                </a:solidFill>
                <a:latin typeface="Roboto Slab"/>
                <a:ea typeface="Roboto Slab"/>
                <a:cs typeface="Roboto Slab"/>
                <a:sym typeface="Roboto Slab"/>
              </a:defRPr>
            </a:lvl1pPr>
            <a:lvl2pPr lvl="1" algn="ctr" rtl="0">
              <a:buNone/>
              <a:defRPr sz="800">
                <a:solidFill>
                  <a:srgbClr val="FFFFFF"/>
                </a:solidFill>
                <a:latin typeface="Roboto Slab"/>
                <a:ea typeface="Roboto Slab"/>
                <a:cs typeface="Roboto Slab"/>
                <a:sym typeface="Roboto Slab"/>
              </a:defRPr>
            </a:lvl2pPr>
            <a:lvl3pPr lvl="2" algn="ctr" rtl="0">
              <a:buNone/>
              <a:defRPr sz="800">
                <a:solidFill>
                  <a:srgbClr val="FFFFFF"/>
                </a:solidFill>
                <a:latin typeface="Roboto Slab"/>
                <a:ea typeface="Roboto Slab"/>
                <a:cs typeface="Roboto Slab"/>
                <a:sym typeface="Roboto Slab"/>
              </a:defRPr>
            </a:lvl3pPr>
            <a:lvl4pPr lvl="3" algn="ctr" rtl="0">
              <a:buNone/>
              <a:defRPr sz="800">
                <a:solidFill>
                  <a:srgbClr val="FFFFFF"/>
                </a:solidFill>
                <a:latin typeface="Roboto Slab"/>
                <a:ea typeface="Roboto Slab"/>
                <a:cs typeface="Roboto Slab"/>
                <a:sym typeface="Roboto Slab"/>
              </a:defRPr>
            </a:lvl4pPr>
            <a:lvl5pPr lvl="4" algn="ctr" rtl="0">
              <a:buNone/>
              <a:defRPr sz="800">
                <a:solidFill>
                  <a:srgbClr val="FFFFFF"/>
                </a:solidFill>
                <a:latin typeface="Roboto Slab"/>
                <a:ea typeface="Roboto Slab"/>
                <a:cs typeface="Roboto Slab"/>
                <a:sym typeface="Roboto Slab"/>
              </a:defRPr>
            </a:lvl5pPr>
            <a:lvl6pPr lvl="5" algn="ctr" rtl="0">
              <a:buNone/>
              <a:defRPr sz="800">
                <a:solidFill>
                  <a:srgbClr val="FFFFFF"/>
                </a:solidFill>
                <a:latin typeface="Roboto Slab"/>
                <a:ea typeface="Roboto Slab"/>
                <a:cs typeface="Roboto Slab"/>
                <a:sym typeface="Roboto Slab"/>
              </a:defRPr>
            </a:lvl6pPr>
            <a:lvl7pPr lvl="6" algn="ctr" rtl="0">
              <a:buNone/>
              <a:defRPr sz="800">
                <a:solidFill>
                  <a:srgbClr val="FFFFFF"/>
                </a:solidFill>
                <a:latin typeface="Roboto Slab"/>
                <a:ea typeface="Roboto Slab"/>
                <a:cs typeface="Roboto Slab"/>
                <a:sym typeface="Roboto Slab"/>
              </a:defRPr>
            </a:lvl7pPr>
            <a:lvl8pPr lvl="7" algn="ctr" rtl="0">
              <a:buNone/>
              <a:defRPr sz="800">
                <a:solidFill>
                  <a:srgbClr val="FFFFFF"/>
                </a:solidFill>
                <a:latin typeface="Roboto Slab"/>
                <a:ea typeface="Roboto Slab"/>
                <a:cs typeface="Roboto Slab"/>
                <a:sym typeface="Roboto Slab"/>
              </a:defRPr>
            </a:lvl8pPr>
            <a:lvl9pPr lvl="8" algn="ctr" rtl="0">
              <a:buNone/>
              <a:defRPr sz="800">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style A">
  <p:cSld name="BLANK_1_1">
    <p:spTree>
      <p:nvGrpSpPr>
        <p:cNvPr id="1" name="Shape 91"/>
        <p:cNvGrpSpPr/>
        <p:nvPr/>
      </p:nvGrpSpPr>
      <p:grpSpPr>
        <a:xfrm>
          <a:off x="0" y="0"/>
          <a:ext cx="0" cy="0"/>
          <a:chOff x="0" y="0"/>
          <a:chExt cx="0" cy="0"/>
        </a:xfrm>
      </p:grpSpPr>
      <p:sp>
        <p:nvSpPr>
          <p:cNvPr id="92" name="Google Shape;92;p11"/>
          <p:cNvSpPr/>
          <p:nvPr/>
        </p:nvSpPr>
        <p:spPr>
          <a:xfrm>
            <a:off x="0" y="1148250"/>
            <a:ext cx="9144000" cy="2847000"/>
          </a:xfrm>
          <a:prstGeom prst="rect">
            <a:avLst/>
          </a:prstGeom>
          <a:solidFill>
            <a:srgbClr val="1657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1"/>
          <p:cNvSpPr/>
          <p:nvPr/>
        </p:nvSpPr>
        <p:spPr>
          <a:xfrm>
            <a:off x="0" y="0"/>
            <a:ext cx="9144000" cy="530700"/>
          </a:xfrm>
          <a:prstGeom prst="rect">
            <a:avLst/>
          </a:prstGeom>
          <a:solidFill>
            <a:srgbClr val="1863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4454"/>
              </a:solidFill>
            </a:endParaRPr>
          </a:p>
        </p:txBody>
      </p:sp>
      <p:sp>
        <p:nvSpPr>
          <p:cNvPr id="94" name="Google Shape;94;p11"/>
          <p:cNvSpPr/>
          <p:nvPr/>
        </p:nvSpPr>
        <p:spPr>
          <a:xfrm>
            <a:off x="0" y="500625"/>
            <a:ext cx="9144000" cy="732000"/>
          </a:xfrm>
          <a:prstGeom prst="rect">
            <a:avLst/>
          </a:prstGeom>
          <a:solidFill>
            <a:srgbClr val="124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1"/>
          <p:cNvSpPr/>
          <p:nvPr/>
        </p:nvSpPr>
        <p:spPr>
          <a:xfrm>
            <a:off x="0" y="3962800"/>
            <a:ext cx="9144000" cy="370200"/>
          </a:xfrm>
          <a:prstGeom prst="rect">
            <a:avLst/>
          </a:prstGeom>
          <a:solidFill>
            <a:srgbClr val="3B8D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1"/>
          <p:cNvSpPr/>
          <p:nvPr/>
        </p:nvSpPr>
        <p:spPr>
          <a:xfrm>
            <a:off x="0" y="4333125"/>
            <a:ext cx="9144000" cy="810300"/>
          </a:xfrm>
          <a:prstGeom prst="rect">
            <a:avLst/>
          </a:prstGeom>
          <a:solidFill>
            <a:srgbClr val="94B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1"/>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lvl1pPr lvl="0" algn="ctr" rtl="0">
              <a:buNone/>
              <a:defRPr sz="800">
                <a:solidFill>
                  <a:srgbClr val="FFFFFF"/>
                </a:solidFill>
                <a:latin typeface="Roboto Slab"/>
                <a:ea typeface="Roboto Slab"/>
                <a:cs typeface="Roboto Slab"/>
                <a:sym typeface="Roboto Slab"/>
              </a:defRPr>
            </a:lvl1pPr>
            <a:lvl2pPr lvl="1" algn="ctr" rtl="0">
              <a:buNone/>
              <a:defRPr sz="800">
                <a:solidFill>
                  <a:srgbClr val="FFFFFF"/>
                </a:solidFill>
                <a:latin typeface="Roboto Slab"/>
                <a:ea typeface="Roboto Slab"/>
                <a:cs typeface="Roboto Slab"/>
                <a:sym typeface="Roboto Slab"/>
              </a:defRPr>
            </a:lvl2pPr>
            <a:lvl3pPr lvl="2" algn="ctr" rtl="0">
              <a:buNone/>
              <a:defRPr sz="800">
                <a:solidFill>
                  <a:srgbClr val="FFFFFF"/>
                </a:solidFill>
                <a:latin typeface="Roboto Slab"/>
                <a:ea typeface="Roboto Slab"/>
                <a:cs typeface="Roboto Slab"/>
                <a:sym typeface="Roboto Slab"/>
              </a:defRPr>
            </a:lvl3pPr>
            <a:lvl4pPr lvl="3" algn="ctr" rtl="0">
              <a:buNone/>
              <a:defRPr sz="800">
                <a:solidFill>
                  <a:srgbClr val="FFFFFF"/>
                </a:solidFill>
                <a:latin typeface="Roboto Slab"/>
                <a:ea typeface="Roboto Slab"/>
                <a:cs typeface="Roboto Slab"/>
                <a:sym typeface="Roboto Slab"/>
              </a:defRPr>
            </a:lvl4pPr>
            <a:lvl5pPr lvl="4" algn="ctr" rtl="0">
              <a:buNone/>
              <a:defRPr sz="800">
                <a:solidFill>
                  <a:srgbClr val="FFFFFF"/>
                </a:solidFill>
                <a:latin typeface="Roboto Slab"/>
                <a:ea typeface="Roboto Slab"/>
                <a:cs typeface="Roboto Slab"/>
                <a:sym typeface="Roboto Slab"/>
              </a:defRPr>
            </a:lvl5pPr>
            <a:lvl6pPr lvl="5" algn="ctr" rtl="0">
              <a:buNone/>
              <a:defRPr sz="800">
                <a:solidFill>
                  <a:srgbClr val="FFFFFF"/>
                </a:solidFill>
                <a:latin typeface="Roboto Slab"/>
                <a:ea typeface="Roboto Slab"/>
                <a:cs typeface="Roboto Slab"/>
                <a:sym typeface="Roboto Slab"/>
              </a:defRPr>
            </a:lvl6pPr>
            <a:lvl7pPr lvl="6" algn="ctr" rtl="0">
              <a:buNone/>
              <a:defRPr sz="800">
                <a:solidFill>
                  <a:srgbClr val="FFFFFF"/>
                </a:solidFill>
                <a:latin typeface="Roboto Slab"/>
                <a:ea typeface="Roboto Slab"/>
                <a:cs typeface="Roboto Slab"/>
                <a:sym typeface="Roboto Slab"/>
              </a:defRPr>
            </a:lvl7pPr>
            <a:lvl8pPr lvl="7" algn="ctr" rtl="0">
              <a:buNone/>
              <a:defRPr sz="800">
                <a:solidFill>
                  <a:srgbClr val="FFFFFF"/>
                </a:solidFill>
                <a:latin typeface="Roboto Slab"/>
                <a:ea typeface="Roboto Slab"/>
                <a:cs typeface="Roboto Slab"/>
                <a:sym typeface="Roboto Slab"/>
              </a:defRPr>
            </a:lvl8pPr>
            <a:lvl9pPr lvl="8" algn="ctr" rtl="0">
              <a:buNone/>
              <a:defRPr sz="800">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style B">
  <p:cSld name="BLANK_1_1_1">
    <p:spTree>
      <p:nvGrpSpPr>
        <p:cNvPr id="1" name="Shape 98"/>
        <p:cNvGrpSpPr/>
        <p:nvPr/>
      </p:nvGrpSpPr>
      <p:grpSpPr>
        <a:xfrm>
          <a:off x="0" y="0"/>
          <a:ext cx="0" cy="0"/>
          <a:chOff x="0" y="0"/>
          <a:chExt cx="0" cy="0"/>
        </a:xfrm>
      </p:grpSpPr>
      <p:sp>
        <p:nvSpPr>
          <p:cNvPr id="99" name="Google Shape;99;p12"/>
          <p:cNvSpPr/>
          <p:nvPr/>
        </p:nvSpPr>
        <p:spPr>
          <a:xfrm>
            <a:off x="0" y="4294550"/>
            <a:ext cx="9144000" cy="241200"/>
          </a:xfrm>
          <a:prstGeom prst="rect">
            <a:avLst/>
          </a:prstGeom>
          <a:solidFill>
            <a:srgbClr val="1657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2"/>
          <p:cNvSpPr/>
          <p:nvPr/>
        </p:nvSpPr>
        <p:spPr>
          <a:xfrm>
            <a:off x="0" y="0"/>
            <a:ext cx="9144000" cy="530700"/>
          </a:xfrm>
          <a:prstGeom prst="rect">
            <a:avLst/>
          </a:prstGeom>
          <a:solidFill>
            <a:srgbClr val="1863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4454"/>
              </a:solidFill>
            </a:endParaRPr>
          </a:p>
        </p:txBody>
      </p:sp>
      <p:sp>
        <p:nvSpPr>
          <p:cNvPr id="101" name="Google Shape;101;p12"/>
          <p:cNvSpPr/>
          <p:nvPr/>
        </p:nvSpPr>
        <p:spPr>
          <a:xfrm>
            <a:off x="0" y="500626"/>
            <a:ext cx="9144000" cy="3824100"/>
          </a:xfrm>
          <a:prstGeom prst="rect">
            <a:avLst/>
          </a:prstGeom>
          <a:solidFill>
            <a:srgbClr val="124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2"/>
          <p:cNvSpPr/>
          <p:nvPr/>
        </p:nvSpPr>
        <p:spPr>
          <a:xfrm>
            <a:off x="0" y="4493605"/>
            <a:ext cx="9144000" cy="118200"/>
          </a:xfrm>
          <a:prstGeom prst="rect">
            <a:avLst/>
          </a:prstGeom>
          <a:solidFill>
            <a:srgbClr val="3B8D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2"/>
          <p:cNvSpPr/>
          <p:nvPr/>
        </p:nvSpPr>
        <p:spPr>
          <a:xfrm>
            <a:off x="0" y="4584075"/>
            <a:ext cx="9144000" cy="559500"/>
          </a:xfrm>
          <a:prstGeom prst="rect">
            <a:avLst/>
          </a:prstGeom>
          <a:solidFill>
            <a:srgbClr val="94B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2"/>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lvl1pPr lvl="0" algn="ctr" rtl="0">
              <a:buNone/>
              <a:defRPr sz="800">
                <a:solidFill>
                  <a:srgbClr val="FFFFFF"/>
                </a:solidFill>
                <a:latin typeface="Roboto Slab"/>
                <a:ea typeface="Roboto Slab"/>
                <a:cs typeface="Roboto Slab"/>
                <a:sym typeface="Roboto Slab"/>
              </a:defRPr>
            </a:lvl1pPr>
            <a:lvl2pPr lvl="1" algn="ctr" rtl="0">
              <a:buNone/>
              <a:defRPr sz="800">
                <a:solidFill>
                  <a:srgbClr val="FFFFFF"/>
                </a:solidFill>
                <a:latin typeface="Roboto Slab"/>
                <a:ea typeface="Roboto Slab"/>
                <a:cs typeface="Roboto Slab"/>
                <a:sym typeface="Roboto Slab"/>
              </a:defRPr>
            </a:lvl2pPr>
            <a:lvl3pPr lvl="2" algn="ctr" rtl="0">
              <a:buNone/>
              <a:defRPr sz="800">
                <a:solidFill>
                  <a:srgbClr val="FFFFFF"/>
                </a:solidFill>
                <a:latin typeface="Roboto Slab"/>
                <a:ea typeface="Roboto Slab"/>
                <a:cs typeface="Roboto Slab"/>
                <a:sym typeface="Roboto Slab"/>
              </a:defRPr>
            </a:lvl3pPr>
            <a:lvl4pPr lvl="3" algn="ctr" rtl="0">
              <a:buNone/>
              <a:defRPr sz="800">
                <a:solidFill>
                  <a:srgbClr val="FFFFFF"/>
                </a:solidFill>
                <a:latin typeface="Roboto Slab"/>
                <a:ea typeface="Roboto Slab"/>
                <a:cs typeface="Roboto Slab"/>
                <a:sym typeface="Roboto Slab"/>
              </a:defRPr>
            </a:lvl4pPr>
            <a:lvl5pPr lvl="4" algn="ctr" rtl="0">
              <a:buNone/>
              <a:defRPr sz="800">
                <a:solidFill>
                  <a:srgbClr val="FFFFFF"/>
                </a:solidFill>
                <a:latin typeface="Roboto Slab"/>
                <a:ea typeface="Roboto Slab"/>
                <a:cs typeface="Roboto Slab"/>
                <a:sym typeface="Roboto Slab"/>
              </a:defRPr>
            </a:lvl5pPr>
            <a:lvl6pPr lvl="5" algn="ctr" rtl="0">
              <a:buNone/>
              <a:defRPr sz="800">
                <a:solidFill>
                  <a:srgbClr val="FFFFFF"/>
                </a:solidFill>
                <a:latin typeface="Roboto Slab"/>
                <a:ea typeface="Roboto Slab"/>
                <a:cs typeface="Roboto Slab"/>
                <a:sym typeface="Roboto Slab"/>
              </a:defRPr>
            </a:lvl6pPr>
            <a:lvl7pPr lvl="6" algn="ctr" rtl="0">
              <a:buNone/>
              <a:defRPr sz="800">
                <a:solidFill>
                  <a:srgbClr val="FFFFFF"/>
                </a:solidFill>
                <a:latin typeface="Roboto Slab"/>
                <a:ea typeface="Roboto Slab"/>
                <a:cs typeface="Roboto Slab"/>
                <a:sym typeface="Roboto Slab"/>
              </a:defRPr>
            </a:lvl7pPr>
            <a:lvl8pPr lvl="7" algn="ctr" rtl="0">
              <a:buNone/>
              <a:defRPr sz="800">
                <a:solidFill>
                  <a:srgbClr val="FFFFFF"/>
                </a:solidFill>
                <a:latin typeface="Roboto Slab"/>
                <a:ea typeface="Roboto Slab"/>
                <a:cs typeface="Roboto Slab"/>
                <a:sym typeface="Roboto Slab"/>
              </a:defRPr>
            </a:lvl8pPr>
            <a:lvl9pPr lvl="8" algn="ctr" rtl="0">
              <a:buNone/>
              <a:defRPr sz="800">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46025" y="530725"/>
            <a:ext cx="3208800" cy="1028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1800"/>
              <a:buFont typeface="Roboto Slab"/>
              <a:buNone/>
              <a:defRPr sz="1800" b="1">
                <a:solidFill>
                  <a:srgbClr val="FFFFFF"/>
                </a:solidFill>
                <a:latin typeface="Roboto Slab"/>
                <a:ea typeface="Roboto Slab"/>
                <a:cs typeface="Roboto Slab"/>
                <a:sym typeface="Roboto Slab"/>
              </a:defRPr>
            </a:lvl1pPr>
            <a:lvl2pPr lvl="1">
              <a:spcBef>
                <a:spcPts val="0"/>
              </a:spcBef>
              <a:spcAft>
                <a:spcPts val="0"/>
              </a:spcAft>
              <a:buClr>
                <a:srgbClr val="FFFFFF"/>
              </a:buClr>
              <a:buSzPts val="1800"/>
              <a:buFont typeface="Roboto Slab"/>
              <a:buNone/>
              <a:defRPr sz="1800" b="1">
                <a:solidFill>
                  <a:srgbClr val="FFFFFF"/>
                </a:solidFill>
                <a:latin typeface="Roboto Slab"/>
                <a:ea typeface="Roboto Slab"/>
                <a:cs typeface="Roboto Slab"/>
                <a:sym typeface="Roboto Slab"/>
              </a:defRPr>
            </a:lvl2pPr>
            <a:lvl3pPr lvl="2">
              <a:spcBef>
                <a:spcPts val="0"/>
              </a:spcBef>
              <a:spcAft>
                <a:spcPts val="0"/>
              </a:spcAft>
              <a:buClr>
                <a:srgbClr val="FFFFFF"/>
              </a:buClr>
              <a:buSzPts val="1800"/>
              <a:buFont typeface="Roboto Slab"/>
              <a:buNone/>
              <a:defRPr sz="1800" b="1">
                <a:solidFill>
                  <a:srgbClr val="FFFFFF"/>
                </a:solidFill>
                <a:latin typeface="Roboto Slab"/>
                <a:ea typeface="Roboto Slab"/>
                <a:cs typeface="Roboto Slab"/>
                <a:sym typeface="Roboto Slab"/>
              </a:defRPr>
            </a:lvl3pPr>
            <a:lvl4pPr lvl="3">
              <a:spcBef>
                <a:spcPts val="0"/>
              </a:spcBef>
              <a:spcAft>
                <a:spcPts val="0"/>
              </a:spcAft>
              <a:buClr>
                <a:srgbClr val="FFFFFF"/>
              </a:buClr>
              <a:buSzPts val="1800"/>
              <a:buFont typeface="Roboto Slab"/>
              <a:buNone/>
              <a:defRPr sz="1800" b="1">
                <a:solidFill>
                  <a:srgbClr val="FFFFFF"/>
                </a:solidFill>
                <a:latin typeface="Roboto Slab"/>
                <a:ea typeface="Roboto Slab"/>
                <a:cs typeface="Roboto Slab"/>
                <a:sym typeface="Roboto Slab"/>
              </a:defRPr>
            </a:lvl4pPr>
            <a:lvl5pPr lvl="4">
              <a:spcBef>
                <a:spcPts val="0"/>
              </a:spcBef>
              <a:spcAft>
                <a:spcPts val="0"/>
              </a:spcAft>
              <a:buClr>
                <a:srgbClr val="FFFFFF"/>
              </a:buClr>
              <a:buSzPts val="1800"/>
              <a:buFont typeface="Roboto Slab"/>
              <a:buNone/>
              <a:defRPr sz="1800" b="1">
                <a:solidFill>
                  <a:srgbClr val="FFFFFF"/>
                </a:solidFill>
                <a:latin typeface="Roboto Slab"/>
                <a:ea typeface="Roboto Slab"/>
                <a:cs typeface="Roboto Slab"/>
                <a:sym typeface="Roboto Slab"/>
              </a:defRPr>
            </a:lvl5pPr>
            <a:lvl6pPr lvl="5">
              <a:spcBef>
                <a:spcPts val="0"/>
              </a:spcBef>
              <a:spcAft>
                <a:spcPts val="0"/>
              </a:spcAft>
              <a:buClr>
                <a:srgbClr val="FFFFFF"/>
              </a:buClr>
              <a:buSzPts val="1800"/>
              <a:buFont typeface="Roboto Slab"/>
              <a:buNone/>
              <a:defRPr sz="1800" b="1">
                <a:solidFill>
                  <a:srgbClr val="FFFFFF"/>
                </a:solidFill>
                <a:latin typeface="Roboto Slab"/>
                <a:ea typeface="Roboto Slab"/>
                <a:cs typeface="Roboto Slab"/>
                <a:sym typeface="Roboto Slab"/>
              </a:defRPr>
            </a:lvl6pPr>
            <a:lvl7pPr lvl="6">
              <a:spcBef>
                <a:spcPts val="0"/>
              </a:spcBef>
              <a:spcAft>
                <a:spcPts val="0"/>
              </a:spcAft>
              <a:buClr>
                <a:srgbClr val="FFFFFF"/>
              </a:buClr>
              <a:buSzPts val="1800"/>
              <a:buFont typeface="Roboto Slab"/>
              <a:buNone/>
              <a:defRPr sz="1800" b="1">
                <a:solidFill>
                  <a:srgbClr val="FFFFFF"/>
                </a:solidFill>
                <a:latin typeface="Roboto Slab"/>
                <a:ea typeface="Roboto Slab"/>
                <a:cs typeface="Roboto Slab"/>
                <a:sym typeface="Roboto Slab"/>
              </a:defRPr>
            </a:lvl7pPr>
            <a:lvl8pPr lvl="7">
              <a:spcBef>
                <a:spcPts val="0"/>
              </a:spcBef>
              <a:spcAft>
                <a:spcPts val="0"/>
              </a:spcAft>
              <a:buClr>
                <a:srgbClr val="FFFFFF"/>
              </a:buClr>
              <a:buSzPts val="1800"/>
              <a:buFont typeface="Roboto Slab"/>
              <a:buNone/>
              <a:defRPr sz="1800" b="1">
                <a:solidFill>
                  <a:srgbClr val="FFFFFF"/>
                </a:solidFill>
                <a:latin typeface="Roboto Slab"/>
                <a:ea typeface="Roboto Slab"/>
                <a:cs typeface="Roboto Slab"/>
                <a:sym typeface="Roboto Slab"/>
              </a:defRPr>
            </a:lvl8pPr>
            <a:lvl9pPr lvl="8">
              <a:spcBef>
                <a:spcPts val="0"/>
              </a:spcBef>
              <a:spcAft>
                <a:spcPts val="0"/>
              </a:spcAft>
              <a:buClr>
                <a:srgbClr val="FFFFFF"/>
              </a:buClr>
              <a:buSzPts val="1800"/>
              <a:buFont typeface="Roboto Slab"/>
              <a:buNone/>
              <a:defRPr sz="1800" b="1">
                <a:solidFill>
                  <a:srgbClr val="FFFFFF"/>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1146025" y="1767275"/>
            <a:ext cx="7540800" cy="31587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rgbClr val="114454"/>
              </a:buClr>
              <a:buSzPts val="3000"/>
              <a:buFont typeface="Nixie One"/>
              <a:buChar char="▪"/>
              <a:defRPr sz="3000">
                <a:solidFill>
                  <a:srgbClr val="114454"/>
                </a:solidFill>
                <a:latin typeface="Nixie One"/>
                <a:ea typeface="Nixie One"/>
                <a:cs typeface="Nixie One"/>
                <a:sym typeface="Nixie One"/>
              </a:defRPr>
            </a:lvl1pPr>
            <a:lvl2pPr marL="914400" lvl="1" indent="-381000">
              <a:spcBef>
                <a:spcPts val="0"/>
              </a:spcBef>
              <a:spcAft>
                <a:spcPts val="0"/>
              </a:spcAft>
              <a:buClr>
                <a:srgbClr val="114454"/>
              </a:buClr>
              <a:buSzPts val="2400"/>
              <a:buFont typeface="Nixie One"/>
              <a:buChar char="▫"/>
              <a:defRPr sz="2400">
                <a:solidFill>
                  <a:srgbClr val="114454"/>
                </a:solidFill>
                <a:latin typeface="Nixie One"/>
                <a:ea typeface="Nixie One"/>
                <a:cs typeface="Nixie One"/>
                <a:sym typeface="Nixie One"/>
              </a:defRPr>
            </a:lvl2pPr>
            <a:lvl3pPr marL="1371600" lvl="2" indent="-381000">
              <a:spcBef>
                <a:spcPts val="0"/>
              </a:spcBef>
              <a:spcAft>
                <a:spcPts val="0"/>
              </a:spcAft>
              <a:buClr>
                <a:srgbClr val="114454"/>
              </a:buClr>
              <a:buSzPts val="2400"/>
              <a:buFont typeface="Nixie One"/>
              <a:buChar char="■"/>
              <a:defRPr sz="2400">
                <a:solidFill>
                  <a:srgbClr val="114454"/>
                </a:solidFill>
                <a:latin typeface="Nixie One"/>
                <a:ea typeface="Nixie One"/>
                <a:cs typeface="Nixie One"/>
                <a:sym typeface="Nixie One"/>
              </a:defRPr>
            </a:lvl3pPr>
            <a:lvl4pPr marL="1828800" lvl="3" indent="-342900">
              <a:spcBef>
                <a:spcPts val="0"/>
              </a:spcBef>
              <a:spcAft>
                <a:spcPts val="0"/>
              </a:spcAft>
              <a:buClr>
                <a:srgbClr val="114454"/>
              </a:buClr>
              <a:buSzPts val="1800"/>
              <a:buFont typeface="Nixie One"/>
              <a:buChar char="●"/>
              <a:defRPr sz="1800">
                <a:solidFill>
                  <a:srgbClr val="114454"/>
                </a:solidFill>
                <a:latin typeface="Nixie One"/>
                <a:ea typeface="Nixie One"/>
                <a:cs typeface="Nixie One"/>
                <a:sym typeface="Nixie One"/>
              </a:defRPr>
            </a:lvl4pPr>
            <a:lvl5pPr marL="2286000" lvl="4" indent="-342900">
              <a:spcBef>
                <a:spcPts val="0"/>
              </a:spcBef>
              <a:spcAft>
                <a:spcPts val="0"/>
              </a:spcAft>
              <a:buClr>
                <a:srgbClr val="114454"/>
              </a:buClr>
              <a:buSzPts val="1800"/>
              <a:buFont typeface="Nixie One"/>
              <a:buChar char="○"/>
              <a:defRPr sz="1800">
                <a:solidFill>
                  <a:srgbClr val="114454"/>
                </a:solidFill>
                <a:latin typeface="Nixie One"/>
                <a:ea typeface="Nixie One"/>
                <a:cs typeface="Nixie One"/>
                <a:sym typeface="Nixie One"/>
              </a:defRPr>
            </a:lvl5pPr>
            <a:lvl6pPr marL="2743200" lvl="5" indent="-342900">
              <a:spcBef>
                <a:spcPts val="0"/>
              </a:spcBef>
              <a:spcAft>
                <a:spcPts val="0"/>
              </a:spcAft>
              <a:buClr>
                <a:srgbClr val="114454"/>
              </a:buClr>
              <a:buSzPts val="1800"/>
              <a:buFont typeface="Nixie One"/>
              <a:buChar char="■"/>
              <a:defRPr sz="1800">
                <a:solidFill>
                  <a:srgbClr val="114454"/>
                </a:solidFill>
                <a:latin typeface="Nixie One"/>
                <a:ea typeface="Nixie One"/>
                <a:cs typeface="Nixie One"/>
                <a:sym typeface="Nixie One"/>
              </a:defRPr>
            </a:lvl6pPr>
            <a:lvl7pPr marL="3200400" lvl="6" indent="-342900">
              <a:spcBef>
                <a:spcPts val="0"/>
              </a:spcBef>
              <a:spcAft>
                <a:spcPts val="0"/>
              </a:spcAft>
              <a:buClr>
                <a:srgbClr val="114454"/>
              </a:buClr>
              <a:buSzPts val="1800"/>
              <a:buFont typeface="Nixie One"/>
              <a:buChar char="●"/>
              <a:defRPr sz="1800">
                <a:solidFill>
                  <a:srgbClr val="114454"/>
                </a:solidFill>
                <a:latin typeface="Nixie One"/>
                <a:ea typeface="Nixie One"/>
                <a:cs typeface="Nixie One"/>
                <a:sym typeface="Nixie One"/>
              </a:defRPr>
            </a:lvl7pPr>
            <a:lvl8pPr marL="3657600" lvl="7" indent="-342900">
              <a:spcBef>
                <a:spcPts val="0"/>
              </a:spcBef>
              <a:spcAft>
                <a:spcPts val="0"/>
              </a:spcAft>
              <a:buClr>
                <a:srgbClr val="114454"/>
              </a:buClr>
              <a:buSzPts val="1800"/>
              <a:buFont typeface="Nixie One"/>
              <a:buChar char="○"/>
              <a:defRPr sz="1800">
                <a:solidFill>
                  <a:srgbClr val="114454"/>
                </a:solidFill>
                <a:latin typeface="Nixie One"/>
                <a:ea typeface="Nixie One"/>
                <a:cs typeface="Nixie One"/>
                <a:sym typeface="Nixie One"/>
              </a:defRPr>
            </a:lvl8pPr>
            <a:lvl9pPr marL="4114800" lvl="8" indent="-342900">
              <a:spcBef>
                <a:spcPts val="0"/>
              </a:spcBef>
              <a:spcAft>
                <a:spcPts val="0"/>
              </a:spcAft>
              <a:buClr>
                <a:srgbClr val="114454"/>
              </a:buClr>
              <a:buSzPts val="1800"/>
              <a:buFont typeface="Nixie One"/>
              <a:buChar char="■"/>
              <a:defRPr sz="1800">
                <a:solidFill>
                  <a:srgbClr val="114454"/>
                </a:solidFill>
                <a:latin typeface="Nixie One"/>
                <a:ea typeface="Nixie One"/>
                <a:cs typeface="Nixie One"/>
                <a:sym typeface="Nixie One"/>
              </a:defRPr>
            </a:lvl9pPr>
          </a:lstStyle>
          <a:p>
            <a:endParaRPr/>
          </a:p>
        </p:txBody>
      </p:sp>
      <p:sp>
        <p:nvSpPr>
          <p:cNvPr id="8" name="Google Shape;8;p1"/>
          <p:cNvSpPr txBox="1">
            <a:spLocks noGrp="1"/>
          </p:cNvSpPr>
          <p:nvPr>
            <p:ph type="sldNum" idx="12"/>
          </p:nvPr>
        </p:nvSpPr>
        <p:spPr>
          <a:xfrm>
            <a:off x="-51050" y="4819400"/>
            <a:ext cx="349200" cy="324000"/>
          </a:xfrm>
          <a:prstGeom prst="rect">
            <a:avLst/>
          </a:prstGeom>
          <a:noFill/>
          <a:ln>
            <a:noFill/>
          </a:ln>
        </p:spPr>
        <p:txBody>
          <a:bodyPr spcFirstLastPara="1" wrap="square" lIns="91425" tIns="91425" rIns="91425" bIns="91425" anchor="t" anchorCtr="0">
            <a:noAutofit/>
          </a:bodyPr>
          <a:lstStyle>
            <a:lvl1pPr lvl="0" algn="ctr">
              <a:buNone/>
              <a:defRPr sz="800">
                <a:solidFill>
                  <a:srgbClr val="FFFFFF"/>
                </a:solidFill>
                <a:latin typeface="Roboto Slab"/>
                <a:ea typeface="Roboto Slab"/>
                <a:cs typeface="Roboto Slab"/>
                <a:sym typeface="Roboto Slab"/>
              </a:defRPr>
            </a:lvl1pPr>
            <a:lvl2pPr lvl="1" algn="ctr">
              <a:buNone/>
              <a:defRPr sz="800">
                <a:solidFill>
                  <a:srgbClr val="FFFFFF"/>
                </a:solidFill>
                <a:latin typeface="Roboto Slab"/>
                <a:ea typeface="Roboto Slab"/>
                <a:cs typeface="Roboto Slab"/>
                <a:sym typeface="Roboto Slab"/>
              </a:defRPr>
            </a:lvl2pPr>
            <a:lvl3pPr lvl="2" algn="ctr">
              <a:buNone/>
              <a:defRPr sz="800">
                <a:solidFill>
                  <a:srgbClr val="FFFFFF"/>
                </a:solidFill>
                <a:latin typeface="Roboto Slab"/>
                <a:ea typeface="Roboto Slab"/>
                <a:cs typeface="Roboto Slab"/>
                <a:sym typeface="Roboto Slab"/>
              </a:defRPr>
            </a:lvl3pPr>
            <a:lvl4pPr lvl="3" algn="ctr">
              <a:buNone/>
              <a:defRPr sz="800">
                <a:solidFill>
                  <a:srgbClr val="FFFFFF"/>
                </a:solidFill>
                <a:latin typeface="Roboto Slab"/>
                <a:ea typeface="Roboto Slab"/>
                <a:cs typeface="Roboto Slab"/>
                <a:sym typeface="Roboto Slab"/>
              </a:defRPr>
            </a:lvl4pPr>
            <a:lvl5pPr lvl="4" algn="ctr">
              <a:buNone/>
              <a:defRPr sz="800">
                <a:solidFill>
                  <a:srgbClr val="FFFFFF"/>
                </a:solidFill>
                <a:latin typeface="Roboto Slab"/>
                <a:ea typeface="Roboto Slab"/>
                <a:cs typeface="Roboto Slab"/>
                <a:sym typeface="Roboto Slab"/>
              </a:defRPr>
            </a:lvl5pPr>
            <a:lvl6pPr lvl="5" algn="ctr">
              <a:buNone/>
              <a:defRPr sz="800">
                <a:solidFill>
                  <a:srgbClr val="FFFFFF"/>
                </a:solidFill>
                <a:latin typeface="Roboto Slab"/>
                <a:ea typeface="Roboto Slab"/>
                <a:cs typeface="Roboto Slab"/>
                <a:sym typeface="Roboto Slab"/>
              </a:defRPr>
            </a:lvl6pPr>
            <a:lvl7pPr lvl="6" algn="ctr">
              <a:buNone/>
              <a:defRPr sz="800">
                <a:solidFill>
                  <a:srgbClr val="FFFFFF"/>
                </a:solidFill>
                <a:latin typeface="Roboto Slab"/>
                <a:ea typeface="Roboto Slab"/>
                <a:cs typeface="Roboto Slab"/>
                <a:sym typeface="Roboto Slab"/>
              </a:defRPr>
            </a:lvl7pPr>
            <a:lvl8pPr lvl="7" algn="ctr">
              <a:buNone/>
              <a:defRPr sz="800">
                <a:solidFill>
                  <a:srgbClr val="FFFFFF"/>
                </a:solidFill>
                <a:latin typeface="Roboto Slab"/>
                <a:ea typeface="Roboto Slab"/>
                <a:cs typeface="Roboto Slab"/>
                <a:sym typeface="Roboto Slab"/>
              </a:defRPr>
            </a:lvl8pPr>
            <a:lvl9pPr lvl="8" algn="ctr">
              <a:buNone/>
              <a:defRPr sz="800">
                <a:solidFill>
                  <a:srgbClr val="FFFFFF"/>
                </a:solidFill>
                <a:latin typeface="Roboto Slab"/>
                <a:ea typeface="Roboto Slab"/>
                <a:cs typeface="Roboto Slab"/>
                <a:sym typeface="Roboto Slab"/>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6" r:id="rId5"/>
    <p:sldLayoutId id="2147483657" r:id="rId6"/>
    <p:sldLayoutId id="214748365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3"/>
          <p:cNvSpPr txBox="1">
            <a:spLocks noGrp="1"/>
          </p:cNvSpPr>
          <p:nvPr>
            <p:ph type="ctrTitle"/>
          </p:nvPr>
        </p:nvSpPr>
        <p:spPr>
          <a:xfrm>
            <a:off x="629055" y="1263389"/>
            <a:ext cx="8009107" cy="238110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smtClean="0"/>
              <a:t>ĐỒ ÁN TỐT NGHIỆP</a:t>
            </a:r>
            <a:br>
              <a:rPr lang="en-US" dirty="0" smtClean="0"/>
            </a:br>
            <a:r>
              <a:rPr lang="en-US" dirty="0" smtClean="0"/>
              <a:t>Nhận diện phát </a:t>
            </a:r>
            <a:r>
              <a:rPr lang="en-US" smtClean="0"/>
              <a:t>âm </a:t>
            </a:r>
            <a:br>
              <a:rPr lang="en-US" smtClean="0"/>
            </a:br>
            <a:r>
              <a:rPr lang="en-US" smtClean="0"/>
              <a:t>từ </a:t>
            </a:r>
            <a:r>
              <a:rPr lang="en-US" dirty="0" smtClean="0"/>
              <a:t>khoá trên thiết bị</a:t>
            </a:r>
            <a:endParaRPr dirty="0"/>
          </a:p>
        </p:txBody>
      </p:sp>
      <p:grpSp>
        <p:nvGrpSpPr>
          <p:cNvPr id="110" name="Google Shape;110;p13"/>
          <p:cNvGrpSpPr/>
          <p:nvPr/>
        </p:nvGrpSpPr>
        <p:grpSpPr>
          <a:xfrm>
            <a:off x="753267" y="1029785"/>
            <a:ext cx="964541" cy="1011307"/>
            <a:chOff x="5961125" y="1623900"/>
            <a:chExt cx="427450" cy="448175"/>
          </a:xfrm>
        </p:grpSpPr>
        <p:sp>
          <p:nvSpPr>
            <p:cNvPr id="111" name="Google Shape;111;p13"/>
            <p:cNvSpPr/>
            <p:nvPr/>
          </p:nvSpPr>
          <p:spPr>
            <a:xfrm>
              <a:off x="5961125" y="1678700"/>
              <a:ext cx="376925" cy="376925"/>
            </a:xfrm>
            <a:custGeom>
              <a:avLst/>
              <a:gdLst/>
              <a:ahLst/>
              <a:cxnLst/>
              <a:rect l="l" t="t" r="r" b="b"/>
              <a:pathLst>
                <a:path w="15077" h="15077" fill="none" extrusionOk="0">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w="19050" cap="rnd" cmpd="sng">
              <a:solidFill>
                <a:srgbClr val="18637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3"/>
            <p:cNvSpPr/>
            <p:nvPr/>
          </p:nvSpPr>
          <p:spPr>
            <a:xfrm>
              <a:off x="6009825" y="1727425"/>
              <a:ext cx="279500" cy="279500"/>
            </a:xfrm>
            <a:custGeom>
              <a:avLst/>
              <a:gdLst/>
              <a:ahLst/>
              <a:cxnLst/>
              <a:rect l="l" t="t" r="r" b="b"/>
              <a:pathLst>
                <a:path w="11180" h="11180" fill="none" extrusionOk="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w="19050" cap="rnd" cmpd="sng">
              <a:solidFill>
                <a:srgbClr val="18637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3"/>
            <p:cNvSpPr/>
            <p:nvPr/>
          </p:nvSpPr>
          <p:spPr>
            <a:xfrm>
              <a:off x="6107250" y="1824850"/>
              <a:ext cx="84650" cy="84650"/>
            </a:xfrm>
            <a:custGeom>
              <a:avLst/>
              <a:gdLst/>
              <a:ahLst/>
              <a:cxnLst/>
              <a:rect l="l" t="t" r="r" b="b"/>
              <a:pathLst>
                <a:path w="3386" h="3386" fill="none" extrusionOk="0">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w="19050" cap="rnd" cmpd="sng">
              <a:solidFill>
                <a:srgbClr val="18637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a:off x="6058550" y="1776125"/>
              <a:ext cx="182075" cy="182075"/>
            </a:xfrm>
            <a:custGeom>
              <a:avLst/>
              <a:gdLst/>
              <a:ahLst/>
              <a:cxnLst/>
              <a:rect l="l" t="t" r="r" b="b"/>
              <a:pathLst>
                <a:path w="7283" h="7283" fill="none" extrusionOk="0">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w="19050" cap="rnd" cmpd="sng">
              <a:solidFill>
                <a:srgbClr val="18637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3"/>
            <p:cNvSpPr/>
            <p:nvPr/>
          </p:nvSpPr>
          <p:spPr>
            <a:xfrm>
              <a:off x="5971475" y="2001400"/>
              <a:ext cx="74925" cy="70675"/>
            </a:xfrm>
            <a:custGeom>
              <a:avLst/>
              <a:gdLst/>
              <a:ahLst/>
              <a:cxnLst/>
              <a:rect l="l" t="t" r="r" b="b"/>
              <a:pathLst>
                <a:path w="2997" h="2827" fill="none" extrusionOk="0">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w="19050" cap="rnd" cmpd="sng">
              <a:solidFill>
                <a:srgbClr val="18637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3"/>
            <p:cNvSpPr/>
            <p:nvPr/>
          </p:nvSpPr>
          <p:spPr>
            <a:xfrm>
              <a:off x="6253375" y="2001400"/>
              <a:ext cx="74325" cy="70675"/>
            </a:xfrm>
            <a:custGeom>
              <a:avLst/>
              <a:gdLst/>
              <a:ahLst/>
              <a:cxnLst/>
              <a:rect l="l" t="t" r="r" b="b"/>
              <a:pathLst>
                <a:path w="2973" h="2827" fill="none" extrusionOk="0">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w="19050" cap="rnd" cmpd="sng">
              <a:solidFill>
                <a:srgbClr val="18637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3"/>
            <p:cNvSpPr/>
            <p:nvPr/>
          </p:nvSpPr>
          <p:spPr>
            <a:xfrm>
              <a:off x="6137700" y="1623900"/>
              <a:ext cx="250875" cy="255150"/>
            </a:xfrm>
            <a:custGeom>
              <a:avLst/>
              <a:gdLst/>
              <a:ahLst/>
              <a:cxnLst/>
              <a:rect l="l" t="t" r="r" b="b"/>
              <a:pathLst>
                <a:path w="10035" h="10206" fill="none" extrusionOk="0">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w="19050" cap="rnd" cmpd="sng">
              <a:solidFill>
                <a:srgbClr val="18637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Subtitle 2"/>
          <p:cNvSpPr txBox="1">
            <a:spLocks/>
          </p:cNvSpPr>
          <p:nvPr/>
        </p:nvSpPr>
        <p:spPr>
          <a:xfrm>
            <a:off x="1580443" y="3644493"/>
            <a:ext cx="7040072" cy="646829"/>
          </a:xfrm>
          <a:prstGeom prst="rect">
            <a:avLst/>
          </a:prstGeom>
        </p:spPr>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dirty="0" smtClean="0">
                <a:solidFill>
                  <a:schemeClr val="bg1"/>
                </a:solidFill>
                <a:latin typeface="Arial" panose="020B0604020202020204" pitchFamily="34" charset="0"/>
                <a:ea typeface="Arial Unicode MS" panose="020B0604020202020204" pitchFamily="34" charset="-128"/>
                <a:cs typeface="Arial" panose="020B0604020202020204" pitchFamily="34" charset="0"/>
              </a:rPr>
              <a:t>Sinh viên thực hiện: 	</a:t>
            </a:r>
            <a:r>
              <a:rPr lang="en-US" sz="2000" b="1" dirty="0" smtClean="0">
                <a:solidFill>
                  <a:schemeClr val="bg1"/>
                </a:solidFill>
                <a:latin typeface="Arial" panose="020B0604020202020204" pitchFamily="34" charset="0"/>
                <a:ea typeface="Arial Unicode MS" panose="020B0604020202020204" pitchFamily="34" charset="-128"/>
                <a:cs typeface="Arial" panose="020B0604020202020204" pitchFamily="34" charset="0"/>
              </a:rPr>
              <a:t>Nguyễn Thiện Hỷ</a:t>
            </a:r>
            <a:endParaRPr lang="en-US" sz="2000" dirty="0" smtClean="0">
              <a:solidFill>
                <a:schemeClr val="bg1"/>
              </a:solidFill>
              <a:latin typeface="Arial" panose="020B0604020202020204" pitchFamily="34" charset="0"/>
              <a:ea typeface="Arial Unicode MS" panose="020B0604020202020204" pitchFamily="34" charset="-128"/>
              <a:cs typeface="Arial" panose="020B0604020202020204" pitchFamily="34" charset="0"/>
            </a:endParaRPr>
          </a:p>
          <a:p>
            <a:r>
              <a:rPr lang="en-US" sz="2000" dirty="0" smtClean="0">
                <a:solidFill>
                  <a:schemeClr val="bg1"/>
                </a:solidFill>
                <a:latin typeface="Arial" panose="020B0604020202020204" pitchFamily="34" charset="0"/>
                <a:ea typeface="Arial Unicode MS" panose="020B0604020202020204" pitchFamily="34" charset="-128"/>
                <a:cs typeface="Arial" panose="020B0604020202020204" pitchFamily="34" charset="0"/>
              </a:rPr>
              <a:t>Giảng viên hướng dẫn:	</a:t>
            </a:r>
            <a:r>
              <a:rPr lang="en-US" sz="2000" b="1" dirty="0" smtClean="0">
                <a:solidFill>
                  <a:schemeClr val="bg1"/>
                </a:solidFill>
                <a:latin typeface="Arial" panose="020B0604020202020204" pitchFamily="34" charset="0"/>
                <a:ea typeface="Arial Unicode MS" panose="020B0604020202020204" pitchFamily="34" charset="-128"/>
                <a:cs typeface="Arial" panose="020B0604020202020204" pitchFamily="34" charset="0"/>
              </a:rPr>
              <a:t>PGS. TS. Đỗ Phan Thuận</a:t>
            </a:r>
            <a:endParaRPr lang="en-US" sz="2000" b="1" dirty="0">
              <a:solidFill>
                <a:schemeClr val="bg1"/>
              </a:solidFill>
              <a:latin typeface="Arial" panose="020B0604020202020204" pitchFamily="34" charset="0"/>
              <a:ea typeface="Arial Unicode MS" panose="020B0604020202020204" pitchFamily="34" charset="-128"/>
              <a:cs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4"/>
          <p:cNvSpPr txBox="1">
            <a:spLocks noGrp="1"/>
          </p:cNvSpPr>
          <p:nvPr>
            <p:ph type="title"/>
          </p:nvPr>
        </p:nvSpPr>
        <p:spPr>
          <a:xfrm>
            <a:off x="1146025" y="530725"/>
            <a:ext cx="3208800" cy="102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Nội dung chính</a:t>
            </a:r>
            <a:endParaRPr dirty="0"/>
          </a:p>
        </p:txBody>
      </p:sp>
      <p:grpSp>
        <p:nvGrpSpPr>
          <p:cNvPr id="123" name="Google Shape;123;p14"/>
          <p:cNvGrpSpPr/>
          <p:nvPr/>
        </p:nvGrpSpPr>
        <p:grpSpPr>
          <a:xfrm>
            <a:off x="333623" y="861852"/>
            <a:ext cx="366458" cy="366437"/>
            <a:chOff x="1923675" y="1633650"/>
            <a:chExt cx="436000" cy="435975"/>
          </a:xfrm>
        </p:grpSpPr>
        <p:sp>
          <p:nvSpPr>
            <p:cNvPr id="124" name="Google Shape;124;p14"/>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4"/>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4"/>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4"/>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4"/>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 name="Google Shape;130;p14"/>
          <p:cNvSpPr txBox="1"/>
          <p:nvPr/>
        </p:nvSpPr>
        <p:spPr>
          <a:xfrm>
            <a:off x="1146024" y="1926667"/>
            <a:ext cx="5122253" cy="1757437"/>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US" sz="1800" b="1" dirty="0" smtClean="0">
                <a:solidFill>
                  <a:srgbClr val="114454"/>
                </a:solidFill>
                <a:latin typeface="+mj-lt"/>
                <a:ea typeface="Nixie One"/>
                <a:cs typeface="Nixie One"/>
                <a:sym typeface="Nixie One"/>
              </a:rPr>
              <a:t>1. ĐẶT VẤN ĐỀ</a:t>
            </a:r>
          </a:p>
          <a:p>
            <a:pPr marL="0" lvl="0" indent="0" algn="l" rtl="0">
              <a:spcBef>
                <a:spcPts val="600"/>
              </a:spcBef>
              <a:spcAft>
                <a:spcPts val="0"/>
              </a:spcAft>
              <a:buClr>
                <a:schemeClr val="dk1"/>
              </a:buClr>
              <a:buSzPts val="1100"/>
              <a:buFont typeface="Arial"/>
              <a:buNone/>
            </a:pPr>
            <a:r>
              <a:rPr lang="en-US" sz="1800" b="1" dirty="0" smtClean="0">
                <a:solidFill>
                  <a:srgbClr val="114454"/>
                </a:solidFill>
                <a:latin typeface="+mj-lt"/>
                <a:ea typeface="Nixie One"/>
                <a:cs typeface="Nixie One"/>
                <a:sym typeface="Nixie One"/>
              </a:rPr>
              <a:t>2. PHƯƠNG PHÁP GIẢI QUYẾT BÀI TOÁN</a:t>
            </a:r>
          </a:p>
          <a:p>
            <a:pPr marL="0" lvl="0" indent="0" algn="l" rtl="0">
              <a:spcBef>
                <a:spcPts val="600"/>
              </a:spcBef>
              <a:spcAft>
                <a:spcPts val="0"/>
              </a:spcAft>
              <a:buClr>
                <a:schemeClr val="dk1"/>
              </a:buClr>
              <a:buSzPts val="1100"/>
              <a:buFont typeface="Arial"/>
              <a:buNone/>
            </a:pPr>
            <a:r>
              <a:rPr lang="en-US" sz="1800" b="1" dirty="0" smtClean="0">
                <a:solidFill>
                  <a:srgbClr val="114454"/>
                </a:solidFill>
                <a:latin typeface="+mj-lt"/>
                <a:ea typeface="Nixie One"/>
                <a:cs typeface="Nixie One"/>
                <a:sym typeface="Nixie One"/>
              </a:rPr>
              <a:t>3. KẾT QUẢ ĐẠT ĐƯỢC</a:t>
            </a:r>
          </a:p>
          <a:p>
            <a:pPr marL="0" lvl="0" indent="0" algn="l" rtl="0">
              <a:spcBef>
                <a:spcPts val="600"/>
              </a:spcBef>
              <a:spcAft>
                <a:spcPts val="0"/>
              </a:spcAft>
              <a:buClr>
                <a:schemeClr val="dk1"/>
              </a:buClr>
              <a:buSzPts val="1100"/>
              <a:buFont typeface="Arial"/>
              <a:buNone/>
            </a:pPr>
            <a:r>
              <a:rPr lang="en-US" sz="1800" b="1" dirty="0" smtClean="0">
                <a:solidFill>
                  <a:srgbClr val="114454"/>
                </a:solidFill>
                <a:latin typeface="+mj-lt"/>
                <a:ea typeface="Nixie One"/>
                <a:cs typeface="Nixie One"/>
                <a:sym typeface="Nixie One"/>
              </a:rPr>
              <a:t>4. HẠN CHẾ</a:t>
            </a:r>
          </a:p>
          <a:p>
            <a:pPr marL="0" lvl="0" indent="0" algn="l" rtl="0">
              <a:spcBef>
                <a:spcPts val="600"/>
              </a:spcBef>
              <a:spcAft>
                <a:spcPts val="0"/>
              </a:spcAft>
              <a:buClr>
                <a:schemeClr val="dk1"/>
              </a:buClr>
              <a:buSzPts val="1100"/>
              <a:buFont typeface="Arial"/>
              <a:buNone/>
            </a:pPr>
            <a:r>
              <a:rPr lang="en-US" sz="1800" b="1" dirty="0">
                <a:solidFill>
                  <a:srgbClr val="114454"/>
                </a:solidFill>
                <a:latin typeface="+mj-lt"/>
                <a:ea typeface="Nixie One"/>
                <a:cs typeface="Nixie One"/>
                <a:sym typeface="Nixie One"/>
              </a:rPr>
              <a:t>5</a:t>
            </a:r>
            <a:r>
              <a:rPr lang="en-US" sz="1800" b="1" dirty="0" smtClean="0">
                <a:solidFill>
                  <a:srgbClr val="114454"/>
                </a:solidFill>
                <a:latin typeface="+mj-lt"/>
                <a:ea typeface="Nixie One"/>
                <a:cs typeface="Nixie One"/>
                <a:sym typeface="Nixie One"/>
              </a:rPr>
              <a:t>. KẾT LUẬN VÀ HƯỚNG PHÁT TRIỂN</a:t>
            </a:r>
            <a:endParaRPr sz="1800" b="1" dirty="0">
              <a:solidFill>
                <a:srgbClr val="114454"/>
              </a:solidFill>
              <a:latin typeface="+mj-lt"/>
              <a:ea typeface="Nixie One"/>
              <a:cs typeface="Nixie One"/>
              <a:sym typeface="Nixie One"/>
            </a:endParaRPr>
          </a:p>
          <a:p>
            <a:pPr marL="0" lvl="0" indent="0" algn="l" rtl="0">
              <a:spcBef>
                <a:spcPts val="600"/>
              </a:spcBef>
              <a:spcAft>
                <a:spcPts val="0"/>
              </a:spcAft>
              <a:buNone/>
            </a:pPr>
            <a:endParaRPr sz="1200" b="1" dirty="0">
              <a:solidFill>
                <a:srgbClr val="114454"/>
              </a:solidFill>
              <a:latin typeface="Nixie One"/>
              <a:ea typeface="Nixie One"/>
              <a:cs typeface="Nixie One"/>
              <a:sym typeface="Nixie One"/>
            </a:endParaRPr>
          </a:p>
        </p:txBody>
      </p:sp>
      <p:sp>
        <p:nvSpPr>
          <p:cNvPr id="133" name="Google Shape;133;p14"/>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ctrTitle"/>
          </p:nvPr>
        </p:nvSpPr>
        <p:spPr>
          <a:xfrm>
            <a:off x="4113600" y="2878750"/>
            <a:ext cx="45057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smtClean="0"/>
              <a:t>ĐẶT VẤN ĐỀ</a:t>
            </a:r>
            <a:endParaRPr dirty="0"/>
          </a:p>
        </p:txBody>
      </p:sp>
      <p:sp>
        <p:nvSpPr>
          <p:cNvPr id="148" name="Google Shape;148;p16"/>
          <p:cNvSpPr txBox="1"/>
          <p:nvPr/>
        </p:nvSpPr>
        <p:spPr>
          <a:xfrm>
            <a:off x="0" y="503350"/>
            <a:ext cx="3471300" cy="381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0">
                <a:solidFill>
                  <a:srgbClr val="18637B"/>
                </a:solidFill>
                <a:latin typeface="Roboto Slab"/>
                <a:ea typeface="Roboto Slab"/>
                <a:cs typeface="Roboto Slab"/>
                <a:sym typeface="Roboto Slab"/>
              </a:rPr>
              <a:t>1</a:t>
            </a:r>
            <a:endParaRPr sz="20000">
              <a:solidFill>
                <a:srgbClr val="18637B"/>
              </a:solidFill>
              <a:latin typeface="Roboto Slab"/>
              <a:ea typeface="Roboto Slab"/>
              <a:cs typeface="Roboto Slab"/>
              <a:sym typeface="Roboto Slab"/>
            </a:endParaRPr>
          </a:p>
        </p:txBody>
      </p:sp>
      <p:sp>
        <p:nvSpPr>
          <p:cNvPr id="149" name="Google Shape;149;p16"/>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a:t>
            </a:f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64" name="Google Shape;364;p29"/>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p:pic>
        <p:nvPicPr>
          <p:cNvPr id="1026" name="Picture 2" descr="Google Home - Loa thông minh tích hợp trợ lý ảo • Huế came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1059" y="161952"/>
            <a:ext cx="1924050" cy="192405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34" name="Picture 10" descr="Anki&amp;#39;s adorable Vector smart robot has a rare 30% cut at Amazon today |  TechHiv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7150" y="161952"/>
            <a:ext cx="2962274" cy="197485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1" name="Picture 8"/>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298150" y="226912"/>
            <a:ext cx="3159760" cy="19963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94453" y="2361798"/>
            <a:ext cx="4397262" cy="2380759"/>
          </a:xfrm>
          <a:prstGeom prst="rect">
            <a:avLst/>
          </a:prstGeom>
          <a:ln>
            <a:noFill/>
          </a:ln>
          <a:effectLst>
            <a:outerShdw blurRad="292100" dist="139700" dir="2700000" algn="tl" rotWithShape="0">
              <a:srgbClr val="333333">
                <a:alpha val="65000"/>
              </a:srgbClr>
            </a:outerShdw>
          </a:effectLst>
        </p:spPr>
      </p:pic>
      <p:sp>
        <p:nvSpPr>
          <p:cNvPr id="3" name="TextBox 2"/>
          <p:cNvSpPr txBox="1"/>
          <p:nvPr/>
        </p:nvSpPr>
        <p:spPr>
          <a:xfrm>
            <a:off x="4140689" y="2110777"/>
            <a:ext cx="1104790" cy="276999"/>
          </a:xfrm>
          <a:prstGeom prst="rect">
            <a:avLst/>
          </a:prstGeom>
          <a:noFill/>
        </p:spPr>
        <p:txBody>
          <a:bodyPr wrap="none" rtlCol="0">
            <a:spAutoFit/>
          </a:bodyPr>
          <a:lstStyle/>
          <a:p>
            <a:r>
              <a:rPr lang="en-US" sz="1200" dirty="0" smtClean="0"/>
              <a:t>Google home</a:t>
            </a:r>
            <a:endParaRPr lang="en-US" sz="1200" dirty="0"/>
          </a:p>
        </p:txBody>
      </p:sp>
      <p:sp>
        <p:nvSpPr>
          <p:cNvPr id="25" name="TextBox 24"/>
          <p:cNvSpPr txBox="1"/>
          <p:nvPr/>
        </p:nvSpPr>
        <p:spPr>
          <a:xfrm>
            <a:off x="1040300" y="2136802"/>
            <a:ext cx="1675459" cy="276999"/>
          </a:xfrm>
          <a:prstGeom prst="rect">
            <a:avLst/>
          </a:prstGeom>
          <a:noFill/>
        </p:spPr>
        <p:txBody>
          <a:bodyPr wrap="none" rtlCol="0">
            <a:spAutoFit/>
          </a:bodyPr>
          <a:lstStyle/>
          <a:p>
            <a:r>
              <a:rPr lang="en-US" sz="1200" dirty="0" smtClean="0"/>
              <a:t>Điện thoại thông minh</a:t>
            </a:r>
            <a:endParaRPr lang="en-US" sz="1200" dirty="0"/>
          </a:p>
        </p:txBody>
      </p:sp>
      <p:sp>
        <p:nvSpPr>
          <p:cNvPr id="26" name="TextBox 25"/>
          <p:cNvSpPr txBox="1"/>
          <p:nvPr/>
        </p:nvSpPr>
        <p:spPr>
          <a:xfrm>
            <a:off x="6850820" y="2084799"/>
            <a:ext cx="1394934" cy="276999"/>
          </a:xfrm>
          <a:prstGeom prst="rect">
            <a:avLst/>
          </a:prstGeom>
          <a:noFill/>
        </p:spPr>
        <p:txBody>
          <a:bodyPr wrap="none" rtlCol="0">
            <a:spAutoFit/>
          </a:bodyPr>
          <a:lstStyle/>
          <a:p>
            <a:r>
              <a:rPr lang="en-US" sz="1200" dirty="0" smtClean="0"/>
              <a:t>Robot thông minh</a:t>
            </a:r>
            <a:endParaRPr lang="en-US" sz="1200" dirty="0"/>
          </a:p>
        </p:txBody>
      </p:sp>
      <p:sp>
        <p:nvSpPr>
          <p:cNvPr id="27" name="TextBox 26"/>
          <p:cNvSpPr txBox="1"/>
          <p:nvPr/>
        </p:nvSpPr>
        <p:spPr>
          <a:xfrm>
            <a:off x="4059737" y="4717238"/>
            <a:ext cx="1266693" cy="276999"/>
          </a:xfrm>
          <a:prstGeom prst="rect">
            <a:avLst/>
          </a:prstGeom>
          <a:noFill/>
        </p:spPr>
        <p:txBody>
          <a:bodyPr wrap="none" rtlCol="0">
            <a:spAutoFit/>
          </a:bodyPr>
          <a:lstStyle/>
          <a:p>
            <a:r>
              <a:rPr lang="en-US" sz="1200" dirty="0" smtClean="0"/>
              <a:t>Nhà thông minh</a:t>
            </a:r>
            <a:endParaRPr lang="en-US" sz="1200" dirty="0"/>
          </a:p>
        </p:txBody>
      </p:sp>
      <p:pic>
        <p:nvPicPr>
          <p:cNvPr id="1038" name="Picture 14" descr="Premium Photo | Single white question mark on the blue background with copy  blank spac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2962" y="979251"/>
            <a:ext cx="6744510" cy="35129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000699" y="1678027"/>
            <a:ext cx="5311069" cy="707886"/>
          </a:xfrm>
          <a:prstGeom prst="rect">
            <a:avLst/>
          </a:prstGeom>
          <a:noFill/>
        </p:spPr>
        <p:txBody>
          <a:bodyPr wrap="none" rtlCol="0">
            <a:spAutoFit/>
          </a:bodyPr>
          <a:lstStyle/>
          <a:p>
            <a:r>
              <a:rPr lang="en-US" sz="2000" b="1" dirty="0" smtClean="0">
                <a:solidFill>
                  <a:schemeClr val="bg1"/>
                </a:solidFill>
              </a:rPr>
              <a:t>Cách thức để điều khiển các thiết bị này ?</a:t>
            </a:r>
          </a:p>
          <a:p>
            <a:pPr algn="ctr"/>
            <a:r>
              <a:rPr lang="en-US" sz="2000" b="1" dirty="0" smtClean="0">
                <a:solidFill>
                  <a:schemeClr val="bg1"/>
                </a:solidFill>
              </a:rPr>
              <a:t>=&gt; Câu lệnh hay từ khoá</a:t>
            </a:r>
            <a:endParaRPr lang="en-US" sz="2000" b="1" dirty="0">
              <a:solidFill>
                <a:schemeClr val="bg1"/>
              </a:solidFill>
            </a:endParaRPr>
          </a:p>
        </p:txBody>
      </p:sp>
      <p:sp>
        <p:nvSpPr>
          <p:cNvPr id="30" name="TextBox 29"/>
          <p:cNvSpPr txBox="1"/>
          <p:nvPr/>
        </p:nvSpPr>
        <p:spPr>
          <a:xfrm>
            <a:off x="1466879" y="2734518"/>
            <a:ext cx="6452407" cy="1015663"/>
          </a:xfrm>
          <a:prstGeom prst="rect">
            <a:avLst/>
          </a:prstGeom>
          <a:noFill/>
        </p:spPr>
        <p:txBody>
          <a:bodyPr wrap="none" rtlCol="0">
            <a:spAutoFit/>
          </a:bodyPr>
          <a:lstStyle/>
          <a:p>
            <a:r>
              <a:rPr lang="en-US" sz="2000" b="1" dirty="0" smtClean="0">
                <a:solidFill>
                  <a:schemeClr val="bg1"/>
                </a:solidFill>
              </a:rPr>
              <a:t>Xây dựng các chương trình điều khiển như thế nào</a:t>
            </a:r>
          </a:p>
          <a:p>
            <a:pPr algn="ctr"/>
            <a:r>
              <a:rPr lang="en-US" sz="2000" b="1" dirty="0">
                <a:solidFill>
                  <a:schemeClr val="bg1"/>
                </a:solidFill>
              </a:rPr>
              <a:t>s</a:t>
            </a:r>
            <a:r>
              <a:rPr lang="en-US" sz="2000" b="1" dirty="0" smtClean="0">
                <a:solidFill>
                  <a:schemeClr val="bg1"/>
                </a:solidFill>
              </a:rPr>
              <a:t>ao cho hợp lý về tài nguyên phần cứng ?</a:t>
            </a:r>
          </a:p>
          <a:p>
            <a:pPr algn="ctr"/>
            <a:r>
              <a:rPr lang="en-US" sz="2000" b="1" dirty="0" smtClean="0">
                <a:solidFill>
                  <a:schemeClr val="bg1"/>
                </a:solidFill>
              </a:rPr>
              <a:t>=&gt; Mô hình nhận diện</a:t>
            </a:r>
            <a:endParaRPr lang="en-US" sz="2000" b="1" dirty="0">
              <a:solidFill>
                <a:schemeClr val="bg1"/>
              </a:solidFill>
            </a:endParaRPr>
          </a:p>
        </p:txBody>
      </p:sp>
    </p:spTree>
    <p:extLst>
      <p:ext uri="{BB962C8B-B14F-4D97-AF65-F5344CB8AC3E}">
        <p14:creationId xmlns:p14="http://schemas.microsoft.com/office/powerpoint/2010/main" val="3188970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inVertical)">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barn(inVertical)">
                                      <p:cBhvr>
                                        <p:cTn id="15" dur="500"/>
                                        <p:tgtEl>
                                          <p:spTgt spid="1026"/>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034"/>
                                        </p:tgtEl>
                                        <p:attrNameLst>
                                          <p:attrName>style.visibility</p:attrName>
                                        </p:attrNameLst>
                                      </p:cBhvr>
                                      <p:to>
                                        <p:strVal val="visible"/>
                                      </p:to>
                                    </p:set>
                                    <p:animEffect transition="in" filter="barn(inVertical)">
                                      <p:cBhvr>
                                        <p:cTn id="23" dur="500"/>
                                        <p:tgtEl>
                                          <p:spTgt spid="103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barn(inVertical)">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arn(inVertical)">
                                      <p:cBhvr>
                                        <p:cTn id="31" dur="500"/>
                                        <p:tgtEl>
                                          <p:spTgt spid="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barn(inVertical)">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1038"/>
                                        </p:tgtEl>
                                        <p:attrNameLst>
                                          <p:attrName>style.visibility</p:attrName>
                                        </p:attrNameLst>
                                      </p:cBhvr>
                                      <p:to>
                                        <p:strVal val="visible"/>
                                      </p:to>
                                    </p:set>
                                    <p:animEffect transition="in" filter="barn(inVertical)">
                                      <p:cBhvr>
                                        <p:cTn id="39" dur="500"/>
                                        <p:tgtEl>
                                          <p:spTgt spid="1038"/>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4">
                                            <p:txEl>
                                              <p:pRg st="0" end="0"/>
                                            </p:txEl>
                                          </p:spTgt>
                                        </p:tgtEl>
                                        <p:attrNameLst>
                                          <p:attrName>style.visibility</p:attrName>
                                        </p:attrNameLst>
                                      </p:cBhvr>
                                      <p:to>
                                        <p:strVal val="visible"/>
                                      </p:to>
                                    </p:set>
                                    <p:animEffect transition="in" filter="barn(inVertical)">
                                      <p:cBhvr>
                                        <p:cTn id="44" dur="500"/>
                                        <p:tgtEl>
                                          <p:spTgt spid="4">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animEffect transition="in" filter="barn(inVertical)">
                                      <p:cBhvr>
                                        <p:cTn id="49" dur="500"/>
                                        <p:tgtEl>
                                          <p:spTgt spid="4">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nodeType="clickEffect">
                                  <p:stCondLst>
                                    <p:cond delay="0"/>
                                  </p:stCondLst>
                                  <p:childTnLst>
                                    <p:set>
                                      <p:cBhvr>
                                        <p:cTn id="53" dur="1" fill="hold">
                                          <p:stCondLst>
                                            <p:cond delay="0"/>
                                          </p:stCondLst>
                                        </p:cTn>
                                        <p:tgtEl>
                                          <p:spTgt spid="30">
                                            <p:txEl>
                                              <p:pRg st="0" end="0"/>
                                            </p:txEl>
                                          </p:spTgt>
                                        </p:tgtEl>
                                        <p:attrNameLst>
                                          <p:attrName>style.visibility</p:attrName>
                                        </p:attrNameLst>
                                      </p:cBhvr>
                                      <p:to>
                                        <p:strVal val="visible"/>
                                      </p:to>
                                    </p:set>
                                    <p:animEffect transition="in" filter="barn(inVertical)">
                                      <p:cBhvr>
                                        <p:cTn id="54" dur="500"/>
                                        <p:tgtEl>
                                          <p:spTgt spid="30">
                                            <p:txEl>
                                              <p:pRg st="0" end="0"/>
                                            </p:txEl>
                                          </p:spTgt>
                                        </p:tgtEl>
                                      </p:cBhvr>
                                    </p:animEffect>
                                  </p:childTnLst>
                                </p:cTn>
                              </p:par>
                              <p:par>
                                <p:cTn id="55" presetID="16" presetClass="entr" presetSubtype="21" fill="hold" nodeType="withEffect">
                                  <p:stCondLst>
                                    <p:cond delay="0"/>
                                  </p:stCondLst>
                                  <p:childTnLst>
                                    <p:set>
                                      <p:cBhvr>
                                        <p:cTn id="56" dur="1" fill="hold">
                                          <p:stCondLst>
                                            <p:cond delay="0"/>
                                          </p:stCondLst>
                                        </p:cTn>
                                        <p:tgtEl>
                                          <p:spTgt spid="30">
                                            <p:txEl>
                                              <p:pRg st="1" end="1"/>
                                            </p:txEl>
                                          </p:spTgt>
                                        </p:tgtEl>
                                        <p:attrNameLst>
                                          <p:attrName>style.visibility</p:attrName>
                                        </p:attrNameLst>
                                      </p:cBhvr>
                                      <p:to>
                                        <p:strVal val="visible"/>
                                      </p:to>
                                    </p:set>
                                    <p:animEffect transition="in" filter="barn(inVertical)">
                                      <p:cBhvr>
                                        <p:cTn id="57" dur="500"/>
                                        <p:tgtEl>
                                          <p:spTgt spid="30">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nodeType="clickEffect">
                                  <p:stCondLst>
                                    <p:cond delay="0"/>
                                  </p:stCondLst>
                                  <p:childTnLst>
                                    <p:set>
                                      <p:cBhvr>
                                        <p:cTn id="61" dur="1" fill="hold">
                                          <p:stCondLst>
                                            <p:cond delay="0"/>
                                          </p:stCondLst>
                                        </p:cTn>
                                        <p:tgtEl>
                                          <p:spTgt spid="30">
                                            <p:txEl>
                                              <p:pRg st="2" end="2"/>
                                            </p:txEl>
                                          </p:spTgt>
                                        </p:tgtEl>
                                        <p:attrNameLst>
                                          <p:attrName>style.visibility</p:attrName>
                                        </p:attrNameLst>
                                      </p:cBhvr>
                                      <p:to>
                                        <p:strVal val="visible"/>
                                      </p:to>
                                    </p:set>
                                    <p:animEffect transition="in" filter="barn(inVertical)">
                                      <p:cBhvr>
                                        <p:cTn id="62" dur="500"/>
                                        <p:tgtEl>
                                          <p:spTgt spid="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6" grpId="0"/>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sp>
        <p:nvSpPr>
          <p:cNvPr id="9" name="Content Placeholder 2"/>
          <p:cNvSpPr txBox="1">
            <a:spLocks/>
          </p:cNvSpPr>
          <p:nvPr/>
        </p:nvSpPr>
        <p:spPr>
          <a:xfrm>
            <a:off x="551449" y="290622"/>
            <a:ext cx="8315077" cy="4800265"/>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Một số nghiên cứu trên thế giới</a:t>
            </a: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Một số nghiên cứu gần đây cho bộ dữ liệu từ khoá của google đã đạt được nhiều kết quả đáng chú ý:</a:t>
            </a:r>
          </a:p>
          <a:p>
            <a:pPr lvl="5"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  Nhóm tác giả Đại học Lund [1]: Mô hình đạt độ chính xác khoảng 98.6%</a:t>
            </a:r>
          </a:p>
          <a:p>
            <a:pPr lvl="5" algn="just"/>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  Nhóm tác giả Hàn Quốc [2]: Độ trễ thời gian dự đoán trên di động khoảng 0.3 giây</a:t>
            </a:r>
          </a:p>
          <a:p>
            <a:pPr lvl="5"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Một </a:t>
            </a:r>
            <a:r>
              <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số nghiên cứu tại Việt </a:t>
            </a:r>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Nam</a:t>
            </a:r>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1.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Nhóm </a:t>
            </a: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tác giả tại trường đại học FPT</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[3]</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xây dựng mô hình nhận diện</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phát âm các từ khoá điều khiển nhà thông minh</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 với độ chính xác khoảng 94.3</a:t>
            </a: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Tuy nhiên thì bài báo chưa đánh giá được hiệu năng của mô hình khi chạy trên các thiết bị thông minh.</a:t>
            </a:r>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2.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Nhóm </a:t>
            </a: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tác giả Nguyen Huu Binh, Nguyen Quoc Cuong, Tran Thi Anh</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Xuan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4</a:t>
            </a: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phân </a:t>
            </a: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tích </a:t>
            </a: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các yếu tố ảnh hưởng bên</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ngoài vào một hệ thống phân lớp phát âm các từ khoá</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a:t>
            </a:r>
          </a:p>
          <a:p>
            <a:pPr algn="just"/>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      - Tiếng ồn</a:t>
            </a:r>
          </a:p>
          <a:p>
            <a:pPr algn="just"/>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      - Khoảng cách đến microphone thu âm</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 name="TextBox 9">
            <a:extLst>
              <a:ext uri="{FF2B5EF4-FFF2-40B4-BE49-F238E27FC236}">
                <a16:creationId xmlns:a16="http://schemas.microsoft.com/office/drawing/2014/main" id="{97D2AB03-6586-A144-A334-D5BAC563FC99}"/>
              </a:ext>
            </a:extLst>
          </p:cNvPr>
          <p:cNvSpPr txBox="1"/>
          <p:nvPr/>
        </p:nvSpPr>
        <p:spPr>
          <a:xfrm>
            <a:off x="551449" y="4150403"/>
            <a:ext cx="8220486" cy="830997"/>
          </a:xfrm>
          <a:prstGeom prst="rect">
            <a:avLst/>
          </a:prstGeom>
          <a:noFill/>
        </p:spPr>
        <p:txBody>
          <a:bodyPr wrap="square" rtlCol="0">
            <a:spAutoFit/>
          </a:bodyPr>
          <a:lstStyle/>
          <a:p>
            <a:pPr algn="just"/>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1]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Axel </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Berg, Mark O'Connor, Miguel Tairum Cruz, “Keyword Transformer: A Self-Attention Model for Keyword Spotting</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t>
            </a:r>
          </a:p>
          <a:p>
            <a:pPr algn="just"/>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[2</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Seungwoo </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Choi, Seokjun Seo, Beomjun Shin, Hyeongmin Byun,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Martin Kersner</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Beomsu Kim, Dongyoung Kim, Sungjoo Ha,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Temporal Convolution </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for Real-time Keyword Spotting on Mobile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Devices</a:t>
            </a:r>
          </a:p>
          <a:p>
            <a:pPr algn="just"/>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[4</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 Phan </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Duy Hung, Truong Minh Giang, Le Hoang Nam, Phan Minh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Duong, “Vietnamese </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Speech Command Recognition using Recurrent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Neural Networks”</a:t>
            </a:r>
          </a:p>
          <a:p>
            <a:pPr algn="just"/>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[5] Nguyen </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Huu Binh, Nguyen Quoc Cuong, Tran Thi Anh Xuan,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“AN EVALUATION </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OF SOME FACTORS AFFECTING ACCURACY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OF THE </a:t>
            </a:r>
            <a:r>
              <a:rPr lang="en-US"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VIETNAMESE KEYWORD SPOTTING </a:t>
            </a:r>
            <a:r>
              <a:rPr lang="en-US" sz="8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SYSTEM”</a:t>
            </a:r>
            <a:endParaRPr lang="en-VN" sz="8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427936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arn(inVertic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1000"/>
                                        <p:tgtEl>
                                          <p:spTgt spid="9">
                                            <p:txEl>
                                              <p:pRg st="1" end="1"/>
                                            </p:txEl>
                                          </p:spTgt>
                                        </p:tgtEl>
                                      </p:cBhvr>
                                    </p:animEffect>
                                    <p:anim calcmode="lin" valueType="num">
                                      <p:cBhvr>
                                        <p:cTn id="1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1000"/>
                                        <p:tgtEl>
                                          <p:spTgt spid="9">
                                            <p:txEl>
                                              <p:pRg st="2" end="2"/>
                                            </p:txEl>
                                          </p:spTgt>
                                        </p:tgtEl>
                                      </p:cBhvr>
                                    </p:animEffect>
                                    <p:anim calcmode="lin" valueType="num">
                                      <p:cBhvr>
                                        <p:cTn id="1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1000"/>
                                        <p:tgtEl>
                                          <p:spTgt spid="9">
                                            <p:txEl>
                                              <p:pRg st="3" end="3"/>
                                            </p:txEl>
                                          </p:spTgt>
                                        </p:tgtEl>
                                      </p:cBhvr>
                                    </p:animEffect>
                                    <p:anim calcmode="lin" valueType="num">
                                      <p:cBhvr>
                                        <p:cTn id="2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1000"/>
                                        <p:tgtEl>
                                          <p:spTgt spid="9">
                                            <p:txEl>
                                              <p:pRg st="4" end="4"/>
                                            </p:txEl>
                                          </p:spTgt>
                                        </p:tgtEl>
                                      </p:cBhvr>
                                    </p:animEffect>
                                    <p:anim calcmode="lin" valueType="num">
                                      <p:cBhvr>
                                        <p:cTn id="28"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barn(inVertical)">
                                      <p:cBhvr>
                                        <p:cTn id="34" dur="500"/>
                                        <p:tgtEl>
                                          <p:spTgt spid="9">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animEffect transition="in" filter="fade">
                                      <p:cBhvr>
                                        <p:cTn id="39" dur="1000"/>
                                        <p:tgtEl>
                                          <p:spTgt spid="9">
                                            <p:txEl>
                                              <p:pRg st="6" end="6"/>
                                            </p:txEl>
                                          </p:spTgt>
                                        </p:tgtEl>
                                      </p:cBhvr>
                                    </p:animEffect>
                                    <p:anim calcmode="lin" valueType="num">
                                      <p:cBhvr>
                                        <p:cTn id="40"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9">
                                            <p:txEl>
                                              <p:pRg st="7" end="7"/>
                                            </p:txEl>
                                          </p:spTgt>
                                        </p:tgtEl>
                                        <p:attrNameLst>
                                          <p:attrName>style.visibility</p:attrName>
                                        </p:attrNameLst>
                                      </p:cBhvr>
                                      <p:to>
                                        <p:strVal val="visible"/>
                                      </p:to>
                                    </p:set>
                                    <p:animEffect transition="in" filter="fade">
                                      <p:cBhvr>
                                        <p:cTn id="46" dur="1000"/>
                                        <p:tgtEl>
                                          <p:spTgt spid="9">
                                            <p:txEl>
                                              <p:pRg st="7" end="7"/>
                                            </p:txEl>
                                          </p:spTgt>
                                        </p:tgtEl>
                                      </p:cBhvr>
                                    </p:animEffect>
                                    <p:anim calcmode="lin" valueType="num">
                                      <p:cBhvr>
                                        <p:cTn id="47"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9">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9">
                                            <p:txEl>
                                              <p:pRg st="8" end="8"/>
                                            </p:txEl>
                                          </p:spTgt>
                                        </p:tgtEl>
                                        <p:attrNameLst>
                                          <p:attrName>style.visibility</p:attrName>
                                        </p:attrNameLst>
                                      </p:cBhvr>
                                      <p:to>
                                        <p:strVal val="visible"/>
                                      </p:to>
                                    </p:set>
                                    <p:animEffect transition="in" filter="fade">
                                      <p:cBhvr>
                                        <p:cTn id="51" dur="1000"/>
                                        <p:tgtEl>
                                          <p:spTgt spid="9">
                                            <p:txEl>
                                              <p:pRg st="8" end="8"/>
                                            </p:txEl>
                                          </p:spTgt>
                                        </p:tgtEl>
                                      </p:cBhvr>
                                    </p:animEffect>
                                    <p:anim calcmode="lin" valueType="num">
                                      <p:cBhvr>
                                        <p:cTn id="52"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9">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9">
                                            <p:txEl>
                                              <p:pRg st="9" end="9"/>
                                            </p:txEl>
                                          </p:spTgt>
                                        </p:tgtEl>
                                        <p:attrNameLst>
                                          <p:attrName>style.visibility</p:attrName>
                                        </p:attrNameLst>
                                      </p:cBhvr>
                                      <p:to>
                                        <p:strVal val="visible"/>
                                      </p:to>
                                    </p:set>
                                    <p:animEffect transition="in" filter="fade">
                                      <p:cBhvr>
                                        <p:cTn id="56" dur="1000"/>
                                        <p:tgtEl>
                                          <p:spTgt spid="9">
                                            <p:txEl>
                                              <p:pRg st="9" end="9"/>
                                            </p:txEl>
                                          </p:spTgt>
                                        </p:tgtEl>
                                      </p:cBhvr>
                                    </p:animEffect>
                                    <p:anim calcmode="lin" valueType="num">
                                      <p:cBhvr>
                                        <p:cTn id="57"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9">
                                            <p:txEl>
                                              <p:pRg st="9" end="9"/>
                                            </p:txEl>
                                          </p:spTgt>
                                        </p:tgtEl>
                                        <p:attrNameLst>
                                          <p:attrName>ppt_y</p:attrName>
                                        </p:attrNameLst>
                                      </p:cBhvr>
                                      <p:tavLst>
                                        <p:tav tm="0">
                                          <p:val>
                                            <p:strVal val="#ppt_y+.1"/>
                                          </p:val>
                                        </p:tav>
                                        <p:tav tm="100000">
                                          <p:val>
                                            <p:strVal val="#ppt_y"/>
                                          </p:val>
                                        </p:tav>
                                      </p:tavLst>
                                    </p:anim>
                                  </p:childTnLst>
                                </p:cTn>
                              </p:par>
                              <p:par>
                                <p:cTn id="59" presetID="10" presetClass="entr" presetSubtype="0" fill="hold" nodeType="withEffect">
                                  <p:stCondLst>
                                    <p:cond delay="0"/>
                                  </p:stCondLst>
                                  <p:childTnLst>
                                    <p:set>
                                      <p:cBhvr>
                                        <p:cTn id="60" dur="1" fill="hold">
                                          <p:stCondLst>
                                            <p:cond delay="0"/>
                                          </p:stCondLst>
                                        </p:cTn>
                                        <p:tgtEl>
                                          <p:spTgt spid="10">
                                            <p:txEl>
                                              <p:pRg st="1" end="1"/>
                                            </p:txEl>
                                          </p:spTgt>
                                        </p:tgtEl>
                                        <p:attrNameLst>
                                          <p:attrName>style.visibility</p:attrName>
                                        </p:attrNameLst>
                                      </p:cBhvr>
                                      <p:to>
                                        <p:strVal val="visible"/>
                                      </p:to>
                                    </p:set>
                                    <p:animEffect transition="in" filter="fade">
                                      <p:cBhvr>
                                        <p:cTn id="61" dur="500"/>
                                        <p:tgtEl>
                                          <p:spTgt spid="10">
                                            <p:txEl>
                                              <p:pRg st="1" end="1"/>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10">
                                            <p:txEl>
                                              <p:pRg st="0" end="0"/>
                                            </p:txEl>
                                          </p:spTgt>
                                        </p:tgtEl>
                                        <p:attrNameLst>
                                          <p:attrName>style.visibility</p:attrName>
                                        </p:attrNameLst>
                                      </p:cBhvr>
                                      <p:to>
                                        <p:strVal val="visible"/>
                                      </p:to>
                                    </p:set>
                                    <p:animEffect transition="in" filter="fade">
                                      <p:cBhvr>
                                        <p:cTn id="64" dur="500"/>
                                        <p:tgtEl>
                                          <p:spTgt spid="10">
                                            <p:txEl>
                                              <p:pRg st="0" end="0"/>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10">
                                            <p:txEl>
                                              <p:pRg st="2" end="2"/>
                                            </p:txEl>
                                          </p:spTgt>
                                        </p:tgtEl>
                                        <p:attrNameLst>
                                          <p:attrName>style.visibility</p:attrName>
                                        </p:attrNameLst>
                                      </p:cBhvr>
                                      <p:to>
                                        <p:strVal val="visible"/>
                                      </p:to>
                                    </p:set>
                                    <p:animEffect transition="in" filter="fade">
                                      <p:cBhvr>
                                        <p:cTn id="67" dur="500"/>
                                        <p:tgtEl>
                                          <p:spTgt spid="10">
                                            <p:txEl>
                                              <p:pRg st="2" end="2"/>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10">
                                            <p:txEl>
                                              <p:pRg st="3" end="3"/>
                                            </p:txEl>
                                          </p:spTgt>
                                        </p:tgtEl>
                                        <p:attrNameLst>
                                          <p:attrName>style.visibility</p:attrName>
                                        </p:attrNameLst>
                                      </p:cBhvr>
                                      <p:to>
                                        <p:strVal val="visible"/>
                                      </p:to>
                                    </p:set>
                                    <p:animEffect transition="in" filter="fade">
                                      <p:cBhvr>
                                        <p:cTn id="70"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8"/>
          <p:cNvSpPr txBox="1">
            <a:spLocks noGrp="1"/>
          </p:cNvSpPr>
          <p:nvPr>
            <p:ph type="title"/>
          </p:nvPr>
        </p:nvSpPr>
        <p:spPr>
          <a:xfrm>
            <a:off x="1146025" y="530725"/>
            <a:ext cx="3208800" cy="102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smtClean="0"/>
              <a:t>Nhận xét</a:t>
            </a:r>
            <a:endParaRPr dirty="0"/>
          </a:p>
        </p:txBody>
      </p:sp>
      <p:sp>
        <p:nvSpPr>
          <p:cNvPr id="161" name="Google Shape;161;p18"/>
          <p:cNvSpPr txBox="1">
            <a:spLocks noGrp="1"/>
          </p:cNvSpPr>
          <p:nvPr>
            <p:ph type="body" idx="1"/>
          </p:nvPr>
        </p:nvSpPr>
        <p:spPr>
          <a:xfrm>
            <a:off x="1146025" y="1767275"/>
            <a:ext cx="7738571" cy="3158700"/>
          </a:xfrm>
          <a:prstGeom prst="rect">
            <a:avLst/>
          </a:prstGeom>
        </p:spPr>
        <p:txBody>
          <a:bodyPr spcFirstLastPara="1" wrap="square" lIns="91425" tIns="91425" rIns="91425" bIns="91425" anchor="t" anchorCtr="0">
            <a:noAutofit/>
          </a:bodyPr>
          <a:lstStyle/>
          <a:p>
            <a:pPr marL="457200" lvl="0" indent="-406400" algn="l" rtl="0">
              <a:spcBef>
                <a:spcPts val="0"/>
              </a:spcBef>
              <a:spcAft>
                <a:spcPts val="0"/>
              </a:spcAft>
              <a:buSzPts val="2800"/>
              <a:buChar char="▪"/>
            </a:pPr>
            <a:r>
              <a:rPr lang="en-US" sz="2000" dirty="0" smtClean="0">
                <a:latin typeface="+mj-lt"/>
              </a:rPr>
              <a:t>Những giải pháp nhận diện phát âm từ khoá cho dữ liệu Tiếng Việt hiện tại đa số chưa được công bố, cũng như là chưa được ứng dụng vào trong thực tế.</a:t>
            </a:r>
            <a:endParaRPr sz="2000" dirty="0" smtClean="0">
              <a:latin typeface="+mj-lt"/>
            </a:endParaRPr>
          </a:p>
          <a:p>
            <a:pPr marL="457200" lvl="0" indent="-406400" algn="l" rtl="0">
              <a:spcBef>
                <a:spcPts val="0"/>
              </a:spcBef>
              <a:spcAft>
                <a:spcPts val="0"/>
              </a:spcAft>
              <a:buSzPts val="2800"/>
              <a:buChar char="▪"/>
            </a:pPr>
            <a:r>
              <a:rPr lang="en-US" sz="2000" dirty="0" smtClean="0">
                <a:latin typeface="+mn-lt"/>
              </a:rPr>
              <a:t>Các ứng dụng nhận diện giọng nói hiện tại thường phải chạy trên các thiết bị phần cứng chuyên dụng, đắt đỏ.</a:t>
            </a:r>
          </a:p>
          <a:p>
            <a:pPr marL="457200" lvl="0" indent="-406400" algn="l" rtl="0">
              <a:spcBef>
                <a:spcPts val="0"/>
              </a:spcBef>
              <a:spcAft>
                <a:spcPts val="0"/>
              </a:spcAft>
              <a:buSzPts val="2800"/>
              <a:buChar char="▪"/>
            </a:pPr>
            <a:r>
              <a:rPr lang="en-US" sz="2000" dirty="0" smtClean="0">
                <a:latin typeface="+mn-lt"/>
              </a:rPr>
              <a:t>Việc xây dựng giải pháp nhận diện phát âm từ khoá cho bộ dữ liệu Tiếng Việt có ý nghĩa vô cùng quan trọng cho việc phát triển các mô hình như nhà thông minh, điều khiển robot, vv...</a:t>
            </a:r>
            <a:endParaRPr sz="2000" dirty="0">
              <a:latin typeface="+mn-lt"/>
            </a:endParaRPr>
          </a:p>
        </p:txBody>
      </p:sp>
      <p:grpSp>
        <p:nvGrpSpPr>
          <p:cNvPr id="162" name="Google Shape;162;p18"/>
          <p:cNvGrpSpPr/>
          <p:nvPr/>
        </p:nvGrpSpPr>
        <p:grpSpPr>
          <a:xfrm>
            <a:off x="333623" y="861852"/>
            <a:ext cx="366458" cy="366437"/>
            <a:chOff x="1923675" y="1633650"/>
            <a:chExt cx="436000" cy="435975"/>
          </a:xfrm>
        </p:grpSpPr>
        <p:sp>
          <p:nvSpPr>
            <p:cNvPr id="163" name="Google Shape;163;p18"/>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8"/>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8"/>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8"/>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8"/>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8"/>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 name="Google Shape;169;p18"/>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6</a:t>
            </a:fld>
            <a:endParaRPr/>
          </a:p>
        </p:txBody>
      </p:sp>
    </p:spTree>
    <p:extLst>
      <p:ext uri="{BB962C8B-B14F-4D97-AF65-F5344CB8AC3E}">
        <p14:creationId xmlns:p14="http://schemas.microsoft.com/office/powerpoint/2010/main" val="367745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1">
                                            <p:txEl>
                                              <p:pRg st="0" end="0"/>
                                            </p:txEl>
                                          </p:spTgt>
                                        </p:tgtEl>
                                        <p:attrNameLst>
                                          <p:attrName>style.visibility</p:attrName>
                                        </p:attrNameLst>
                                      </p:cBhvr>
                                      <p:to>
                                        <p:strVal val="visible"/>
                                      </p:to>
                                    </p:set>
                                    <p:animEffect transition="in" filter="barn(inVertical)">
                                      <p:cBhvr>
                                        <p:cTn id="7" dur="500"/>
                                        <p:tgtEl>
                                          <p:spTgt spid="1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61">
                                            <p:txEl>
                                              <p:pRg st="1" end="1"/>
                                            </p:txEl>
                                          </p:spTgt>
                                        </p:tgtEl>
                                        <p:attrNameLst>
                                          <p:attrName>style.visibility</p:attrName>
                                        </p:attrNameLst>
                                      </p:cBhvr>
                                      <p:to>
                                        <p:strVal val="visible"/>
                                      </p:to>
                                    </p:set>
                                    <p:animEffect transition="in" filter="barn(inVertical)">
                                      <p:cBhvr>
                                        <p:cTn id="12" dur="500"/>
                                        <p:tgtEl>
                                          <p:spTgt spid="1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61">
                                            <p:txEl>
                                              <p:pRg st="2" end="2"/>
                                            </p:txEl>
                                          </p:spTgt>
                                        </p:tgtEl>
                                        <p:attrNameLst>
                                          <p:attrName>style.visibility</p:attrName>
                                        </p:attrNameLst>
                                      </p:cBhvr>
                                      <p:to>
                                        <p:strVal val="visible"/>
                                      </p:to>
                                    </p:set>
                                    <p:animEffect transition="in" filter="barn(inVertical)">
                                      <p:cBhvr>
                                        <p:cTn id="17" dur="500"/>
                                        <p:tgtEl>
                                          <p:spTgt spid="1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5" name="Google Shape;345;p28"/>
          <p:cNvSpPr txBox="1">
            <a:spLocks noGrp="1"/>
          </p:cNvSpPr>
          <p:nvPr>
            <p:ph type="subTitle" idx="4294967295"/>
          </p:nvPr>
        </p:nvSpPr>
        <p:spPr>
          <a:xfrm>
            <a:off x="691744" y="1473316"/>
            <a:ext cx="7772400" cy="2022155"/>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US" sz="3600" dirty="0" smtClean="0">
                <a:solidFill>
                  <a:srgbClr val="FFFFFF"/>
                </a:solidFill>
                <a:latin typeface="+mn-lt"/>
              </a:rPr>
              <a:t>Xây dựng mô hình nhận diện phát âm từ khoá chạy trên các thiết bị thông minh tài nguyên thấp</a:t>
            </a:r>
            <a:endParaRPr sz="3600" dirty="0">
              <a:solidFill>
                <a:srgbClr val="FFFFFF"/>
              </a:solidFill>
              <a:latin typeface="+mn-lt"/>
            </a:endParaRPr>
          </a:p>
        </p:txBody>
      </p:sp>
      <p:sp>
        <p:nvSpPr>
          <p:cNvPr id="346" name="Google Shape;346;p28"/>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a:t>
            </a:fld>
            <a:endParaRPr/>
          </a:p>
        </p:txBody>
      </p:sp>
    </p:spTree>
    <p:extLst>
      <p:ext uri="{BB962C8B-B14F-4D97-AF65-F5344CB8AC3E}">
        <p14:creationId xmlns:p14="http://schemas.microsoft.com/office/powerpoint/2010/main" val="17046434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8</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Giới thiệu bài toán</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marL="342900" indent="-342900" algn="just">
              <a:buAutoNum type="arabicPeriod"/>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Bài toán cần giải quyết là bài toán nhận diện phát âm các từ khoá Tiếng Việt trên thiết bị thông minh IOT như là JETSON NANO. </a:t>
            </a:r>
          </a:p>
          <a:p>
            <a:pPr marL="342900" indent="-342900" algn="just">
              <a:buAutoNum type="arabicPeriod"/>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Đầu vào của bài toán là giọng nói từ khoá của con người, đầu ra là nhãn từ khoá tương ứng.</a:t>
            </a:r>
          </a:p>
          <a:p>
            <a:pPr marL="342900" indent="-342900" algn="just">
              <a:buAutoNum type="arabicPeriod"/>
            </a:pP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Yêu cầu đặt ra là cần xây dựng một mô hình có khả năng nhận diện giọng nói phát âm các từ khoá của con người,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mà </a:t>
            </a:r>
            <a:r>
              <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nó có thể chạy được trên các thiết bị thông minh nhỏ gọn, tài nguyên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thấp</a:t>
            </a: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a:t>
            </a:r>
            <a:endParaRPr lang="vi-VN"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pic>
        <p:nvPicPr>
          <p:cNvPr id="2050" name="Picture 2" descr="High-accuracy Keyword Spotting on Cortex-M Processors - Processors blog -  Processors - Arm Commun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476" y="865703"/>
            <a:ext cx="5988339" cy="1445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72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xEl>
                                              <p:pRg st="7" end="7"/>
                                            </p:txEl>
                                          </p:spTgt>
                                        </p:tgtEl>
                                        <p:attrNameLst>
                                          <p:attrName>style.visibility</p:attrName>
                                        </p:attrNameLst>
                                      </p:cBhvr>
                                      <p:to>
                                        <p:strVal val="visible"/>
                                      </p:to>
                                    </p:set>
                                    <p:animEffect transition="in" filter="barn(inVertical)">
                                      <p:cBhvr>
                                        <p:cTn id="12" dur="500"/>
                                        <p:tgtEl>
                                          <p:spTgt spid="9">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xEl>
                                              <p:pRg st="8" end="8"/>
                                            </p:txEl>
                                          </p:spTgt>
                                        </p:tgtEl>
                                        <p:attrNameLst>
                                          <p:attrName>style.visibility</p:attrName>
                                        </p:attrNameLst>
                                      </p:cBhvr>
                                      <p:to>
                                        <p:strVal val="visible"/>
                                      </p:to>
                                    </p:set>
                                    <p:animEffect transition="in" filter="barn(inVertical)">
                                      <p:cBhvr>
                                        <p:cTn id="17" dur="500"/>
                                        <p:tgtEl>
                                          <p:spTgt spid="9">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xEl>
                                              <p:pRg st="9" end="9"/>
                                            </p:txEl>
                                          </p:spTgt>
                                        </p:tgtEl>
                                        <p:attrNameLst>
                                          <p:attrName>style.visibility</p:attrName>
                                        </p:attrNameLst>
                                      </p:cBhvr>
                                      <p:to>
                                        <p:strVal val="visible"/>
                                      </p:to>
                                    </p:set>
                                    <p:animEffect transition="in" filter="barn(inVertical)">
                                      <p:cBhvr>
                                        <p:cTn id="22"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ctrTitle"/>
          </p:nvPr>
        </p:nvSpPr>
        <p:spPr>
          <a:xfrm>
            <a:off x="4113599" y="2878750"/>
            <a:ext cx="4822295"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smtClean="0"/>
              <a:t>PHƯƠNG PHÁP GIẢI QUYẾT BÀI TOÁN</a:t>
            </a:r>
            <a:endParaRPr dirty="0"/>
          </a:p>
        </p:txBody>
      </p:sp>
      <p:sp>
        <p:nvSpPr>
          <p:cNvPr id="148" name="Google Shape;148;p16"/>
          <p:cNvSpPr txBox="1"/>
          <p:nvPr/>
        </p:nvSpPr>
        <p:spPr>
          <a:xfrm>
            <a:off x="0" y="503350"/>
            <a:ext cx="3471300" cy="381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0" dirty="0">
                <a:solidFill>
                  <a:srgbClr val="18637B"/>
                </a:solidFill>
                <a:latin typeface="Roboto Slab"/>
                <a:ea typeface="Roboto Slab"/>
                <a:cs typeface="Roboto Slab"/>
                <a:sym typeface="Roboto Slab"/>
              </a:rPr>
              <a:t>2</a:t>
            </a:r>
            <a:endParaRPr sz="20000" dirty="0">
              <a:solidFill>
                <a:srgbClr val="18637B"/>
              </a:solidFill>
              <a:latin typeface="Roboto Slab"/>
              <a:ea typeface="Roboto Slab"/>
              <a:cs typeface="Roboto Slab"/>
              <a:sym typeface="Roboto Slab"/>
            </a:endParaRPr>
          </a:p>
        </p:txBody>
      </p:sp>
      <p:sp>
        <p:nvSpPr>
          <p:cNvPr id="149" name="Google Shape;149;p16"/>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9</a:t>
            </a:fld>
            <a:endParaRPr/>
          </a:p>
        </p:txBody>
      </p:sp>
    </p:spTree>
    <p:extLst>
      <p:ext uri="{BB962C8B-B14F-4D97-AF65-F5344CB8AC3E}">
        <p14:creationId xmlns:p14="http://schemas.microsoft.com/office/powerpoint/2010/main" val="28290560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8"/>
          <p:cNvSpPr txBox="1">
            <a:spLocks noGrp="1"/>
          </p:cNvSpPr>
          <p:nvPr>
            <p:ph type="title"/>
          </p:nvPr>
        </p:nvSpPr>
        <p:spPr>
          <a:xfrm>
            <a:off x="1146025" y="530725"/>
            <a:ext cx="3208800" cy="102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Quy trình thực hiện</a:t>
            </a:r>
            <a:endParaRPr dirty="0"/>
          </a:p>
        </p:txBody>
      </p:sp>
      <p:grpSp>
        <p:nvGrpSpPr>
          <p:cNvPr id="162" name="Google Shape;162;p18"/>
          <p:cNvGrpSpPr/>
          <p:nvPr/>
        </p:nvGrpSpPr>
        <p:grpSpPr>
          <a:xfrm>
            <a:off x="333623" y="861852"/>
            <a:ext cx="366458" cy="366437"/>
            <a:chOff x="1923675" y="1633650"/>
            <a:chExt cx="436000" cy="435975"/>
          </a:xfrm>
        </p:grpSpPr>
        <p:sp>
          <p:nvSpPr>
            <p:cNvPr id="163" name="Google Shape;163;p18"/>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8"/>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8"/>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8"/>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8"/>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8"/>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 name="Google Shape;169;p18"/>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10</a:t>
            </a:fld>
            <a:endParaRPr/>
          </a:p>
        </p:txBody>
      </p:sp>
      <p:sp>
        <p:nvSpPr>
          <p:cNvPr id="27" name="Rectangle 26"/>
          <p:cNvSpPr/>
          <p:nvPr/>
        </p:nvSpPr>
        <p:spPr>
          <a:xfrm>
            <a:off x="625491" y="1905333"/>
            <a:ext cx="2177934" cy="989215"/>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Dữ liệu thu âm từ sinh viên BK</a:t>
            </a:r>
            <a:endParaRPr lang="en-US" dirty="0">
              <a:latin typeface="Arial" panose="020B0604020202020204" pitchFamily="34" charset="0"/>
              <a:cs typeface="Arial" panose="020B0604020202020204" pitchFamily="34" charset="0"/>
            </a:endParaRPr>
          </a:p>
        </p:txBody>
      </p:sp>
      <p:sp>
        <p:nvSpPr>
          <p:cNvPr id="28" name="Rounded Rectangle 27"/>
          <p:cNvSpPr/>
          <p:nvPr/>
        </p:nvSpPr>
        <p:spPr>
          <a:xfrm>
            <a:off x="3676262" y="1905333"/>
            <a:ext cx="2294310" cy="914400"/>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Tiền xử lý, làm giàu</a:t>
            </a:r>
            <a:endParaRPr lang="en-US" dirty="0">
              <a:latin typeface="Arial" panose="020B0604020202020204" pitchFamily="34" charset="0"/>
              <a:cs typeface="Arial" panose="020B0604020202020204" pitchFamily="34" charset="0"/>
            </a:endParaRPr>
          </a:p>
        </p:txBody>
      </p:sp>
      <p:sp>
        <p:nvSpPr>
          <p:cNvPr id="29" name="Rounded Rectangle 28"/>
          <p:cNvSpPr/>
          <p:nvPr/>
        </p:nvSpPr>
        <p:spPr>
          <a:xfrm>
            <a:off x="6851719" y="1905330"/>
            <a:ext cx="1853738" cy="914400"/>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Trích xuất đặc trưng</a:t>
            </a:r>
            <a:endParaRPr lang="en-US" dirty="0">
              <a:latin typeface="Arial" panose="020B0604020202020204" pitchFamily="34" charset="0"/>
              <a:cs typeface="Arial" panose="020B0604020202020204" pitchFamily="34" charset="0"/>
            </a:endParaRPr>
          </a:p>
        </p:txBody>
      </p:sp>
      <p:sp>
        <p:nvSpPr>
          <p:cNvPr id="30" name="Rectangle 29"/>
          <p:cNvSpPr/>
          <p:nvPr/>
        </p:nvSpPr>
        <p:spPr>
          <a:xfrm>
            <a:off x="6172727" y="3223260"/>
            <a:ext cx="2532730" cy="161114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p:cNvSpPr/>
          <p:nvPr/>
        </p:nvSpPr>
        <p:spPr>
          <a:xfrm>
            <a:off x="6305242" y="3333990"/>
            <a:ext cx="749633" cy="634094"/>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SVM</a:t>
            </a:r>
            <a:endParaRPr lang="en-US" dirty="0">
              <a:latin typeface="Arial" panose="020B0604020202020204" pitchFamily="34" charset="0"/>
              <a:cs typeface="Arial" panose="020B0604020202020204" pitchFamily="34" charset="0"/>
            </a:endParaRPr>
          </a:p>
        </p:txBody>
      </p:sp>
      <p:sp>
        <p:nvSpPr>
          <p:cNvPr id="32" name="Rounded Rectangle 31"/>
          <p:cNvSpPr/>
          <p:nvPr/>
        </p:nvSpPr>
        <p:spPr>
          <a:xfrm>
            <a:off x="7310777" y="3344896"/>
            <a:ext cx="1298262" cy="634094"/>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TC-RESNET</a:t>
            </a:r>
            <a:endParaRPr lang="en-US" dirty="0">
              <a:latin typeface="Arial" panose="020B0604020202020204" pitchFamily="34" charset="0"/>
              <a:cs typeface="Arial" panose="020B0604020202020204" pitchFamily="34" charset="0"/>
            </a:endParaRPr>
          </a:p>
        </p:txBody>
      </p:sp>
      <p:sp>
        <p:nvSpPr>
          <p:cNvPr id="33" name="Rounded Rectangle 32"/>
          <p:cNvSpPr/>
          <p:nvPr/>
        </p:nvSpPr>
        <p:spPr>
          <a:xfrm>
            <a:off x="6463314" y="4128109"/>
            <a:ext cx="1951556" cy="613798"/>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MULTIHEAD-ATTENTION-RNN</a:t>
            </a:r>
            <a:endParaRPr lang="en-US" dirty="0">
              <a:latin typeface="Arial" panose="020B0604020202020204" pitchFamily="34" charset="0"/>
              <a:cs typeface="Arial" panose="020B0604020202020204" pitchFamily="34" charset="0"/>
            </a:endParaRPr>
          </a:p>
        </p:txBody>
      </p:sp>
      <p:sp>
        <p:nvSpPr>
          <p:cNvPr id="34" name="Rectangle 33"/>
          <p:cNvSpPr/>
          <p:nvPr/>
        </p:nvSpPr>
        <p:spPr>
          <a:xfrm>
            <a:off x="625491" y="3281887"/>
            <a:ext cx="2177695" cy="155252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738804" y="3661943"/>
            <a:ext cx="1906309" cy="651822"/>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JETSON NANO 2GB</a:t>
            </a:r>
            <a:endParaRPr lang="en-US" dirty="0">
              <a:latin typeface="Arial" panose="020B0604020202020204" pitchFamily="34" charset="0"/>
              <a:cs typeface="Arial" panose="020B0604020202020204" pitchFamily="34" charset="0"/>
            </a:endParaRPr>
          </a:p>
        </p:txBody>
      </p:sp>
      <p:sp>
        <p:nvSpPr>
          <p:cNvPr id="36" name="Right Arrow 35"/>
          <p:cNvSpPr/>
          <p:nvPr/>
        </p:nvSpPr>
        <p:spPr>
          <a:xfrm>
            <a:off x="2940586" y="2120217"/>
            <a:ext cx="652549" cy="484632"/>
          </a:xfrm>
          <a:prstGeom prst="rightArrow">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Arrow 36"/>
          <p:cNvSpPr/>
          <p:nvPr/>
        </p:nvSpPr>
        <p:spPr>
          <a:xfrm>
            <a:off x="6124356" y="2120217"/>
            <a:ext cx="644240" cy="484632"/>
          </a:xfrm>
          <a:prstGeom prst="rightArrow">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p:cNvSpPr/>
          <p:nvPr/>
        </p:nvSpPr>
        <p:spPr>
          <a:xfrm>
            <a:off x="7536272" y="2893628"/>
            <a:ext cx="484632" cy="274928"/>
          </a:xfrm>
          <a:prstGeom prst="downArrow">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Left Arrow 38"/>
          <p:cNvSpPr/>
          <p:nvPr/>
        </p:nvSpPr>
        <p:spPr>
          <a:xfrm>
            <a:off x="2935700" y="3771084"/>
            <a:ext cx="3140609" cy="484632"/>
          </a:xfrm>
          <a:prstGeom prst="leftArrow">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3361849" y="3508054"/>
            <a:ext cx="2374368" cy="307777"/>
          </a:xfrm>
          <a:prstGeom prst="rect">
            <a:avLst/>
          </a:prstGeom>
          <a:noFill/>
        </p:spPr>
        <p:txBody>
          <a:bodyPr wrap="none" rtlCol="0">
            <a:spAutoFit/>
          </a:bodyPr>
          <a:lstStyle/>
          <a:p>
            <a:r>
              <a:rPr lang="en-US" dirty="0" smtClean="0">
                <a:latin typeface="Arial" panose="020B0604020202020204" pitchFamily="34" charset="0"/>
                <a:cs typeface="Arial" panose="020B0604020202020204" pitchFamily="34" charset="0"/>
              </a:rPr>
              <a:t>Đánh giá và đưa lên thiết bị</a:t>
            </a:r>
            <a:endParaRPr lang="en-US"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inVertic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arn(inVertical)">
                                      <p:cBhvr>
                                        <p:cTn id="12" dur="500"/>
                                        <p:tgtEl>
                                          <p:spTgt spid="36"/>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barn(inVertical)">
                                      <p:cBhvr>
                                        <p:cTn id="15" dur="500"/>
                                        <p:tgtEl>
                                          <p:spTgt spid="28"/>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barn(inVertical)">
                                      <p:cBhvr>
                                        <p:cTn id="20" dur="500"/>
                                        <p:tgtEl>
                                          <p:spTgt spid="37"/>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barn(inVertical)">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barn(inVertical)">
                                      <p:cBhvr>
                                        <p:cTn id="28" dur="500"/>
                                        <p:tgtEl>
                                          <p:spTgt spid="38"/>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inVertical)">
                                      <p:cBhvr>
                                        <p:cTn id="31" dur="500"/>
                                        <p:tgtEl>
                                          <p:spTgt spid="30"/>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barn(inVertical)">
                                      <p:cBhvr>
                                        <p:cTn id="34" dur="500"/>
                                        <p:tgtEl>
                                          <p:spTgt spid="31"/>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barn(inVertical)">
                                      <p:cBhvr>
                                        <p:cTn id="37" dur="500"/>
                                        <p:tgtEl>
                                          <p:spTgt spid="32"/>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barn(inVertical)">
                                      <p:cBhvr>
                                        <p:cTn id="40" dur="5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barn(inVertical)">
                                      <p:cBhvr>
                                        <p:cTn id="45" dur="500"/>
                                        <p:tgtEl>
                                          <p:spTgt spid="39"/>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barn(inVertical)">
                                      <p:cBhvr>
                                        <p:cTn id="48" dur="500"/>
                                        <p:tgtEl>
                                          <p:spTgt spid="40"/>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barn(inVertical)">
                                      <p:cBhvr>
                                        <p:cTn id="51" dur="500"/>
                                        <p:tgtEl>
                                          <p:spTgt spid="35"/>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barn(inVertical)">
                                      <p:cBhvr>
                                        <p:cTn id="5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5" name="Google Shape;345;p28"/>
          <p:cNvSpPr txBox="1">
            <a:spLocks noGrp="1"/>
          </p:cNvSpPr>
          <p:nvPr>
            <p:ph type="subTitle" idx="4294967295"/>
          </p:nvPr>
        </p:nvSpPr>
        <p:spPr>
          <a:xfrm>
            <a:off x="711200" y="2154253"/>
            <a:ext cx="7772400" cy="7848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3600" dirty="0" smtClean="0">
                <a:solidFill>
                  <a:srgbClr val="FFFFFF"/>
                </a:solidFill>
                <a:latin typeface="+mn-lt"/>
              </a:rPr>
              <a:t>2.1 Thu thập, xử lý dữ liệu</a:t>
            </a:r>
            <a:endParaRPr sz="3600" dirty="0">
              <a:solidFill>
                <a:srgbClr val="FFFFFF"/>
              </a:solidFill>
              <a:latin typeface="+mn-lt"/>
            </a:endParaRPr>
          </a:p>
        </p:txBody>
      </p:sp>
      <p:sp>
        <p:nvSpPr>
          <p:cNvPr id="346" name="Google Shape;346;p28"/>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11</a:t>
            </a:fld>
            <a:endParaRPr/>
          </a:p>
        </p:txBody>
      </p:sp>
    </p:spTree>
    <p:extLst>
      <p:ext uri="{BB962C8B-B14F-4D97-AF65-F5344CB8AC3E}">
        <p14:creationId xmlns:p14="http://schemas.microsoft.com/office/powerpoint/2010/main" val="36011355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Thu thập, xử lý dữ liệu</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5" name="Google Shape;192;p20"/>
          <p:cNvSpPr txBox="1">
            <a:spLocks/>
          </p:cNvSpPr>
          <p:nvPr/>
        </p:nvSpPr>
        <p:spPr>
          <a:xfrm>
            <a:off x="551449" y="769087"/>
            <a:ext cx="5273825" cy="405031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pPr>
            <a:r>
              <a:rPr lang="vi-VN" sz="16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Dữ liệu audio được thu thập thông qua một website</a:t>
            </a:r>
          </a:p>
          <a:p>
            <a:pPr algn="just">
              <a:lnSpc>
                <a:spcPct val="150000"/>
              </a:lnSpc>
            </a:pP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Gồm 17 nhãn cần phải thu âm:</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Một		- Chín	        - Xuống</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Hai		- Không</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Ba		- Có</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Bốn		- Tiến</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Năm		- Lùi</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Sáu		- Trái</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Bảy		- Phải</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r>
              <a:rPr lang="vi-VN"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Tám		- Lên</a:t>
            </a:r>
          </a:p>
          <a:p>
            <a:pPr>
              <a:spcBef>
                <a:spcPts val="600"/>
              </a:spcBef>
            </a:pPr>
            <a:endParaRPr lang="vi-VN" sz="1600"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2352" y="246806"/>
            <a:ext cx="2295724" cy="4705350"/>
          </a:xfrm>
          <a:prstGeom prst="rect">
            <a:avLst/>
          </a:prstGeom>
        </p:spPr>
      </p:pic>
    </p:spTree>
    <p:extLst>
      <p:ext uri="{BB962C8B-B14F-4D97-AF65-F5344CB8AC3E}">
        <p14:creationId xmlns:p14="http://schemas.microsoft.com/office/powerpoint/2010/main" val="2109379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arn(inVertical)">
                                      <p:cBhvr>
                                        <p:cTn id="17" dur="500"/>
                                        <p:tgtEl>
                                          <p:spTgt spid="5">
                                            <p:txEl>
                                              <p:pRg st="1" end="1"/>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barn(inVertical)">
                                      <p:cBhvr>
                                        <p:cTn id="20" dur="500"/>
                                        <p:tgtEl>
                                          <p:spTgt spid="5">
                                            <p:txEl>
                                              <p:pRg st="2" end="2"/>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barn(inVertical)">
                                      <p:cBhvr>
                                        <p:cTn id="23" dur="500"/>
                                        <p:tgtEl>
                                          <p:spTgt spid="5">
                                            <p:txEl>
                                              <p:pRg st="3" end="3"/>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barn(inVertical)">
                                      <p:cBhvr>
                                        <p:cTn id="26" dur="500"/>
                                        <p:tgtEl>
                                          <p:spTgt spid="5">
                                            <p:txEl>
                                              <p:pRg st="4" end="4"/>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barn(inVertical)">
                                      <p:cBhvr>
                                        <p:cTn id="29" dur="500"/>
                                        <p:tgtEl>
                                          <p:spTgt spid="5">
                                            <p:txEl>
                                              <p:pRg st="5" end="5"/>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barn(inVertical)">
                                      <p:cBhvr>
                                        <p:cTn id="32" dur="500"/>
                                        <p:tgtEl>
                                          <p:spTgt spid="5">
                                            <p:txEl>
                                              <p:pRg st="6" end="6"/>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Effect transition="in" filter="barn(inVertical)">
                                      <p:cBhvr>
                                        <p:cTn id="35" dur="500"/>
                                        <p:tgtEl>
                                          <p:spTgt spid="5">
                                            <p:txEl>
                                              <p:pRg st="7" end="7"/>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5">
                                            <p:txEl>
                                              <p:pRg st="8" end="8"/>
                                            </p:txEl>
                                          </p:spTgt>
                                        </p:tgtEl>
                                        <p:attrNameLst>
                                          <p:attrName>style.visibility</p:attrName>
                                        </p:attrNameLst>
                                      </p:cBhvr>
                                      <p:to>
                                        <p:strVal val="visible"/>
                                      </p:to>
                                    </p:set>
                                    <p:animEffect transition="in" filter="barn(inVertical)">
                                      <p:cBhvr>
                                        <p:cTn id="38" dur="500"/>
                                        <p:tgtEl>
                                          <p:spTgt spid="5">
                                            <p:txEl>
                                              <p:pRg st="8" end="8"/>
                                            </p:txEl>
                                          </p:spTgt>
                                        </p:tgtEl>
                                      </p:cBhvr>
                                    </p:animEffect>
                                  </p:childTnLst>
                                </p:cTn>
                              </p:par>
                              <p:par>
                                <p:cTn id="39" presetID="16" presetClass="entr" presetSubtype="21" fill="hold" nodeType="withEffect">
                                  <p:stCondLst>
                                    <p:cond delay="0"/>
                                  </p:stCondLst>
                                  <p:childTnLst>
                                    <p:set>
                                      <p:cBhvr>
                                        <p:cTn id="40" dur="1" fill="hold">
                                          <p:stCondLst>
                                            <p:cond delay="0"/>
                                          </p:stCondLst>
                                        </p:cTn>
                                        <p:tgtEl>
                                          <p:spTgt spid="5">
                                            <p:txEl>
                                              <p:pRg st="9" end="9"/>
                                            </p:txEl>
                                          </p:spTgt>
                                        </p:tgtEl>
                                        <p:attrNameLst>
                                          <p:attrName>style.visibility</p:attrName>
                                        </p:attrNameLst>
                                      </p:cBhvr>
                                      <p:to>
                                        <p:strVal val="visible"/>
                                      </p:to>
                                    </p:set>
                                    <p:animEffect transition="in" filter="barn(inVertical)">
                                      <p:cBhvr>
                                        <p:cTn id="41"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13</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Thu thập, xử lý dữ liệu</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5" name="Google Shape;192;p20"/>
          <p:cNvSpPr txBox="1">
            <a:spLocks/>
          </p:cNvSpPr>
          <p:nvPr/>
        </p:nvSpPr>
        <p:spPr>
          <a:xfrm>
            <a:off x="551449" y="769087"/>
            <a:ext cx="5273825" cy="337612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just">
              <a:lnSpc>
                <a:spcPct val="150000"/>
              </a:lnSpc>
              <a:buNone/>
            </a:pPr>
            <a:r>
              <a:rPr lang="en-US" sz="18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Tiến hành loại bỏ các audio không có ý nghĩa</a:t>
            </a:r>
          </a:p>
          <a:p>
            <a:pPr marL="0" indent="0" algn="just">
              <a:lnSpc>
                <a:spcPct val="150000"/>
              </a:lnSpc>
              <a:buNone/>
            </a:pP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Các tiêu chí loại bỏ:</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Nhiều </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nhiễu, không thể nghe thấy âm thanh từ khoá</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Không </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nghe thấy âm thanh gì trong file audio</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Khi </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nghe thì không thể hiểu được ý nghĩa từ khoá</a:t>
            </a:r>
          </a:p>
          <a:p>
            <a:pPr algn="just">
              <a:lnSpc>
                <a:spcPct val="150000"/>
              </a:lnSpc>
              <a:buFontTx/>
              <a:buChar char="-"/>
            </a:pP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Khi </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nghe thì khó phân biệt giữa các nhãn của từ khoá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8038" y="1224706"/>
            <a:ext cx="2295724" cy="1147862"/>
          </a:xfrm>
          <a:prstGeom prst="rect">
            <a:avLst/>
          </a:prstGeom>
        </p:spPr>
      </p:pic>
      <p:pic>
        <p:nvPicPr>
          <p:cNvPr id="2" name="Picture 1"/>
          <p:cNvPicPr>
            <a:picLocks noChangeAspect="1"/>
          </p:cNvPicPr>
          <p:nvPr/>
        </p:nvPicPr>
        <p:blipFill>
          <a:blip r:embed="rId4"/>
          <a:stretch>
            <a:fillRect/>
          </a:stretch>
        </p:blipFill>
        <p:spPr>
          <a:xfrm>
            <a:off x="6198038" y="2578100"/>
            <a:ext cx="2295724" cy="1700216"/>
          </a:xfrm>
          <a:prstGeom prst="rect">
            <a:avLst/>
          </a:prstGeom>
        </p:spPr>
      </p:pic>
    </p:spTree>
    <p:extLst>
      <p:ext uri="{BB962C8B-B14F-4D97-AF65-F5344CB8AC3E}">
        <p14:creationId xmlns:p14="http://schemas.microsoft.com/office/powerpoint/2010/main" val="7108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Vertic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arn(inVertic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barn(inVertical)">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arn(inVertic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barn(inVertical)">
                                      <p:cBhvr>
                                        <p:cTn id="37" dur="50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barn(inVertical)">
                                      <p:cBhvr>
                                        <p:cTn id="4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14</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Thu thập, xử lý dữ liệu</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5" name="Google Shape;192;p20"/>
          <p:cNvSpPr txBox="1">
            <a:spLocks/>
          </p:cNvSpPr>
          <p:nvPr/>
        </p:nvSpPr>
        <p:spPr>
          <a:xfrm>
            <a:off x="551449" y="769087"/>
            <a:ext cx="5273825" cy="337612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just">
              <a:lnSpc>
                <a:spcPct val="150000"/>
              </a:lnSpc>
              <a:buNone/>
            </a:pPr>
            <a:r>
              <a:rPr lang="en-US" sz="18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Đánh dấu kiểu giọng audio</a:t>
            </a:r>
          </a:p>
          <a:p>
            <a:pPr marL="0" indent="0" algn="just">
              <a:lnSpc>
                <a:spcPct val="150000"/>
              </a:lnSpc>
              <a:buNone/>
            </a:pP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Đánh dấu theo vùng miền: Bắc, Trung, Nam</a:t>
            </a:r>
          </a:p>
          <a:p>
            <a:pPr marL="0" indent="0" algn="just">
              <a:lnSpc>
                <a:spcPct val="150000"/>
              </a:lnSpc>
              <a:buNone/>
            </a:pP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Đánh dấu theo giới tính: Nam, Nữ</a:t>
            </a:r>
          </a:p>
          <a:p>
            <a:pPr marL="0" indent="0" algn="just">
              <a:lnSpc>
                <a:spcPct val="150000"/>
              </a:lnSpc>
              <a:buNone/>
            </a:pPr>
            <a:r>
              <a:rPr lang="en-US" sz="18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2 bộ dữ liệu:</a:t>
            </a:r>
          </a:p>
          <a:p>
            <a:pPr algn="just">
              <a:lnSpc>
                <a:spcPct val="150000"/>
              </a:lnSpc>
              <a:buFontTx/>
              <a:buChar char="-"/>
            </a:pP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DS2020</a:t>
            </a: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 2968 </a:t>
            </a: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file audio</a:t>
            </a:r>
            <a:endPar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lnSpc>
                <a:spcPct val="150000"/>
              </a:lnSpc>
              <a:buFontTx/>
              <a:buChar char="-"/>
            </a:pP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DS2021</a:t>
            </a: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 5434 </a:t>
            </a: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file audio</a:t>
            </a:r>
            <a:endPar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spcBef>
                <a:spcPts val="600"/>
              </a:spcBef>
            </a:pPr>
            <a:endParaRPr lang="vi-VN" sz="16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8038" y="246806"/>
            <a:ext cx="2295724" cy="3388762"/>
          </a:xfrm>
          <a:prstGeom prst="rect">
            <a:avLst/>
          </a:prstGeom>
        </p:spPr>
      </p:pic>
      <p:pic>
        <p:nvPicPr>
          <p:cNvPr id="7170" name="Picture 2" descr="Female và Male là gì? Male và Female thường xuất hiện ở đâ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436" y="3809149"/>
            <a:ext cx="1736928" cy="1074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909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Vertic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barn(inVertical)">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170"/>
                                        </p:tgtEl>
                                        <p:attrNameLst>
                                          <p:attrName>style.visibility</p:attrName>
                                        </p:attrNameLst>
                                      </p:cBhvr>
                                      <p:to>
                                        <p:strVal val="visible"/>
                                      </p:to>
                                    </p:set>
                                    <p:animEffect transition="in" filter="barn(inVertical)">
                                      <p:cBhvr>
                                        <p:cTn id="27" dur="500"/>
                                        <p:tgtEl>
                                          <p:spTgt spid="717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barn(inVertical)">
                                      <p:cBhvr>
                                        <p:cTn id="32" dur="500"/>
                                        <p:tgtEl>
                                          <p:spTgt spid="5">
                                            <p:txEl>
                                              <p:pRg st="3" end="3"/>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barn(inVertical)">
                                      <p:cBhvr>
                                        <p:cTn id="35" dur="500"/>
                                        <p:tgtEl>
                                          <p:spTgt spid="5">
                                            <p:txEl>
                                              <p:pRg st="4" end="4"/>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5">
                                            <p:txEl>
                                              <p:pRg st="5" end="5"/>
                                            </p:txEl>
                                          </p:spTgt>
                                        </p:tgtEl>
                                        <p:attrNameLst>
                                          <p:attrName>style.visibility</p:attrName>
                                        </p:attrNameLst>
                                      </p:cBhvr>
                                      <p:to>
                                        <p:strVal val="visible"/>
                                      </p:to>
                                    </p:set>
                                    <p:animEffect transition="in" filter="barn(inVertical)">
                                      <p:cBhvr>
                                        <p:cTn id="3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15</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Thu thập, xử lý dữ liệu</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5" name="Google Shape;192;p20"/>
          <p:cNvSpPr txBox="1">
            <a:spLocks/>
          </p:cNvSpPr>
          <p:nvPr/>
        </p:nvSpPr>
        <p:spPr>
          <a:xfrm>
            <a:off x="551449" y="769087"/>
            <a:ext cx="5273825" cy="430456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pPr>
            <a:r>
              <a:rPr lang="en-US" sz="20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Phân bố dữ liệu - tập DS2021</a:t>
            </a:r>
          </a:p>
          <a:p>
            <a:pPr algn="just">
              <a:lnSpc>
                <a:spcPct val="150000"/>
              </a:lnSpc>
            </a:pP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Chủ yếu là giọng nam miền Bắc:</a:t>
            </a:r>
          </a:p>
          <a:p>
            <a:pPr algn="just">
              <a:lnSpc>
                <a:spcPct val="150000"/>
              </a:lnSpc>
              <a:buFontTx/>
              <a:buChar char="-"/>
            </a:pP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5214 </a:t>
            </a: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file audio miền Bắc</a:t>
            </a:r>
          </a:p>
          <a:p>
            <a:pPr algn="just">
              <a:lnSpc>
                <a:spcPct val="150000"/>
              </a:lnSpc>
              <a:buFontTx/>
              <a:buChar char="-"/>
            </a:pP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165 </a:t>
            </a: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file audio miền Trung</a:t>
            </a:r>
          </a:p>
          <a:p>
            <a:pPr algn="just">
              <a:lnSpc>
                <a:spcPct val="150000"/>
              </a:lnSpc>
              <a:buFontTx/>
              <a:buChar char="-"/>
            </a:pP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55 file audio miền Nam</a:t>
            </a:r>
            <a:endPar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lnSpc>
                <a:spcPct val="150000"/>
              </a:lnSpc>
            </a:pP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Số lượng các audio giọng nữ còn khá ít:</a:t>
            </a:r>
          </a:p>
          <a:p>
            <a:pPr algn="just">
              <a:lnSpc>
                <a:spcPct val="150000"/>
              </a:lnSpc>
              <a:buFontTx/>
              <a:buChar char="-"/>
            </a:pP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4819 </a:t>
            </a: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file audio giọng Nam</a:t>
            </a:r>
          </a:p>
          <a:p>
            <a:pPr algn="just">
              <a:lnSpc>
                <a:spcPct val="150000"/>
              </a:lnSpc>
              <a:buFontTx/>
              <a:buChar char="-"/>
            </a:pP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615 </a:t>
            </a: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file audio giọng Nữ</a:t>
            </a:r>
          </a:p>
          <a:p>
            <a:pPr algn="just">
              <a:lnSpc>
                <a:spcPct val="150000"/>
              </a:lnSpc>
            </a:pP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=&gt; Tập </a:t>
            </a: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chung tối ưu mô hình nhận diện </a:t>
            </a:r>
            <a:r>
              <a:rPr lang="en-US" sz="18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phát </a:t>
            </a:r>
            <a:r>
              <a:rPr lang="en-US" sz="1800" dirty="0">
                <a:solidFill>
                  <a:schemeClr val="tx1"/>
                </a:solidFill>
                <a:latin typeface="Arial" panose="020B0604020202020204" pitchFamily="34" charset="0"/>
                <a:ea typeface="Arial Unicode MS" panose="020B0604020202020204" pitchFamily="34" charset="-128"/>
                <a:cs typeface="Arial" panose="020B0604020202020204" pitchFamily="34" charset="0"/>
              </a:rPr>
              <a:t>âm từ khoá cho giọng nam miền Bắc</a:t>
            </a:r>
          </a:p>
          <a:p>
            <a:pPr>
              <a:spcBef>
                <a:spcPts val="600"/>
              </a:spcBef>
            </a:pPr>
            <a:endParaRPr lang="vi-VN" sz="16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9946" y="469900"/>
            <a:ext cx="2250937" cy="21578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5274" y="2564978"/>
            <a:ext cx="3268947" cy="2442080"/>
          </a:xfrm>
          <a:prstGeom prst="rect">
            <a:avLst/>
          </a:prstGeom>
        </p:spPr>
      </p:pic>
    </p:spTree>
    <p:extLst>
      <p:ext uri="{BB962C8B-B14F-4D97-AF65-F5344CB8AC3E}">
        <p14:creationId xmlns:p14="http://schemas.microsoft.com/office/powerpoint/2010/main" val="227893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Vertical)">
                                      <p:cBhvr>
                                        <p:cTn id="12" dur="500"/>
                                        <p:tgtEl>
                                          <p:spTgt spid="5">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arn(inVertical)">
                                      <p:cBhvr>
                                        <p:cTn id="15" dur="500"/>
                                        <p:tgtEl>
                                          <p:spTgt spid="5">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barn(inVertical)">
                                      <p:cBhvr>
                                        <p:cTn id="18" dur="500"/>
                                        <p:tgtEl>
                                          <p:spTgt spid="5">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barn(inVertical)">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barn(inVertical)">
                                      <p:cBhvr>
                                        <p:cTn id="31" dur="500"/>
                                        <p:tgtEl>
                                          <p:spTgt spid="5">
                                            <p:txEl>
                                              <p:pRg st="5" end="5"/>
                                            </p:txEl>
                                          </p:spTgt>
                                        </p:tgtEl>
                                      </p:cBhvr>
                                    </p:animEffect>
                                  </p:childTnLst>
                                </p:cTn>
                              </p:par>
                              <p:par>
                                <p:cTn id="32" presetID="16" presetClass="entr" presetSubtype="21"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barn(inVertical)">
                                      <p:cBhvr>
                                        <p:cTn id="34" dur="500"/>
                                        <p:tgtEl>
                                          <p:spTgt spid="5">
                                            <p:txEl>
                                              <p:pRg st="6" end="6"/>
                                            </p:txEl>
                                          </p:spTgt>
                                        </p:tgtEl>
                                      </p:cBhvr>
                                    </p:animEffect>
                                  </p:childTnLst>
                                </p:cTn>
                              </p:par>
                              <p:par>
                                <p:cTn id="35" presetID="16" presetClass="entr" presetSubtype="21" fill="hold"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barn(inVertical)">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arn(inVertical)">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barn(inVertical)">
                                      <p:cBhvr>
                                        <p:cTn id="4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16</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Thu thập, xử lý dữ liệu</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5" name="Google Shape;192;p20"/>
          <p:cNvSpPr txBox="1">
            <a:spLocks/>
          </p:cNvSpPr>
          <p:nvPr/>
        </p:nvSpPr>
        <p:spPr>
          <a:xfrm>
            <a:off x="551449" y="769087"/>
            <a:ext cx="8315077" cy="419661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just">
              <a:lnSpc>
                <a:spcPct val="150000"/>
              </a:lnSpc>
              <a:buNone/>
            </a:pPr>
            <a:r>
              <a:rPr lang="en-US" sz="18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Làm giàu dữ liệu</a:t>
            </a:r>
            <a:endParaRPr lang="en-US" sz="18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spcBef>
                <a:spcPts val="600"/>
              </a:spcBef>
            </a:pPr>
            <a:endParaRPr lang="vi-VN" sz="1600" dirty="0"/>
          </a:p>
        </p:txBody>
      </p:sp>
      <p:pic>
        <p:nvPicPr>
          <p:cNvPr id="7" name="Picture 6"/>
          <p:cNvPicPr>
            <a:picLocks noChangeAspect="1"/>
          </p:cNvPicPr>
          <p:nvPr/>
        </p:nvPicPr>
        <p:blipFill>
          <a:blip r:embed="rId3"/>
          <a:stretch>
            <a:fillRect/>
          </a:stretch>
        </p:blipFill>
        <p:spPr>
          <a:xfrm>
            <a:off x="3943519" y="1275441"/>
            <a:ext cx="2308521" cy="1346199"/>
          </a:xfrm>
          <a:prstGeom prst="rect">
            <a:avLst/>
          </a:prstGeom>
        </p:spPr>
      </p:pic>
      <p:sp>
        <p:nvSpPr>
          <p:cNvPr id="8" name="Rectangle 7"/>
          <p:cNvSpPr/>
          <p:nvPr/>
        </p:nvSpPr>
        <p:spPr>
          <a:xfrm>
            <a:off x="4672436" y="2652055"/>
            <a:ext cx="864764" cy="338554"/>
          </a:xfrm>
          <a:prstGeom prst="rect">
            <a:avLst/>
          </a:prstGeom>
        </p:spPr>
        <p:txBody>
          <a:bodyPr wrap="square">
            <a:spAutoFit/>
          </a:bodyPr>
          <a:lstStyle/>
          <a:p>
            <a:pPr algn="ctr"/>
            <a:r>
              <a:rPr lang="en-US" sz="800" dirty="0" smtClean="0"/>
              <a:t>Loại bỏ nhiễu</a:t>
            </a:r>
          </a:p>
          <a:p>
            <a:endParaRPr lang="en-US" sz="800" dirty="0"/>
          </a:p>
        </p:txBody>
      </p:sp>
      <p:sp>
        <p:nvSpPr>
          <p:cNvPr id="10" name="Rectangle 9"/>
          <p:cNvSpPr/>
          <p:nvPr/>
        </p:nvSpPr>
        <p:spPr>
          <a:xfrm>
            <a:off x="531098" y="1275441"/>
            <a:ext cx="1826142" cy="369332"/>
          </a:xfrm>
          <a:prstGeom prst="rect">
            <a:avLst/>
          </a:prstGeom>
        </p:spPr>
        <p:txBody>
          <a:bodyPr wrap="none">
            <a:spAutoFit/>
          </a:bodyPr>
          <a:lstStyle/>
          <a:p>
            <a:pPr algn="ctr"/>
            <a:r>
              <a:rPr lang="en-US" sz="1800" dirty="0" smtClean="0"/>
              <a:t>1. Loại bỏ nhiễu</a:t>
            </a:r>
            <a:endParaRPr lang="en-US" sz="1800" dirty="0"/>
          </a:p>
        </p:txBody>
      </p:sp>
      <p:sp>
        <p:nvSpPr>
          <p:cNvPr id="11" name="Rectangle 10"/>
          <p:cNvSpPr/>
          <p:nvPr/>
        </p:nvSpPr>
        <p:spPr>
          <a:xfrm>
            <a:off x="532099" y="1579208"/>
            <a:ext cx="2377575" cy="369332"/>
          </a:xfrm>
          <a:prstGeom prst="rect">
            <a:avLst/>
          </a:prstGeom>
        </p:spPr>
        <p:txBody>
          <a:bodyPr wrap="none">
            <a:spAutoFit/>
          </a:bodyPr>
          <a:lstStyle/>
          <a:p>
            <a:pPr algn="ctr"/>
            <a:r>
              <a:rPr lang="en-US" sz="1800" dirty="0"/>
              <a:t>2</a:t>
            </a:r>
            <a:r>
              <a:rPr lang="en-US" sz="1800" dirty="0" smtClean="0"/>
              <a:t>. Nâng, giảm cao độ</a:t>
            </a:r>
            <a:endParaRPr lang="en-US" sz="1800" dirty="0"/>
          </a:p>
        </p:txBody>
      </p:sp>
      <p:pic>
        <p:nvPicPr>
          <p:cNvPr id="12" name="Picture 2" descr="Figure 13 from Voice Conversion Using Pitch Shifting Algorithm by Time  Stretching with PSOLA and Re-Sampling | Semantic Schola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9339" y="1300964"/>
            <a:ext cx="1863725" cy="142320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6905417" y="2646472"/>
            <a:ext cx="1718740" cy="338554"/>
          </a:xfrm>
          <a:prstGeom prst="rect">
            <a:avLst/>
          </a:prstGeom>
        </p:spPr>
        <p:txBody>
          <a:bodyPr wrap="none">
            <a:spAutoFit/>
          </a:bodyPr>
          <a:lstStyle/>
          <a:p>
            <a:pPr algn="ctr"/>
            <a:r>
              <a:rPr lang="en-US" sz="800" dirty="0" smtClean="0"/>
              <a:t>Nâng giảm cao độ</a:t>
            </a:r>
          </a:p>
          <a:p>
            <a:r>
              <a:rPr lang="en-US" sz="800" dirty="0" smtClean="0"/>
              <a:t>Nguồn: www.semanticscholar.org</a:t>
            </a:r>
            <a:endParaRPr lang="en-US" sz="800" dirty="0"/>
          </a:p>
        </p:txBody>
      </p:sp>
      <p:sp>
        <p:nvSpPr>
          <p:cNvPr id="14" name="Rectangle 13"/>
          <p:cNvSpPr/>
          <p:nvPr/>
        </p:nvSpPr>
        <p:spPr>
          <a:xfrm>
            <a:off x="531098" y="1882975"/>
            <a:ext cx="2502609" cy="369332"/>
          </a:xfrm>
          <a:prstGeom prst="rect">
            <a:avLst/>
          </a:prstGeom>
        </p:spPr>
        <p:txBody>
          <a:bodyPr wrap="none">
            <a:spAutoFit/>
          </a:bodyPr>
          <a:lstStyle/>
          <a:p>
            <a:pPr algn="ctr"/>
            <a:r>
              <a:rPr lang="en-US" sz="1800" dirty="0" smtClean="0"/>
              <a:t>3. Tua nhanh thời gian</a:t>
            </a:r>
            <a:endParaRPr lang="en-US" sz="1800" dirty="0"/>
          </a:p>
        </p:txBody>
      </p:sp>
      <p:pic>
        <p:nvPicPr>
          <p:cNvPr id="15" name="Picture 4" descr="Time-stretch audio - MATLAB stretchAudio - MathWorks 日本"/>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8675" y="3104680"/>
            <a:ext cx="1934260" cy="1573199"/>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p:nvSpPr>
        <p:spPr>
          <a:xfrm>
            <a:off x="4451542" y="4627146"/>
            <a:ext cx="1375698" cy="338554"/>
          </a:xfrm>
          <a:prstGeom prst="rect">
            <a:avLst/>
          </a:prstGeom>
        </p:spPr>
        <p:txBody>
          <a:bodyPr wrap="none">
            <a:spAutoFit/>
          </a:bodyPr>
          <a:lstStyle/>
          <a:p>
            <a:pPr algn="ctr"/>
            <a:r>
              <a:rPr lang="en-US" sz="800" dirty="0" smtClean="0"/>
              <a:t>Tua nhanh thời gian</a:t>
            </a:r>
          </a:p>
          <a:p>
            <a:r>
              <a:rPr lang="en-US" sz="800" dirty="0" smtClean="0"/>
              <a:t>Nguồn: jp.mathworks.com</a:t>
            </a:r>
            <a:endParaRPr lang="en-US" sz="800" dirty="0"/>
          </a:p>
        </p:txBody>
      </p:sp>
      <p:sp>
        <p:nvSpPr>
          <p:cNvPr id="17" name="Rectangle 16"/>
          <p:cNvSpPr/>
          <p:nvPr/>
        </p:nvSpPr>
        <p:spPr>
          <a:xfrm>
            <a:off x="530005" y="2174713"/>
            <a:ext cx="2569935" cy="369332"/>
          </a:xfrm>
          <a:prstGeom prst="rect">
            <a:avLst/>
          </a:prstGeom>
        </p:spPr>
        <p:txBody>
          <a:bodyPr wrap="none">
            <a:spAutoFit/>
          </a:bodyPr>
          <a:lstStyle/>
          <a:p>
            <a:pPr algn="ctr"/>
            <a:r>
              <a:rPr lang="en-US" sz="1800" dirty="0"/>
              <a:t>4</a:t>
            </a:r>
            <a:r>
              <a:rPr lang="en-US" sz="1800" dirty="0" smtClean="0"/>
              <a:t>. Trộn âm thanh nhiễu</a:t>
            </a:r>
            <a:endParaRPr lang="en-US" sz="1800" dirty="0"/>
          </a:p>
        </p:txBody>
      </p:sp>
      <p:pic>
        <p:nvPicPr>
          <p:cNvPr id="18" name="Picture 6" descr="adding noise to a signal in python - Stack Overflow"/>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6507" y="3231861"/>
            <a:ext cx="2258362" cy="1311404"/>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p:cNvSpPr/>
          <p:nvPr/>
        </p:nvSpPr>
        <p:spPr>
          <a:xfrm>
            <a:off x="6989023" y="4626874"/>
            <a:ext cx="1393330" cy="338554"/>
          </a:xfrm>
          <a:prstGeom prst="rect">
            <a:avLst/>
          </a:prstGeom>
        </p:spPr>
        <p:txBody>
          <a:bodyPr wrap="none">
            <a:spAutoFit/>
          </a:bodyPr>
          <a:lstStyle/>
          <a:p>
            <a:pPr algn="ctr"/>
            <a:r>
              <a:rPr lang="en-US" sz="800" dirty="0" smtClean="0"/>
              <a:t>Trộn âm thanh nhiễu</a:t>
            </a:r>
          </a:p>
          <a:p>
            <a:r>
              <a:rPr lang="en-US" sz="800" dirty="0" smtClean="0"/>
              <a:t>Nguồn: stackoverflow.com</a:t>
            </a:r>
            <a:endParaRPr lang="en-US" sz="800" dirty="0"/>
          </a:p>
        </p:txBody>
      </p:sp>
      <p:sp>
        <p:nvSpPr>
          <p:cNvPr id="26" name="Rectangle 25"/>
          <p:cNvSpPr/>
          <p:nvPr/>
        </p:nvSpPr>
        <p:spPr>
          <a:xfrm>
            <a:off x="528912" y="2471768"/>
            <a:ext cx="2630848" cy="369332"/>
          </a:xfrm>
          <a:prstGeom prst="rect">
            <a:avLst/>
          </a:prstGeom>
        </p:spPr>
        <p:txBody>
          <a:bodyPr wrap="none">
            <a:spAutoFit/>
          </a:bodyPr>
          <a:lstStyle/>
          <a:p>
            <a:pPr algn="ctr"/>
            <a:r>
              <a:rPr lang="en-US" sz="1800" dirty="0" smtClean="0"/>
              <a:t>5. Chuẩn hoá âm lượng</a:t>
            </a:r>
            <a:endParaRPr lang="en-US" sz="1800" dirty="0"/>
          </a:p>
        </p:txBody>
      </p:sp>
    </p:spTree>
    <p:extLst>
      <p:ext uri="{BB962C8B-B14F-4D97-AF65-F5344CB8AC3E}">
        <p14:creationId xmlns:p14="http://schemas.microsoft.com/office/powerpoint/2010/main" val="412752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par>
                                <p:cTn id="13" presetID="16" presetClass="entr" presetSubtype="21"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par>
                                <p:cTn id="24" presetID="16" presetClass="entr" presetSubtype="21"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arn(inVertical)">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arn(inVertical)">
                                      <p:cBhvr>
                                        <p:cTn id="34" dur="500"/>
                                        <p:tgtEl>
                                          <p:spTgt spid="14"/>
                                        </p:tgtEl>
                                      </p:cBhvr>
                                    </p:animEffect>
                                  </p:childTnLst>
                                </p:cTn>
                              </p:par>
                              <p:par>
                                <p:cTn id="35" presetID="16" presetClass="entr" presetSubtype="21"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arn(inVertical)">
                                      <p:cBhvr>
                                        <p:cTn id="37" dur="500"/>
                                        <p:tgtEl>
                                          <p:spTgt spid="15"/>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arn(inVertical)">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arn(inVertical)">
                                      <p:cBhvr>
                                        <p:cTn id="45" dur="500"/>
                                        <p:tgtEl>
                                          <p:spTgt spid="17"/>
                                        </p:tgtEl>
                                      </p:cBhvr>
                                    </p:animEffect>
                                  </p:childTnLst>
                                </p:cTn>
                              </p:par>
                              <p:par>
                                <p:cTn id="46" presetID="16" presetClass="entr" presetSubtype="21"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barn(inVertical)">
                                      <p:cBhvr>
                                        <p:cTn id="48" dur="500"/>
                                        <p:tgtEl>
                                          <p:spTgt spid="18"/>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barn(inVertical)">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barn(inVertical)">
                                      <p:cBhvr>
                                        <p:cTn id="5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3" grpId="0"/>
      <p:bldP spid="14" grpId="0"/>
      <p:bldP spid="16" grpId="0"/>
      <p:bldP spid="17" grpId="0"/>
      <p:bldP spid="19" grpId="0"/>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5" name="Google Shape;345;p28"/>
          <p:cNvSpPr txBox="1">
            <a:spLocks noGrp="1"/>
          </p:cNvSpPr>
          <p:nvPr>
            <p:ph type="subTitle" idx="4294967295"/>
          </p:nvPr>
        </p:nvSpPr>
        <p:spPr>
          <a:xfrm>
            <a:off x="711200" y="2154252"/>
            <a:ext cx="7772400" cy="1389047"/>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3600" dirty="0" smtClean="0">
                <a:solidFill>
                  <a:srgbClr val="FFFFFF"/>
                </a:solidFill>
                <a:latin typeface="+mn-lt"/>
              </a:rPr>
              <a:t>2.2 Trích xuất đặc trưng cho đầu vào của mô hình</a:t>
            </a:r>
            <a:endParaRPr sz="3600" dirty="0">
              <a:solidFill>
                <a:srgbClr val="FFFFFF"/>
              </a:solidFill>
              <a:latin typeface="+mn-lt"/>
            </a:endParaRPr>
          </a:p>
        </p:txBody>
      </p:sp>
      <p:sp>
        <p:nvSpPr>
          <p:cNvPr id="346" name="Google Shape;346;p28"/>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17</a:t>
            </a:fld>
            <a:endParaRPr/>
          </a:p>
        </p:txBody>
      </p:sp>
    </p:spTree>
    <p:extLst>
      <p:ext uri="{BB962C8B-B14F-4D97-AF65-F5344CB8AC3E}">
        <p14:creationId xmlns:p14="http://schemas.microsoft.com/office/powerpoint/2010/main" val="40755389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18</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MFCC – Mel </a:t>
            </a:r>
            <a:r>
              <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Frequency </a:t>
            </a:r>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Cepstral Coefficients   </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pic>
        <p:nvPicPr>
          <p:cNvPr id="8" name="Picture 4" descr="https://images.viblo.asia/full/0aecb56e-2e56-4df2-9bdf-340a211bd0e5.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50" y="897100"/>
            <a:ext cx="7636591" cy="354010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932680" y="4519735"/>
            <a:ext cx="5573020" cy="461665"/>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 Các bước xây dựng đặc </a:t>
            </a:r>
            <a:r>
              <a:rPr lang="en-US" sz="1200" dirty="0">
                <a:latin typeface="Arial" panose="020B0604020202020204" pitchFamily="34" charset="0"/>
                <a:cs typeface="Arial" panose="020B0604020202020204" pitchFamily="34" charset="0"/>
              </a:rPr>
              <a:t>trưng Mel Frequency Cepstral </a:t>
            </a:r>
            <a:r>
              <a:rPr lang="en-US" sz="1200" dirty="0" smtClean="0">
                <a:latin typeface="Arial" panose="020B0604020202020204" pitchFamily="34" charset="0"/>
                <a:cs typeface="Arial" panose="020B0604020202020204" pitchFamily="34" charset="0"/>
              </a:rPr>
              <a:t>Coefficients - MFCC </a:t>
            </a:r>
          </a:p>
          <a:p>
            <a:pPr algn="ctr"/>
            <a:r>
              <a:rPr lang="en-US" sz="1200" dirty="0" smtClean="0">
                <a:latin typeface="Arial" panose="020B0604020202020204" pitchFamily="34" charset="0"/>
                <a:cs typeface="Arial" panose="020B0604020202020204" pitchFamily="34" charset="0"/>
              </a:rPr>
              <a:t>(Nguồn:viblo.asia)</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40470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5" name="Google Shape;345;p28"/>
          <p:cNvSpPr txBox="1">
            <a:spLocks noGrp="1"/>
          </p:cNvSpPr>
          <p:nvPr>
            <p:ph type="subTitle" idx="4294967295"/>
          </p:nvPr>
        </p:nvSpPr>
        <p:spPr>
          <a:xfrm>
            <a:off x="711200" y="2154252"/>
            <a:ext cx="7772400" cy="1389047"/>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3600" dirty="0" smtClean="0">
                <a:solidFill>
                  <a:srgbClr val="FFFFFF"/>
                </a:solidFill>
                <a:latin typeface="+mn-lt"/>
              </a:rPr>
              <a:t>2.3 Các mô hình học sâu</a:t>
            </a:r>
            <a:endParaRPr sz="3600" dirty="0">
              <a:solidFill>
                <a:srgbClr val="FFFFFF"/>
              </a:solidFill>
              <a:latin typeface="+mn-lt"/>
            </a:endParaRPr>
          </a:p>
        </p:txBody>
      </p:sp>
      <p:sp>
        <p:nvSpPr>
          <p:cNvPr id="346" name="Google Shape;346;p28"/>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19</a:t>
            </a:fld>
            <a:endParaRPr/>
          </a:p>
        </p:txBody>
      </p:sp>
    </p:spTree>
    <p:extLst>
      <p:ext uri="{BB962C8B-B14F-4D97-AF65-F5344CB8AC3E}">
        <p14:creationId xmlns:p14="http://schemas.microsoft.com/office/powerpoint/2010/main" val="11665783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20</a:t>
            </a:fld>
            <a:endParaRPr/>
          </a:p>
        </p:txBody>
      </p:sp>
      <p:sp>
        <p:nvSpPr>
          <p:cNvPr id="9" name="Content Placeholder 2"/>
          <p:cNvSpPr txBox="1">
            <a:spLocks/>
          </p:cNvSpPr>
          <p:nvPr/>
        </p:nvSpPr>
        <p:spPr>
          <a:xfrm>
            <a:off x="551449" y="246806"/>
            <a:ext cx="8315077" cy="48141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TC-RESNET </a:t>
            </a:r>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Temporal Convolution Residual Network     </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pic>
        <p:nvPicPr>
          <p:cNvPr id="6" name="Picture 5"/>
          <p:cNvPicPr/>
          <p:nvPr/>
        </p:nvPicPr>
        <p:blipFill>
          <a:blip r:embed="rId3"/>
          <a:stretch>
            <a:fillRect/>
          </a:stretch>
        </p:blipFill>
        <p:spPr>
          <a:xfrm>
            <a:off x="296978" y="750939"/>
            <a:ext cx="4363114" cy="3197196"/>
          </a:xfrm>
          <a:prstGeom prst="rect">
            <a:avLst/>
          </a:prstGeom>
        </p:spPr>
      </p:pic>
      <p:pic>
        <p:nvPicPr>
          <p:cNvPr id="7" name="Picture 6"/>
          <p:cNvPicPr/>
          <p:nvPr/>
        </p:nvPicPr>
        <p:blipFill>
          <a:blip r:embed="rId4"/>
          <a:stretch>
            <a:fillRect/>
          </a:stretch>
        </p:blipFill>
        <p:spPr>
          <a:xfrm>
            <a:off x="4836939" y="814472"/>
            <a:ext cx="4307061" cy="3133663"/>
          </a:xfrm>
          <a:prstGeom prst="rect">
            <a:avLst/>
          </a:prstGeom>
        </p:spPr>
      </p:pic>
      <p:sp>
        <p:nvSpPr>
          <p:cNvPr id="11" name="TextBox 10">
            <a:extLst>
              <a:ext uri="{FF2B5EF4-FFF2-40B4-BE49-F238E27FC236}">
                <a16:creationId xmlns:a16="http://schemas.microsoft.com/office/drawing/2014/main" id="{FAB3C8CB-A8C2-A24B-80F9-EADE130CBB9B}"/>
              </a:ext>
            </a:extLst>
          </p:cNvPr>
          <p:cNvSpPr txBox="1"/>
          <p:nvPr/>
        </p:nvSpPr>
        <p:spPr>
          <a:xfrm>
            <a:off x="696637" y="3926815"/>
            <a:ext cx="3563796" cy="276999"/>
          </a:xfrm>
          <a:prstGeom prst="rect">
            <a:avLst/>
          </a:prstGeom>
          <a:noFill/>
        </p:spPr>
        <p:txBody>
          <a:bodyPr wrap="none" rtlCol="0">
            <a:spAutoFit/>
          </a:bodyPr>
          <a:lstStyle/>
          <a:p>
            <a:r>
              <a:rPr lang="en-US" sz="1200" dirty="0" smtClean="0">
                <a:latin typeface="Arial" panose="020B0604020202020204" pitchFamily="34" charset="0"/>
                <a:ea typeface="Arial Unicode MS" panose="020B0604020202020204" pitchFamily="34" charset="-128"/>
                <a:cs typeface="Arial" panose="020B0604020202020204" pitchFamily="34" charset="0"/>
              </a:rPr>
              <a:t>So sánh kiến trúc CNN1D vs CNN2D</a:t>
            </a:r>
            <a:r>
              <a:rPr lang="en-VN" sz="1200" dirty="0" smtClean="0">
                <a:latin typeface="Arial" panose="020B0604020202020204" pitchFamily="34" charset="0"/>
                <a:ea typeface="Arial Unicode MS" panose="020B0604020202020204" pitchFamily="34" charset="-128"/>
                <a:cs typeface="Arial" panose="020B0604020202020204" pitchFamily="34" charset="0"/>
              </a:rPr>
              <a:t> </a:t>
            </a:r>
            <a:r>
              <a:rPr lang="en-VN" sz="1200" dirty="0">
                <a:latin typeface="Arial" panose="020B0604020202020204" pitchFamily="34" charset="0"/>
                <a:ea typeface="Arial Unicode MS" panose="020B0604020202020204" pitchFamily="34" charset="-128"/>
                <a:cs typeface="Arial" panose="020B0604020202020204" pitchFamily="34" charset="0"/>
              </a:rPr>
              <a:t>(Nguồn: </a:t>
            </a:r>
            <a:r>
              <a:rPr lang="en-VN" sz="1200" dirty="0" smtClean="0">
                <a:latin typeface="Arial" panose="020B0604020202020204" pitchFamily="34" charset="0"/>
                <a:ea typeface="Arial Unicode MS" panose="020B0604020202020204" pitchFamily="34" charset="-128"/>
                <a:cs typeface="Arial" panose="020B0604020202020204" pitchFamily="34" charset="0"/>
              </a:rPr>
              <a:t>[</a:t>
            </a:r>
            <a:r>
              <a:rPr lang="en-US" sz="1200" dirty="0" smtClean="0">
                <a:latin typeface="Arial" panose="020B0604020202020204" pitchFamily="34" charset="0"/>
                <a:ea typeface="Arial Unicode MS" panose="020B0604020202020204" pitchFamily="34" charset="-128"/>
                <a:cs typeface="Arial" panose="020B0604020202020204" pitchFamily="34" charset="0"/>
              </a:rPr>
              <a:t>1</a:t>
            </a:r>
            <a:r>
              <a:rPr lang="en-VN" sz="1200" dirty="0" smtClean="0">
                <a:latin typeface="Arial" panose="020B0604020202020204" pitchFamily="34" charset="0"/>
                <a:ea typeface="Arial Unicode MS" panose="020B0604020202020204" pitchFamily="34" charset="-128"/>
                <a:cs typeface="Arial" panose="020B0604020202020204" pitchFamily="34" charset="0"/>
              </a:rPr>
              <a:t>])</a:t>
            </a:r>
            <a:endParaRPr lang="en-VN"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2" name="TextBox 11">
            <a:extLst>
              <a:ext uri="{FF2B5EF4-FFF2-40B4-BE49-F238E27FC236}">
                <a16:creationId xmlns:a16="http://schemas.microsoft.com/office/drawing/2014/main" id="{FAB3C8CB-A8C2-A24B-80F9-EADE130CBB9B}"/>
              </a:ext>
            </a:extLst>
          </p:cNvPr>
          <p:cNvSpPr txBox="1"/>
          <p:nvPr/>
        </p:nvSpPr>
        <p:spPr>
          <a:xfrm>
            <a:off x="5666228" y="3948135"/>
            <a:ext cx="2568332" cy="276999"/>
          </a:xfrm>
          <a:prstGeom prst="rect">
            <a:avLst/>
          </a:prstGeom>
          <a:noFill/>
        </p:spPr>
        <p:txBody>
          <a:bodyPr wrap="none" rtlCol="0">
            <a:spAutoFit/>
          </a:bodyPr>
          <a:lstStyle/>
          <a:p>
            <a:r>
              <a:rPr lang="en-US" sz="1200" dirty="0" smtClean="0">
                <a:latin typeface="Arial" panose="020B0604020202020204" pitchFamily="34" charset="0"/>
                <a:ea typeface="Arial Unicode MS" panose="020B0604020202020204" pitchFamily="34" charset="-128"/>
                <a:cs typeface="Arial" panose="020B0604020202020204" pitchFamily="34" charset="0"/>
              </a:rPr>
              <a:t>Kiến trúc TC-RESNET</a:t>
            </a:r>
            <a:r>
              <a:rPr lang="en-VN" sz="1200" dirty="0" smtClean="0">
                <a:latin typeface="Arial" panose="020B0604020202020204" pitchFamily="34" charset="0"/>
                <a:ea typeface="Arial Unicode MS" panose="020B0604020202020204" pitchFamily="34" charset="-128"/>
                <a:cs typeface="Arial" panose="020B0604020202020204" pitchFamily="34" charset="0"/>
              </a:rPr>
              <a:t> </a:t>
            </a:r>
            <a:r>
              <a:rPr lang="en-VN" sz="1200" dirty="0">
                <a:latin typeface="Arial" panose="020B0604020202020204" pitchFamily="34" charset="0"/>
                <a:ea typeface="Arial Unicode MS" panose="020B0604020202020204" pitchFamily="34" charset="-128"/>
                <a:cs typeface="Arial" panose="020B0604020202020204" pitchFamily="34" charset="0"/>
              </a:rPr>
              <a:t>(Nguồn: </a:t>
            </a:r>
            <a:r>
              <a:rPr lang="en-VN" sz="1200" dirty="0" smtClean="0">
                <a:latin typeface="Arial" panose="020B0604020202020204" pitchFamily="34" charset="0"/>
                <a:ea typeface="Arial Unicode MS" panose="020B0604020202020204" pitchFamily="34" charset="-128"/>
                <a:cs typeface="Arial" panose="020B0604020202020204" pitchFamily="34" charset="0"/>
              </a:rPr>
              <a:t>[</a:t>
            </a:r>
            <a:r>
              <a:rPr lang="en-US" sz="1200" dirty="0" smtClean="0">
                <a:latin typeface="Arial" panose="020B0604020202020204" pitchFamily="34" charset="0"/>
                <a:ea typeface="Arial Unicode MS" panose="020B0604020202020204" pitchFamily="34" charset="-128"/>
                <a:cs typeface="Arial" panose="020B0604020202020204" pitchFamily="34" charset="0"/>
              </a:rPr>
              <a:t>1</a:t>
            </a:r>
            <a:r>
              <a:rPr lang="en-VN" sz="1200" dirty="0" smtClean="0">
                <a:latin typeface="Arial" panose="020B0604020202020204" pitchFamily="34" charset="0"/>
                <a:ea typeface="Arial Unicode MS" panose="020B0604020202020204" pitchFamily="34" charset="-128"/>
                <a:cs typeface="Arial" panose="020B0604020202020204" pitchFamily="34" charset="0"/>
              </a:rPr>
              <a:t>])</a:t>
            </a:r>
            <a:endParaRPr lang="en-VN"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3" name="TextBox 12">
            <a:extLst>
              <a:ext uri="{FF2B5EF4-FFF2-40B4-BE49-F238E27FC236}">
                <a16:creationId xmlns:a16="http://schemas.microsoft.com/office/drawing/2014/main" id="{97D2AB03-6586-A144-A334-D5BAC563FC99}"/>
              </a:ext>
            </a:extLst>
          </p:cNvPr>
          <p:cNvSpPr txBox="1"/>
          <p:nvPr/>
        </p:nvSpPr>
        <p:spPr>
          <a:xfrm>
            <a:off x="551449" y="4480813"/>
            <a:ext cx="6705481" cy="400110"/>
          </a:xfrm>
          <a:prstGeom prst="rect">
            <a:avLst/>
          </a:prstGeom>
          <a:noFill/>
        </p:spPr>
        <p:txBody>
          <a:bodyPr wrap="square" rtlCol="0">
            <a:spAutoFit/>
          </a:bodyPr>
          <a:lstStyle/>
          <a:p>
            <a:pPr algn="just"/>
            <a:r>
              <a:rPr lang="en-US" sz="10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[1] </a:t>
            </a:r>
            <a:r>
              <a:rPr lang="en-US" sz="10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Seungwoo Choi, Seokjun Seo, Beomjun Shin, Hyeongmin Byun, Martin Kersner, Beomsu Kim, Dongyoung Kim, Sungjoo Ha, Temporal Convolution for Real-time Keyword Spotting on Mobile </a:t>
            </a:r>
            <a:r>
              <a:rPr lang="en-US" sz="10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Devices</a:t>
            </a:r>
            <a:endParaRPr lang="en-VN" sz="10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37695094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21</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MULTIHEAD-ATTENTION-RNN   </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pic>
        <p:nvPicPr>
          <p:cNvPr id="6" name="Picture 5"/>
          <p:cNvPicPr/>
          <p:nvPr/>
        </p:nvPicPr>
        <p:blipFill>
          <a:blip r:embed="rId3"/>
          <a:stretch>
            <a:fillRect/>
          </a:stretch>
        </p:blipFill>
        <p:spPr>
          <a:xfrm>
            <a:off x="1700974" y="849164"/>
            <a:ext cx="6016017" cy="3431628"/>
          </a:xfrm>
          <a:prstGeom prst="rect">
            <a:avLst/>
          </a:prstGeom>
        </p:spPr>
      </p:pic>
      <p:sp>
        <p:nvSpPr>
          <p:cNvPr id="7" name="TextBox 6">
            <a:extLst>
              <a:ext uri="{FF2B5EF4-FFF2-40B4-BE49-F238E27FC236}">
                <a16:creationId xmlns:a16="http://schemas.microsoft.com/office/drawing/2014/main" id="{FAB3C8CB-A8C2-A24B-80F9-EADE130CBB9B}"/>
              </a:ext>
            </a:extLst>
          </p:cNvPr>
          <p:cNvSpPr txBox="1"/>
          <p:nvPr/>
        </p:nvSpPr>
        <p:spPr>
          <a:xfrm>
            <a:off x="2467823" y="4166472"/>
            <a:ext cx="4482317" cy="276999"/>
          </a:xfrm>
          <a:prstGeom prst="rect">
            <a:avLst/>
          </a:prstGeom>
          <a:noFill/>
        </p:spPr>
        <p:txBody>
          <a:bodyPr wrap="none" rtlCol="0">
            <a:spAutoFit/>
          </a:bodyPr>
          <a:lstStyle/>
          <a:p>
            <a:r>
              <a:rPr lang="en-US" sz="1200" dirty="0" smtClean="0">
                <a:latin typeface="Arial" panose="020B0604020202020204" pitchFamily="34" charset="0"/>
                <a:ea typeface="Arial Unicode MS" panose="020B0604020202020204" pitchFamily="34" charset="-128"/>
                <a:cs typeface="Arial" panose="020B0604020202020204" pitchFamily="34" charset="0"/>
              </a:rPr>
              <a:t>Kiến trúc mô hình MULTIHEAD-ATTENTION-RNN</a:t>
            </a:r>
            <a:r>
              <a:rPr lang="en-VN" sz="1200" dirty="0" smtClean="0">
                <a:latin typeface="Arial" panose="020B0604020202020204" pitchFamily="34" charset="0"/>
                <a:ea typeface="Arial Unicode MS" panose="020B0604020202020204" pitchFamily="34" charset="-128"/>
                <a:cs typeface="Arial" panose="020B0604020202020204" pitchFamily="34" charset="0"/>
              </a:rPr>
              <a:t> </a:t>
            </a:r>
            <a:r>
              <a:rPr lang="en-VN" sz="1200" dirty="0">
                <a:latin typeface="Arial" panose="020B0604020202020204" pitchFamily="34" charset="0"/>
                <a:ea typeface="Arial Unicode MS" panose="020B0604020202020204" pitchFamily="34" charset="-128"/>
                <a:cs typeface="Arial" panose="020B0604020202020204" pitchFamily="34" charset="0"/>
              </a:rPr>
              <a:t>(Nguồn: </a:t>
            </a:r>
            <a:r>
              <a:rPr lang="en-VN" sz="1200" dirty="0" smtClean="0">
                <a:latin typeface="Arial" panose="020B0604020202020204" pitchFamily="34" charset="0"/>
                <a:ea typeface="Arial Unicode MS" panose="020B0604020202020204" pitchFamily="34" charset="-128"/>
                <a:cs typeface="Arial" panose="020B0604020202020204" pitchFamily="34" charset="0"/>
              </a:rPr>
              <a:t>[</a:t>
            </a:r>
            <a:r>
              <a:rPr lang="en-US" sz="1200" dirty="0">
                <a:latin typeface="Arial" panose="020B0604020202020204" pitchFamily="34" charset="0"/>
                <a:ea typeface="Arial Unicode MS" panose="020B0604020202020204" pitchFamily="34" charset="-128"/>
                <a:cs typeface="Arial" panose="020B0604020202020204" pitchFamily="34" charset="0"/>
              </a:rPr>
              <a:t>2</a:t>
            </a:r>
            <a:r>
              <a:rPr lang="en-VN" sz="1200" dirty="0" smtClean="0">
                <a:latin typeface="Arial" panose="020B0604020202020204" pitchFamily="34" charset="0"/>
                <a:ea typeface="Arial Unicode MS" panose="020B0604020202020204" pitchFamily="34" charset="-128"/>
                <a:cs typeface="Arial" panose="020B0604020202020204" pitchFamily="34" charset="0"/>
              </a:rPr>
              <a:t>])</a:t>
            </a:r>
            <a:endParaRPr lang="en-VN"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1" name="TextBox 10">
            <a:extLst>
              <a:ext uri="{FF2B5EF4-FFF2-40B4-BE49-F238E27FC236}">
                <a16:creationId xmlns:a16="http://schemas.microsoft.com/office/drawing/2014/main" id="{97D2AB03-6586-A144-A334-D5BAC563FC99}"/>
              </a:ext>
            </a:extLst>
          </p:cNvPr>
          <p:cNvSpPr txBox="1"/>
          <p:nvPr/>
        </p:nvSpPr>
        <p:spPr>
          <a:xfrm>
            <a:off x="551449" y="4502824"/>
            <a:ext cx="5595351" cy="400110"/>
          </a:xfrm>
          <a:prstGeom prst="rect">
            <a:avLst/>
          </a:prstGeom>
          <a:noFill/>
        </p:spPr>
        <p:txBody>
          <a:bodyPr wrap="square" rtlCol="0">
            <a:spAutoFit/>
          </a:bodyPr>
          <a:lstStyle/>
          <a:p>
            <a:pPr algn="just"/>
            <a:r>
              <a:rPr lang="en-US" sz="1000" dirty="0" smtClean="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[2] Douglas </a:t>
            </a:r>
            <a:r>
              <a:rPr lang="en-US" sz="10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Coimbra de Andradea, Sabato Leob, Martin Loesener Da Silva Vianac, Christoph</a:t>
            </a:r>
          </a:p>
          <a:p>
            <a:pPr algn="just"/>
            <a:r>
              <a:rPr lang="en-US" sz="10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rPr>
              <a:t>Bernkopfc, A neural attention model for speech command recognition</a:t>
            </a:r>
            <a:endParaRPr lang="en-VN" sz="1000" dirty="0">
              <a:solidFill>
                <a:schemeClr val="bg1">
                  <a:lumMod val="50000"/>
                </a:scheme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16144833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5" name="Google Shape;345;p28"/>
          <p:cNvSpPr txBox="1">
            <a:spLocks noGrp="1"/>
          </p:cNvSpPr>
          <p:nvPr>
            <p:ph type="subTitle" idx="4294967295"/>
          </p:nvPr>
        </p:nvSpPr>
        <p:spPr>
          <a:xfrm>
            <a:off x="711200" y="2154252"/>
            <a:ext cx="7772400" cy="1389047"/>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3600" dirty="0" smtClean="0">
                <a:solidFill>
                  <a:srgbClr val="FFFFFF"/>
                </a:solidFill>
                <a:latin typeface="+mn-lt"/>
              </a:rPr>
              <a:t>2.4 Thuật toán ghi âm audio sử dụng  phương pháp phát hiện tiếng nói</a:t>
            </a:r>
            <a:endParaRPr sz="3600" dirty="0">
              <a:solidFill>
                <a:srgbClr val="FFFFFF"/>
              </a:solidFill>
              <a:latin typeface="+mn-lt"/>
            </a:endParaRPr>
          </a:p>
        </p:txBody>
      </p:sp>
      <p:sp>
        <p:nvSpPr>
          <p:cNvPr id="346" name="Google Shape;346;p28"/>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22</a:t>
            </a:fld>
            <a:endParaRPr/>
          </a:p>
        </p:txBody>
      </p:sp>
    </p:spTree>
    <p:extLst>
      <p:ext uri="{BB962C8B-B14F-4D97-AF65-F5344CB8AC3E}">
        <p14:creationId xmlns:p14="http://schemas.microsoft.com/office/powerpoint/2010/main" val="28249422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23</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Sơ lược về giải thuật   </a:t>
            </a: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cxnSp>
        <p:nvCxnSpPr>
          <p:cNvPr id="6" name="Straight Arrow Connector 5"/>
          <p:cNvCxnSpPr/>
          <p:nvPr/>
        </p:nvCxnSpPr>
        <p:spPr>
          <a:xfrm>
            <a:off x="2353491" y="2836692"/>
            <a:ext cx="5162550" cy="2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3725090" y="2410453"/>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 name="Rectangle 10"/>
          <p:cNvSpPr/>
          <p:nvPr/>
        </p:nvSpPr>
        <p:spPr>
          <a:xfrm>
            <a:off x="4001315" y="2410453"/>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0</a:t>
            </a:r>
            <a:endParaRPr lang="en-US" dirty="0"/>
          </a:p>
        </p:txBody>
      </p:sp>
      <p:sp>
        <p:nvSpPr>
          <p:cNvPr id="12" name="Rectangle 11"/>
          <p:cNvSpPr/>
          <p:nvPr/>
        </p:nvSpPr>
        <p:spPr>
          <a:xfrm>
            <a:off x="4277540" y="2410453"/>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3" name="Rectangle 12"/>
          <p:cNvSpPr/>
          <p:nvPr/>
        </p:nvSpPr>
        <p:spPr>
          <a:xfrm>
            <a:off x="4553765" y="2410452"/>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4" name="Rectangle 13"/>
          <p:cNvSpPr/>
          <p:nvPr/>
        </p:nvSpPr>
        <p:spPr>
          <a:xfrm>
            <a:off x="4829990" y="2410451"/>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5" name="Rectangle 14"/>
          <p:cNvSpPr/>
          <p:nvPr/>
        </p:nvSpPr>
        <p:spPr>
          <a:xfrm>
            <a:off x="5106215" y="2410451"/>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6" name="Rectangle 15"/>
          <p:cNvSpPr/>
          <p:nvPr/>
        </p:nvSpPr>
        <p:spPr>
          <a:xfrm>
            <a:off x="5382440" y="2410449"/>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7" name="Rectangle 16"/>
          <p:cNvSpPr/>
          <p:nvPr/>
        </p:nvSpPr>
        <p:spPr>
          <a:xfrm>
            <a:off x="5658665" y="2410449"/>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8" name="Rectangle 17"/>
          <p:cNvSpPr/>
          <p:nvPr/>
        </p:nvSpPr>
        <p:spPr>
          <a:xfrm>
            <a:off x="5939651" y="2410449"/>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9" name="Rectangle 18"/>
          <p:cNvSpPr/>
          <p:nvPr/>
        </p:nvSpPr>
        <p:spPr>
          <a:xfrm>
            <a:off x="6220637" y="2410449"/>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0</a:t>
            </a:r>
            <a:endParaRPr lang="en-US" dirty="0"/>
          </a:p>
        </p:txBody>
      </p:sp>
      <p:sp>
        <p:nvSpPr>
          <p:cNvPr id="20" name="Rectangle 19"/>
          <p:cNvSpPr/>
          <p:nvPr/>
        </p:nvSpPr>
        <p:spPr>
          <a:xfrm>
            <a:off x="2620190" y="2410449"/>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0</a:t>
            </a:r>
            <a:endParaRPr lang="en-US" dirty="0"/>
          </a:p>
        </p:txBody>
      </p:sp>
      <p:sp>
        <p:nvSpPr>
          <p:cNvPr id="21" name="Rectangle 20"/>
          <p:cNvSpPr/>
          <p:nvPr/>
        </p:nvSpPr>
        <p:spPr>
          <a:xfrm>
            <a:off x="2886893" y="2410449"/>
            <a:ext cx="276225"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0</a:t>
            </a:r>
            <a:endParaRPr lang="en-US" dirty="0"/>
          </a:p>
        </p:txBody>
      </p:sp>
      <p:sp>
        <p:nvSpPr>
          <p:cNvPr id="22" name="Left Brace 21"/>
          <p:cNvSpPr/>
          <p:nvPr/>
        </p:nvSpPr>
        <p:spPr>
          <a:xfrm rot="16200000">
            <a:off x="4917937" y="1740841"/>
            <a:ext cx="386080" cy="277177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3917055" y="3382000"/>
            <a:ext cx="2441694" cy="307777"/>
          </a:xfrm>
          <a:prstGeom prst="rect">
            <a:avLst/>
          </a:prstGeom>
          <a:noFill/>
        </p:spPr>
        <p:txBody>
          <a:bodyPr wrap="none" rtlCol="0">
            <a:spAutoFit/>
          </a:bodyPr>
          <a:lstStyle/>
          <a:p>
            <a:r>
              <a:rPr lang="en-US" sz="1400" dirty="0" smtClean="0">
                <a:latin typeface="Arial" panose="020B0604020202020204" pitchFamily="34" charset="0"/>
                <a:cs typeface="Arial" panose="020B0604020202020204" pitchFamily="34" charset="0"/>
              </a:rPr>
              <a:t>90% số frame là tiếng người</a:t>
            </a:r>
            <a:endParaRPr lang="en-US" sz="1400" dirty="0">
              <a:latin typeface="Arial" panose="020B0604020202020204" pitchFamily="34" charset="0"/>
              <a:cs typeface="Arial" panose="020B0604020202020204" pitchFamily="34" charset="0"/>
            </a:endParaRPr>
          </a:p>
        </p:txBody>
      </p:sp>
      <p:sp>
        <p:nvSpPr>
          <p:cNvPr id="24" name="TextBox 23"/>
          <p:cNvSpPr txBox="1"/>
          <p:nvPr/>
        </p:nvSpPr>
        <p:spPr>
          <a:xfrm>
            <a:off x="7104627" y="2912716"/>
            <a:ext cx="575542" cy="307777"/>
          </a:xfrm>
          <a:prstGeom prst="rect">
            <a:avLst/>
          </a:prstGeom>
          <a:noFill/>
        </p:spPr>
        <p:txBody>
          <a:bodyPr wrap="none" rtlCol="0">
            <a:spAutoFit/>
          </a:bodyPr>
          <a:lstStyle/>
          <a:p>
            <a:r>
              <a:rPr lang="en-US" sz="1400" dirty="0" smtClean="0">
                <a:latin typeface="Arial" panose="020B0604020202020204" pitchFamily="34" charset="0"/>
                <a:cs typeface="Arial" panose="020B0604020202020204" pitchFamily="34" charset="0"/>
              </a:rPr>
              <a:t>Time</a:t>
            </a:r>
            <a:endParaRPr lang="en-US" sz="1400" dirty="0">
              <a:latin typeface="Arial" panose="020B0604020202020204" pitchFamily="34" charset="0"/>
              <a:cs typeface="Arial" panose="020B0604020202020204" pitchFamily="34" charset="0"/>
            </a:endParaRPr>
          </a:p>
        </p:txBody>
      </p:sp>
      <p:sp>
        <p:nvSpPr>
          <p:cNvPr id="25" name="Rounded Rectangle 24"/>
          <p:cNvSpPr/>
          <p:nvPr/>
        </p:nvSpPr>
        <p:spPr>
          <a:xfrm>
            <a:off x="1248587" y="3126727"/>
            <a:ext cx="1309689" cy="6972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Thuật toán</a:t>
            </a:r>
          </a:p>
          <a:p>
            <a:pPr algn="ctr"/>
            <a:r>
              <a:rPr lang="en-US" sz="1400" dirty="0" smtClean="0">
                <a:latin typeface="Arial" panose="020B0604020202020204" pitchFamily="34" charset="0"/>
                <a:cs typeface="Arial" panose="020B0604020202020204" pitchFamily="34" charset="0"/>
              </a:rPr>
              <a:t>Webrtcvad</a:t>
            </a:r>
            <a:endParaRPr lang="en-US" sz="1400" dirty="0">
              <a:latin typeface="Arial" panose="020B0604020202020204" pitchFamily="34" charset="0"/>
              <a:cs typeface="Arial" panose="020B0604020202020204" pitchFamily="34" charset="0"/>
            </a:endParaRPr>
          </a:p>
        </p:txBody>
      </p:sp>
      <p:cxnSp>
        <p:nvCxnSpPr>
          <p:cNvPr id="26" name="Straight Arrow Connector 25"/>
          <p:cNvCxnSpPr>
            <a:stCxn id="25" idx="3"/>
            <a:endCxn id="21" idx="2"/>
          </p:cNvCxnSpPr>
          <p:nvPr/>
        </p:nvCxnSpPr>
        <p:spPr>
          <a:xfrm flipV="1">
            <a:off x="2558276" y="2839074"/>
            <a:ext cx="466730" cy="636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5" idx="3"/>
            <a:endCxn id="7" idx="2"/>
          </p:cNvCxnSpPr>
          <p:nvPr/>
        </p:nvCxnSpPr>
        <p:spPr>
          <a:xfrm flipV="1">
            <a:off x="2558276" y="2839078"/>
            <a:ext cx="1304927" cy="636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20" idx="1"/>
          </p:cNvCxnSpPr>
          <p:nvPr/>
        </p:nvCxnSpPr>
        <p:spPr>
          <a:xfrm>
            <a:off x="2055651" y="2623571"/>
            <a:ext cx="564539" cy="1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490294" y="2446116"/>
            <a:ext cx="636709"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frame</a:t>
            </a:r>
            <a:endParaRPr lang="en-US" sz="1400" dirty="0">
              <a:latin typeface="Arial" panose="020B0604020202020204" pitchFamily="34" charset="0"/>
              <a:cs typeface="Arial" panose="020B0604020202020204" pitchFamily="34" charset="0"/>
            </a:endParaRPr>
          </a:p>
        </p:txBody>
      </p:sp>
      <p:cxnSp>
        <p:nvCxnSpPr>
          <p:cNvPr id="30" name="Straight Arrow Connector 29"/>
          <p:cNvCxnSpPr>
            <a:endCxn id="12" idx="0"/>
          </p:cNvCxnSpPr>
          <p:nvPr/>
        </p:nvCxnSpPr>
        <p:spPr>
          <a:xfrm>
            <a:off x="3929963" y="2124545"/>
            <a:ext cx="485690" cy="285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364606" y="1947090"/>
            <a:ext cx="636709"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frame</a:t>
            </a:r>
            <a:endParaRPr lang="en-US" sz="1400" dirty="0">
              <a:latin typeface="Arial" panose="020B0604020202020204" pitchFamily="34" charset="0"/>
              <a:cs typeface="Arial" panose="020B0604020202020204" pitchFamily="34" charset="0"/>
            </a:endParaRPr>
          </a:p>
        </p:txBody>
      </p:sp>
      <p:sp>
        <p:nvSpPr>
          <p:cNvPr id="5" name="Rounded Rectangular Callout 4"/>
          <p:cNvSpPr/>
          <p:nvPr/>
        </p:nvSpPr>
        <p:spPr>
          <a:xfrm>
            <a:off x="1248587" y="1154733"/>
            <a:ext cx="1893651" cy="882882"/>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Quá trình ghi âm audio sẽ được tổng hợp thông qua các frame</a:t>
            </a:r>
            <a:endParaRPr lang="en-US" dirty="0"/>
          </a:p>
        </p:txBody>
      </p:sp>
      <p:sp>
        <p:nvSpPr>
          <p:cNvPr id="32" name="Cloud Callout 31"/>
          <p:cNvSpPr/>
          <p:nvPr/>
        </p:nvSpPr>
        <p:spPr>
          <a:xfrm>
            <a:off x="6358749" y="873580"/>
            <a:ext cx="2156535" cy="1276136"/>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Cần có một cơ chế để nhận biết khi nào có tiếng nói</a:t>
            </a:r>
            <a:endParaRPr lang="en-US" dirty="0"/>
          </a:p>
        </p:txBody>
      </p:sp>
      <p:sp>
        <p:nvSpPr>
          <p:cNvPr id="34" name="Rounded Rectangle 33"/>
          <p:cNvSpPr/>
          <p:nvPr/>
        </p:nvSpPr>
        <p:spPr>
          <a:xfrm>
            <a:off x="2904073" y="3926215"/>
            <a:ext cx="1309689" cy="6972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Thời điểm bắt đầu có tiếng nói</a:t>
            </a:r>
          </a:p>
        </p:txBody>
      </p:sp>
      <p:cxnSp>
        <p:nvCxnSpPr>
          <p:cNvPr id="35" name="Straight Arrow Connector 34"/>
          <p:cNvCxnSpPr>
            <a:endCxn id="7" idx="2"/>
          </p:cNvCxnSpPr>
          <p:nvPr/>
        </p:nvCxnSpPr>
        <p:spPr>
          <a:xfrm flipV="1">
            <a:off x="3548638" y="2839078"/>
            <a:ext cx="314565" cy="1072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165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circle(in)">
                                      <p:cBhvr>
                                        <p:cTn id="10" dur="2000"/>
                                        <p:tgtEl>
                                          <p:spTgt spid="29"/>
                                        </p:tgtEl>
                                      </p:cBhvr>
                                    </p:animEffect>
                                  </p:childTnLst>
                                </p:cTn>
                              </p:par>
                              <p:par>
                                <p:cTn id="11" presetID="6" presetClass="entr" presetSubtype="16"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circle(in)">
                                      <p:cBhvr>
                                        <p:cTn id="13" dur="2000"/>
                                        <p:tgtEl>
                                          <p:spTgt spid="28"/>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circle(in)">
                                      <p:cBhvr>
                                        <p:cTn id="16" dur="2000"/>
                                        <p:tgtEl>
                                          <p:spTgt spid="31"/>
                                        </p:tgtEl>
                                      </p:cBhvr>
                                    </p:animEffect>
                                  </p:childTnLst>
                                </p:cTn>
                              </p:par>
                              <p:par>
                                <p:cTn id="17" presetID="6" presetClass="entr" presetSubtype="16"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circle(in)">
                                      <p:cBhvr>
                                        <p:cTn id="19" dur="2000"/>
                                        <p:tgtEl>
                                          <p:spTgt spid="30"/>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barn(inVertical)">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circle(in)">
                                      <p:cBhvr>
                                        <p:cTn id="29" dur="2000"/>
                                        <p:tgtEl>
                                          <p:spTgt spid="25"/>
                                        </p:tgtEl>
                                      </p:cBhvr>
                                    </p:animEffect>
                                  </p:childTnLst>
                                </p:cTn>
                              </p:par>
                              <p:par>
                                <p:cTn id="30" presetID="6" presetClass="entr" presetSubtype="16"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circle(in)">
                                      <p:cBhvr>
                                        <p:cTn id="32" dur="2000"/>
                                        <p:tgtEl>
                                          <p:spTgt spid="26"/>
                                        </p:tgtEl>
                                      </p:cBhvr>
                                    </p:animEffect>
                                  </p:childTnLst>
                                </p:cTn>
                              </p:par>
                              <p:par>
                                <p:cTn id="33" presetID="6" presetClass="entr" presetSubtype="16"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circle(in)">
                                      <p:cBhvr>
                                        <p:cTn id="35" dur="20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circle(in)">
                                      <p:cBhvr>
                                        <p:cTn id="40" dur="2000"/>
                                        <p:tgtEl>
                                          <p:spTgt spid="35"/>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circle(in)">
                                      <p:cBhvr>
                                        <p:cTn id="43" dur="2000"/>
                                        <p:tgtEl>
                                          <p:spTgt spid="34"/>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barn(inVertical)">
                                      <p:cBhvr>
                                        <p:cTn id="48" dur="500"/>
                                        <p:tgtEl>
                                          <p:spTgt spid="22"/>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barn(inVertical)">
                                      <p:cBhvr>
                                        <p:cTn id="5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5" grpId="0" animBg="1"/>
      <p:bldP spid="29" grpId="0"/>
      <p:bldP spid="31" grpId="0"/>
      <p:bldP spid="5" grpId="0" animBg="1"/>
      <p:bldP spid="32" grpId="0" animBg="1"/>
      <p:bldP spid="3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5" name="Google Shape;345;p28"/>
          <p:cNvSpPr txBox="1">
            <a:spLocks noGrp="1"/>
          </p:cNvSpPr>
          <p:nvPr>
            <p:ph type="subTitle" idx="4294967295"/>
          </p:nvPr>
        </p:nvSpPr>
        <p:spPr>
          <a:xfrm>
            <a:off x="711200" y="2154252"/>
            <a:ext cx="7772400" cy="1389047"/>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3600" dirty="0" smtClean="0">
                <a:solidFill>
                  <a:srgbClr val="FFFFFF"/>
                </a:solidFill>
                <a:latin typeface="+mn-lt"/>
              </a:rPr>
              <a:t>2.5 Đưa mô hình lên thiết bị</a:t>
            </a:r>
            <a:endParaRPr sz="3600" dirty="0">
              <a:solidFill>
                <a:srgbClr val="FFFFFF"/>
              </a:solidFill>
              <a:latin typeface="+mn-lt"/>
            </a:endParaRPr>
          </a:p>
        </p:txBody>
      </p:sp>
      <p:sp>
        <p:nvSpPr>
          <p:cNvPr id="346" name="Google Shape;346;p28"/>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24</a:t>
            </a:fld>
            <a:endParaRPr/>
          </a:p>
        </p:txBody>
      </p:sp>
    </p:spTree>
    <p:extLst>
      <p:ext uri="{BB962C8B-B14F-4D97-AF65-F5344CB8AC3E}">
        <p14:creationId xmlns:p14="http://schemas.microsoft.com/office/powerpoint/2010/main" val="2462464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25</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Giới thiệu về JETSON NANO   </a:t>
            </a: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pic>
        <p:nvPicPr>
          <p:cNvPr id="33" name="Picture 32"/>
          <p:cNvPicPr/>
          <p:nvPr/>
        </p:nvPicPr>
        <p:blipFill>
          <a:blip r:embed="rId3">
            <a:extLst>
              <a:ext uri="{28A0092B-C50C-407E-A947-70E740481C1C}">
                <a14:useLocalDpi xmlns:a14="http://schemas.microsoft.com/office/drawing/2010/main" val="0"/>
              </a:ext>
            </a:extLst>
          </a:blip>
          <a:stretch>
            <a:fillRect/>
          </a:stretch>
        </p:blipFill>
        <p:spPr>
          <a:xfrm>
            <a:off x="4662791" y="933855"/>
            <a:ext cx="4203735" cy="2154021"/>
          </a:xfrm>
          <a:prstGeom prst="rect">
            <a:avLst/>
          </a:prstGeom>
        </p:spPr>
      </p:pic>
      <p:sp>
        <p:nvSpPr>
          <p:cNvPr id="36" name="Google Shape;192;p20"/>
          <p:cNvSpPr txBox="1">
            <a:spLocks/>
          </p:cNvSpPr>
          <p:nvPr/>
        </p:nvSpPr>
        <p:spPr>
          <a:xfrm>
            <a:off x="551449" y="769087"/>
            <a:ext cx="3994611" cy="337612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spcBef>
                <a:spcPts val="600"/>
              </a:spcBef>
              <a:buFont typeface="Arial" panose="020B0604020202020204" pitchFamily="34" charset="0"/>
              <a:buChar char="•"/>
            </a:pPr>
            <a:r>
              <a:rPr lang="en-US" sz="1600" dirty="0">
                <a:latin typeface="Arial" panose="020B0604020202020204" pitchFamily="34" charset="0"/>
                <a:cs typeface="Arial" panose="020B0604020202020204" pitchFamily="34" charset="0"/>
              </a:rPr>
              <a:t>JETSON </a:t>
            </a:r>
            <a:r>
              <a:rPr lang="en-US" sz="1600" dirty="0" smtClean="0">
                <a:latin typeface="Arial" panose="020B0604020202020204" pitchFamily="34" charset="0"/>
                <a:cs typeface="Arial" panose="020B0604020202020204" pitchFamily="34" charset="0"/>
              </a:rPr>
              <a:t>NANO </a:t>
            </a:r>
            <a:r>
              <a:rPr lang="en-US" sz="1600" dirty="0">
                <a:latin typeface="Arial" panose="020B0604020202020204" pitchFamily="34" charset="0"/>
                <a:cs typeface="Arial" panose="020B0604020202020204" pitchFamily="34" charset="0"/>
              </a:rPr>
              <a:t>là một thiết bị thông minh IOT có CPU, RAM và GPU riêng biệt. </a:t>
            </a:r>
          </a:p>
          <a:p>
            <a:pPr marL="285750" indent="-285750">
              <a:spcBef>
                <a:spcPts val="600"/>
              </a:spcBef>
              <a:buFont typeface="Arial" panose="020B0604020202020204" pitchFamily="34" charset="0"/>
              <a:buChar char="•"/>
            </a:pPr>
            <a:r>
              <a:rPr lang="vi-VN" sz="1600" dirty="0"/>
              <a:t>Rất thích hợp cho việc chạy các hệ thống xử lý ảnh, nhận diện giọng nói yêu cầu tài nguyên </a:t>
            </a:r>
            <a:r>
              <a:rPr lang="vi-VN" sz="1600" dirty="0" smtClean="0"/>
              <a:t>thấp</a:t>
            </a:r>
            <a:r>
              <a:rPr lang="en-US" sz="1600" smtClean="0"/>
              <a:t>.</a:t>
            </a:r>
            <a:endParaRPr lang="en-US" sz="1600" dirty="0" smtClean="0"/>
          </a:p>
        </p:txBody>
      </p:sp>
    </p:spTree>
    <p:extLst>
      <p:ext uri="{BB962C8B-B14F-4D97-AF65-F5344CB8AC3E}">
        <p14:creationId xmlns:p14="http://schemas.microsoft.com/office/powerpoint/2010/main" val="344173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barn(inVertical)">
                                      <p:cBhvr>
                                        <p:cTn id="7" dur="500"/>
                                        <p:tgtEl>
                                          <p:spTgt spid="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6">
                                            <p:txEl>
                                              <p:pRg st="1" end="1"/>
                                            </p:txEl>
                                          </p:spTgt>
                                        </p:tgtEl>
                                        <p:attrNameLst>
                                          <p:attrName>style.visibility</p:attrName>
                                        </p:attrNameLst>
                                      </p:cBhvr>
                                      <p:to>
                                        <p:strVal val="visible"/>
                                      </p:to>
                                    </p:set>
                                    <p:animEffect transition="in" filter="barn(inVertical)">
                                      <p:cBhvr>
                                        <p:cTn id="12" dur="500"/>
                                        <p:tgtEl>
                                          <p:spTgt spid="3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26</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Phương pháp đưa mô hình lên thiết bị</a:t>
            </a:r>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3" name="Google Shape;370;p30"/>
          <p:cNvSpPr/>
          <p:nvPr/>
        </p:nvSpPr>
        <p:spPr>
          <a:xfrm>
            <a:off x="1085476" y="1751987"/>
            <a:ext cx="2731800" cy="2010900"/>
          </a:xfrm>
          <a:prstGeom prst="homePlate">
            <a:avLst>
              <a:gd name="adj" fmla="val 30129"/>
            </a:avLst>
          </a:prstGeom>
          <a:solidFill>
            <a:srgbClr val="94BF6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smtClean="0">
                <a:solidFill>
                  <a:srgbClr val="FFFFFF"/>
                </a:solidFill>
                <a:latin typeface="+mn-lt"/>
                <a:ea typeface="Nixie One"/>
                <a:cs typeface="Nixie One"/>
                <a:sym typeface="Nixie One"/>
              </a:rPr>
              <a:t>Mô hình được huấn luyện trên máy tính cá nhân</a:t>
            </a:r>
            <a:endParaRPr sz="1200" b="1" dirty="0">
              <a:solidFill>
                <a:srgbClr val="FFFFFF"/>
              </a:solidFill>
              <a:latin typeface="+mn-lt"/>
              <a:ea typeface="Nixie One"/>
              <a:cs typeface="Nixie One"/>
              <a:sym typeface="Nixie One"/>
            </a:endParaRPr>
          </a:p>
        </p:txBody>
      </p:sp>
      <p:sp>
        <p:nvSpPr>
          <p:cNvPr id="36" name="Google Shape;371;p30"/>
          <p:cNvSpPr/>
          <p:nvPr/>
        </p:nvSpPr>
        <p:spPr>
          <a:xfrm>
            <a:off x="3294989" y="1751987"/>
            <a:ext cx="2784000" cy="2010900"/>
          </a:xfrm>
          <a:prstGeom prst="chevron">
            <a:avLst>
              <a:gd name="adj" fmla="val 29853"/>
            </a:avLst>
          </a:prstGeom>
          <a:solidFill>
            <a:srgbClr val="3B8D6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smtClean="0">
                <a:solidFill>
                  <a:srgbClr val="FFFFFF"/>
                </a:solidFill>
                <a:latin typeface="+mn-lt"/>
                <a:ea typeface="Nixie One"/>
                <a:cs typeface="Nixie One"/>
                <a:sym typeface="Nixie One"/>
              </a:rPr>
              <a:t>Công cụ </a:t>
            </a:r>
          </a:p>
          <a:p>
            <a:pPr marL="0" lvl="0" indent="0" algn="ctr" rtl="0">
              <a:spcBef>
                <a:spcPts val="0"/>
              </a:spcBef>
              <a:spcAft>
                <a:spcPts val="0"/>
              </a:spcAft>
              <a:buNone/>
            </a:pPr>
            <a:r>
              <a:rPr lang="en-US" sz="1200" b="1" dirty="0">
                <a:solidFill>
                  <a:srgbClr val="FFFFFF"/>
                </a:solidFill>
                <a:latin typeface="+mn-lt"/>
                <a:ea typeface="Nixie One"/>
                <a:cs typeface="Nixie One"/>
                <a:sym typeface="Nixie One"/>
              </a:rPr>
              <a:t>t</a:t>
            </a:r>
            <a:r>
              <a:rPr lang="en" sz="1200" b="1" dirty="0" smtClean="0">
                <a:solidFill>
                  <a:srgbClr val="FFFFFF"/>
                </a:solidFill>
                <a:latin typeface="+mn-lt"/>
                <a:ea typeface="Nixie One"/>
                <a:cs typeface="Nixie One"/>
                <a:sym typeface="Nixie One"/>
              </a:rPr>
              <a:t>flite-converter</a:t>
            </a:r>
            <a:endParaRPr sz="1200" b="1" dirty="0">
              <a:solidFill>
                <a:srgbClr val="FFFFFF"/>
              </a:solidFill>
              <a:latin typeface="+mn-lt"/>
              <a:ea typeface="Nixie One"/>
              <a:cs typeface="Nixie One"/>
              <a:sym typeface="Nixie One"/>
            </a:endParaRPr>
          </a:p>
        </p:txBody>
      </p:sp>
      <p:sp>
        <p:nvSpPr>
          <p:cNvPr id="37" name="Google Shape;372;p30"/>
          <p:cNvSpPr/>
          <p:nvPr/>
        </p:nvSpPr>
        <p:spPr>
          <a:xfrm>
            <a:off x="5557035" y="1751987"/>
            <a:ext cx="2784000" cy="2010900"/>
          </a:xfrm>
          <a:prstGeom prst="chevron">
            <a:avLst>
              <a:gd name="adj" fmla="val 29853"/>
            </a:avLst>
          </a:prstGeom>
          <a:solidFill>
            <a:srgbClr val="16575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smtClean="0">
                <a:solidFill>
                  <a:srgbClr val="FFFFFF"/>
                </a:solidFill>
                <a:latin typeface="+mn-lt"/>
                <a:ea typeface="Nixie One"/>
                <a:cs typeface="Nixie One"/>
                <a:sym typeface="Nixie One"/>
              </a:rPr>
              <a:t>Đưa mô hình lên thiết bị</a:t>
            </a:r>
            <a:endParaRPr sz="1200" b="1" dirty="0">
              <a:solidFill>
                <a:srgbClr val="FFFFFF"/>
              </a:solidFill>
              <a:latin typeface="+mn-lt"/>
              <a:ea typeface="Nixie One"/>
              <a:cs typeface="Nixie One"/>
              <a:sym typeface="Nixie One"/>
            </a:endParaRPr>
          </a:p>
        </p:txBody>
      </p:sp>
    </p:spTree>
    <p:extLst>
      <p:ext uri="{BB962C8B-B14F-4D97-AF65-F5344CB8AC3E}">
        <p14:creationId xmlns:p14="http://schemas.microsoft.com/office/powerpoint/2010/main" val="197688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inVertical)">
                                      <p:cBhvr>
                                        <p:cTn id="7" dur="500"/>
                                        <p:tgtEl>
                                          <p:spTgt spid="3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barn(inVertical)">
                                      <p:cBhvr>
                                        <p:cTn id="10" dur="500"/>
                                        <p:tgtEl>
                                          <p:spTgt spid="3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barn(inVertical)">
                                      <p:cBhvr>
                                        <p:cTn id="1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 grpId="0" animBg="1"/>
      <p:bldP spid="3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ctrTitle"/>
          </p:nvPr>
        </p:nvSpPr>
        <p:spPr>
          <a:xfrm>
            <a:off x="4113599" y="2878750"/>
            <a:ext cx="4822295"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smtClean="0"/>
              <a:t>KẾT QUẢ ĐẠT ĐƯỢC</a:t>
            </a:r>
            <a:endParaRPr dirty="0"/>
          </a:p>
        </p:txBody>
      </p:sp>
      <p:sp>
        <p:nvSpPr>
          <p:cNvPr id="148" name="Google Shape;148;p16"/>
          <p:cNvSpPr txBox="1"/>
          <p:nvPr/>
        </p:nvSpPr>
        <p:spPr>
          <a:xfrm>
            <a:off x="0" y="503350"/>
            <a:ext cx="3471300" cy="381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0" dirty="0">
                <a:solidFill>
                  <a:srgbClr val="18637B"/>
                </a:solidFill>
                <a:latin typeface="Roboto Slab"/>
                <a:ea typeface="Roboto Slab"/>
                <a:cs typeface="Roboto Slab"/>
                <a:sym typeface="Roboto Slab"/>
              </a:rPr>
              <a:t>3</a:t>
            </a:r>
            <a:endParaRPr sz="20000" dirty="0">
              <a:solidFill>
                <a:srgbClr val="18637B"/>
              </a:solidFill>
              <a:latin typeface="Roboto Slab"/>
              <a:ea typeface="Roboto Slab"/>
              <a:cs typeface="Roboto Slab"/>
              <a:sym typeface="Roboto Slab"/>
            </a:endParaRPr>
          </a:p>
        </p:txBody>
      </p:sp>
      <p:sp>
        <p:nvSpPr>
          <p:cNvPr id="149" name="Google Shape;149;p16"/>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27</a:t>
            </a:fld>
            <a:endParaRPr/>
          </a:p>
        </p:txBody>
      </p:sp>
    </p:spTree>
    <p:extLst>
      <p:ext uri="{BB962C8B-B14F-4D97-AF65-F5344CB8AC3E}">
        <p14:creationId xmlns:p14="http://schemas.microsoft.com/office/powerpoint/2010/main" val="41684094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28</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Độ chính xác của mô hình nhận diện   </a:t>
            </a: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3" name="Content Placeholder 2">
            <a:extLst>
              <a:ext uri="{FF2B5EF4-FFF2-40B4-BE49-F238E27FC236}">
                <a16:creationId xmlns:a16="http://schemas.microsoft.com/office/drawing/2014/main" id="{94FCD40A-3966-4A34-9C0B-D77E62DE05CF}"/>
              </a:ext>
            </a:extLst>
          </p:cNvPr>
          <p:cNvSpPr txBox="1">
            <a:spLocks/>
          </p:cNvSpPr>
          <p:nvPr/>
        </p:nvSpPr>
        <p:spPr>
          <a:xfrm>
            <a:off x="559320" y="859817"/>
            <a:ext cx="8377576" cy="1031367"/>
          </a:xfrm>
          <a:prstGeom prst="rect">
            <a:avLst/>
          </a:prstGeom>
        </p:spPr>
        <p:txBody>
          <a:bodyPr>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smtClean="0">
                <a:latin typeface="Arial" panose="020B0604020202020204" pitchFamily="34" charset="0"/>
                <a:cs typeface="Arial" panose="020B0604020202020204" pitchFamily="34" charset="0"/>
              </a:rPr>
              <a:t>Không làm giàu dữ liệu	</a:t>
            </a:r>
            <a:r>
              <a:rPr lang="en-US" b="1" dirty="0" smtClean="0">
                <a:latin typeface="Arial" panose="020B0604020202020204" pitchFamily="34" charset="0"/>
                <a:cs typeface="Arial" panose="020B0604020202020204" pitchFamily="34" charset="0"/>
              </a:rPr>
              <a:t>DS1: </a:t>
            </a:r>
            <a:r>
              <a:rPr lang="en-US" dirty="0" smtClean="0">
                <a:latin typeface="Arial" panose="020B0604020202020204" pitchFamily="34" charset="0"/>
                <a:cs typeface="Arial" panose="020B0604020202020204" pitchFamily="34" charset="0"/>
              </a:rPr>
              <a:t>Sử dùng 100% dữ liệu trong tập training để huấn luyện</a:t>
            </a:r>
          </a:p>
          <a:p>
            <a:r>
              <a:rPr lang="en-US" sz="2400" b="1" dirty="0" smtClean="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DS2: </a:t>
            </a:r>
            <a:r>
              <a:rPr lang="en-US" dirty="0" smtClean="0">
                <a:latin typeface="Arial" panose="020B0604020202020204" pitchFamily="34" charset="0"/>
                <a:cs typeface="Arial" panose="020B0604020202020204" pitchFamily="34" charset="0"/>
              </a:rPr>
              <a:t>Sử dụng 50% dữ liệu trong tập training để huấn luyện</a:t>
            </a:r>
            <a:endParaRPr lang="en-US" sz="2400" dirty="0">
              <a:latin typeface="Arial" panose="020B0604020202020204" pitchFamily="34" charset="0"/>
              <a:cs typeface="Arial" panose="020B0604020202020204" pitchFamily="34" charset="0"/>
            </a:endParaRPr>
          </a:p>
        </p:txBody>
      </p:sp>
      <p:graphicFrame>
        <p:nvGraphicFramePr>
          <p:cNvPr id="36" name="Table 35"/>
          <p:cNvGraphicFramePr>
            <a:graphicFrameLocks noGrp="1"/>
          </p:cNvGraphicFramePr>
          <p:nvPr>
            <p:extLst>
              <p:ext uri="{D42A27DB-BD31-4B8C-83A1-F6EECF244321}">
                <p14:modId xmlns:p14="http://schemas.microsoft.com/office/powerpoint/2010/main" val="3586374203"/>
              </p:ext>
            </p:extLst>
          </p:nvPr>
        </p:nvGraphicFramePr>
        <p:xfrm>
          <a:off x="1318342" y="1733691"/>
          <a:ext cx="6859531" cy="3085709"/>
        </p:xfrm>
        <a:graphic>
          <a:graphicData uri="http://schemas.openxmlformats.org/drawingml/2006/table">
            <a:tbl>
              <a:tblPr firstRow="1" firstCol="1" bandRow="1">
                <a:tableStyleId>{5C22544A-7EE6-4342-B048-85BDC9FD1C3A}</a:tableStyleId>
              </a:tblPr>
              <a:tblGrid>
                <a:gridCol w="1142344">
                  <a:extLst>
                    <a:ext uri="{9D8B030D-6E8A-4147-A177-3AD203B41FA5}">
                      <a16:colId xmlns:a16="http://schemas.microsoft.com/office/drawing/2014/main" val="4120418384"/>
                    </a:ext>
                  </a:extLst>
                </a:gridCol>
                <a:gridCol w="1142344">
                  <a:extLst>
                    <a:ext uri="{9D8B030D-6E8A-4147-A177-3AD203B41FA5}">
                      <a16:colId xmlns:a16="http://schemas.microsoft.com/office/drawing/2014/main" val="3974728063"/>
                    </a:ext>
                  </a:extLst>
                </a:gridCol>
                <a:gridCol w="1144531">
                  <a:extLst>
                    <a:ext uri="{9D8B030D-6E8A-4147-A177-3AD203B41FA5}">
                      <a16:colId xmlns:a16="http://schemas.microsoft.com/office/drawing/2014/main" val="799177594"/>
                    </a:ext>
                  </a:extLst>
                </a:gridCol>
                <a:gridCol w="1142344">
                  <a:extLst>
                    <a:ext uri="{9D8B030D-6E8A-4147-A177-3AD203B41FA5}">
                      <a16:colId xmlns:a16="http://schemas.microsoft.com/office/drawing/2014/main" val="2377389328"/>
                    </a:ext>
                  </a:extLst>
                </a:gridCol>
                <a:gridCol w="1142344">
                  <a:extLst>
                    <a:ext uri="{9D8B030D-6E8A-4147-A177-3AD203B41FA5}">
                      <a16:colId xmlns:a16="http://schemas.microsoft.com/office/drawing/2014/main" val="3530208183"/>
                    </a:ext>
                  </a:extLst>
                </a:gridCol>
                <a:gridCol w="1145624">
                  <a:extLst>
                    <a:ext uri="{9D8B030D-6E8A-4147-A177-3AD203B41FA5}">
                      <a16:colId xmlns:a16="http://schemas.microsoft.com/office/drawing/2014/main" val="1629548056"/>
                    </a:ext>
                  </a:extLst>
                </a:gridCol>
              </a:tblGrid>
              <a:tr h="823007">
                <a:tc gridSpan="3">
                  <a:txBody>
                    <a:bodyPr/>
                    <a:lstStyle/>
                    <a:p>
                      <a:pPr marL="0" marR="0" algn="ctr">
                        <a:lnSpc>
                          <a:spcPct val="110000"/>
                        </a:lnSpc>
                        <a:spcBef>
                          <a:spcPts val="0"/>
                        </a:spcBef>
                        <a:spcAft>
                          <a:spcPts val="0"/>
                        </a:spcAft>
                      </a:pPr>
                      <a:r>
                        <a:rPr lang="en-US" sz="1600" dirty="0" smtClean="0">
                          <a:solidFill>
                            <a:schemeClr val="tx1"/>
                          </a:solidFill>
                          <a:effectLst/>
                          <a:latin typeface="Arial" panose="020B0604020202020204" pitchFamily="34" charset="0"/>
                          <a:ea typeface="+mn-ea"/>
                          <a:cs typeface="Arial" panose="020B0604020202020204" pitchFamily="34" charset="0"/>
                        </a:rPr>
                        <a:t>MULTIHEAD-ATTENTION-RNN</a:t>
                      </a:r>
                      <a:endParaRPr lang="en-US" sz="16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gridSpan="3">
                  <a:txBody>
                    <a:bodyPr/>
                    <a:lstStyle/>
                    <a:p>
                      <a:pPr marL="0" marR="0" algn="ctr">
                        <a:lnSpc>
                          <a:spcPct val="110000"/>
                        </a:lnSpc>
                        <a:spcBef>
                          <a:spcPts val="0"/>
                        </a:spcBef>
                        <a:spcAft>
                          <a:spcPts val="0"/>
                        </a:spcAft>
                      </a:pPr>
                      <a:r>
                        <a:rPr lang="en-US" sz="1600" dirty="0" smtClean="0">
                          <a:solidFill>
                            <a:schemeClr val="tx1"/>
                          </a:solidFill>
                          <a:effectLst/>
                          <a:latin typeface="Arial" panose="020B0604020202020204" pitchFamily="34" charset="0"/>
                          <a:cs typeface="Arial" panose="020B0604020202020204" pitchFamily="34" charset="0"/>
                        </a:rPr>
                        <a:t>TC-RESNET</a:t>
                      </a:r>
                      <a:endParaRPr lang="en-US" sz="16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747175"/>
                  </a:ext>
                </a:extLst>
              </a:tr>
              <a:tr h="588108">
                <a:tc>
                  <a:txBody>
                    <a:bodyPr/>
                    <a:lstStyle/>
                    <a:p>
                      <a:pPr marL="0" marR="0" algn="ctr">
                        <a:lnSpc>
                          <a:spcPct val="110000"/>
                        </a:lnSpc>
                        <a:spcBef>
                          <a:spcPts val="300"/>
                        </a:spcBef>
                        <a:spcAft>
                          <a:spcPts val="0"/>
                        </a:spcAft>
                      </a:pPr>
                      <a:r>
                        <a:rPr lang="en-US" sz="1500" dirty="0">
                          <a:solidFill>
                            <a:schemeClr val="tx1"/>
                          </a:solidFill>
                          <a:effectLst/>
                          <a:latin typeface="Arial" panose="020B0604020202020204" pitchFamily="34" charset="0"/>
                          <a:cs typeface="Arial" panose="020B0604020202020204" pitchFamily="34" charset="0"/>
                        </a:rPr>
                        <a:t>Bộ dữ liệu</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Độ chính xác</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Điểm F1</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Bộ dữ liệu</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Độ chính xác</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Điểm F1</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4829660"/>
                  </a:ext>
                </a:extLst>
              </a:tr>
              <a:tr h="837297">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DS1</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95.72</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95.70</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300"/>
                        </a:spcBef>
                        <a:spcAft>
                          <a:spcPts val="0"/>
                        </a:spcAft>
                      </a:pPr>
                      <a:r>
                        <a:rPr lang="en-US" sz="1500" b="1"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DS1</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96.61</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96.62</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extLst>
                  <a:ext uri="{0D108BD9-81ED-4DB2-BD59-A6C34878D82A}">
                    <a16:rowId xmlns:a16="http://schemas.microsoft.com/office/drawing/2014/main" val="4137611294"/>
                  </a:ext>
                </a:extLst>
              </a:tr>
              <a:tr h="837297">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DS2</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92.34</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92.36</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b="1"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DS2</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93.76</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93.78</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4890951"/>
                  </a:ext>
                </a:extLst>
              </a:tr>
            </a:tbl>
          </a:graphicData>
        </a:graphic>
      </p:graphicFrame>
    </p:spTree>
    <p:extLst>
      <p:ext uri="{BB962C8B-B14F-4D97-AF65-F5344CB8AC3E}">
        <p14:creationId xmlns:p14="http://schemas.microsoft.com/office/powerpoint/2010/main" val="19480471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29</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Độ chính xác của mô hình nhận diện   </a:t>
            </a: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3" name="Content Placeholder 2">
            <a:extLst>
              <a:ext uri="{FF2B5EF4-FFF2-40B4-BE49-F238E27FC236}">
                <a16:creationId xmlns:a16="http://schemas.microsoft.com/office/drawing/2014/main" id="{94FCD40A-3966-4A34-9C0B-D77E62DE05CF}"/>
              </a:ext>
            </a:extLst>
          </p:cNvPr>
          <p:cNvSpPr txBox="1">
            <a:spLocks/>
          </p:cNvSpPr>
          <p:nvPr/>
        </p:nvSpPr>
        <p:spPr>
          <a:xfrm>
            <a:off x="559320" y="859817"/>
            <a:ext cx="8377576" cy="1031367"/>
          </a:xfrm>
          <a:prstGeom prst="rect">
            <a:avLst/>
          </a:prstGeom>
        </p:spPr>
        <p:txBody>
          <a:bodyPr>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Arial" panose="020B0604020202020204" pitchFamily="34" charset="0"/>
                <a:cs typeface="Arial" panose="020B0604020202020204" pitchFamily="34" charset="0"/>
              </a:rPr>
              <a:t>L</a:t>
            </a:r>
            <a:r>
              <a:rPr lang="en-US" sz="2400" b="1" dirty="0" smtClean="0">
                <a:latin typeface="Arial" panose="020B0604020202020204" pitchFamily="34" charset="0"/>
                <a:cs typeface="Arial" panose="020B0604020202020204" pitchFamily="34" charset="0"/>
              </a:rPr>
              <a:t>àm giàu dữ liệu		</a:t>
            </a:r>
            <a:r>
              <a:rPr lang="en-US" b="1" dirty="0" smtClean="0">
                <a:latin typeface="Arial" panose="020B0604020202020204" pitchFamily="34" charset="0"/>
                <a:cs typeface="Arial" panose="020B0604020202020204" pitchFamily="34" charset="0"/>
              </a:rPr>
              <a:t>DS1: </a:t>
            </a:r>
            <a:r>
              <a:rPr lang="en-US" dirty="0" smtClean="0">
                <a:latin typeface="Arial" panose="020B0604020202020204" pitchFamily="34" charset="0"/>
                <a:cs typeface="Arial" panose="020B0604020202020204" pitchFamily="34" charset="0"/>
              </a:rPr>
              <a:t>Sử dùng 100% dữ liệu trong tập training để huấn luyện</a:t>
            </a:r>
          </a:p>
          <a:p>
            <a:r>
              <a:rPr lang="en-US" sz="2400" b="1" dirty="0" smtClean="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DS2: </a:t>
            </a:r>
            <a:r>
              <a:rPr lang="en-US" dirty="0" smtClean="0">
                <a:latin typeface="Arial" panose="020B0604020202020204" pitchFamily="34" charset="0"/>
                <a:cs typeface="Arial" panose="020B0604020202020204" pitchFamily="34" charset="0"/>
              </a:rPr>
              <a:t>Sử dụng 50% dữ liệu trong tập training để huấn luyện</a:t>
            </a:r>
            <a:endParaRPr lang="en-US" sz="2400" dirty="0">
              <a:latin typeface="Arial" panose="020B0604020202020204" pitchFamily="34" charset="0"/>
              <a:cs typeface="Arial" panose="020B0604020202020204" pitchFamily="34" charset="0"/>
            </a:endParaRPr>
          </a:p>
        </p:txBody>
      </p:sp>
      <p:graphicFrame>
        <p:nvGraphicFramePr>
          <p:cNvPr id="36" name="Table 35"/>
          <p:cNvGraphicFramePr>
            <a:graphicFrameLocks noGrp="1"/>
          </p:cNvGraphicFramePr>
          <p:nvPr>
            <p:extLst>
              <p:ext uri="{D42A27DB-BD31-4B8C-83A1-F6EECF244321}">
                <p14:modId xmlns:p14="http://schemas.microsoft.com/office/powerpoint/2010/main" val="3586374203"/>
              </p:ext>
            </p:extLst>
          </p:nvPr>
        </p:nvGraphicFramePr>
        <p:xfrm>
          <a:off x="1318342" y="1733691"/>
          <a:ext cx="6859531" cy="3085709"/>
        </p:xfrm>
        <a:graphic>
          <a:graphicData uri="http://schemas.openxmlformats.org/drawingml/2006/table">
            <a:tbl>
              <a:tblPr firstRow="1" firstCol="1" bandRow="1">
                <a:tableStyleId>{5C22544A-7EE6-4342-B048-85BDC9FD1C3A}</a:tableStyleId>
              </a:tblPr>
              <a:tblGrid>
                <a:gridCol w="1142344">
                  <a:extLst>
                    <a:ext uri="{9D8B030D-6E8A-4147-A177-3AD203B41FA5}">
                      <a16:colId xmlns:a16="http://schemas.microsoft.com/office/drawing/2014/main" val="4120418384"/>
                    </a:ext>
                  </a:extLst>
                </a:gridCol>
                <a:gridCol w="1142344">
                  <a:extLst>
                    <a:ext uri="{9D8B030D-6E8A-4147-A177-3AD203B41FA5}">
                      <a16:colId xmlns:a16="http://schemas.microsoft.com/office/drawing/2014/main" val="3974728063"/>
                    </a:ext>
                  </a:extLst>
                </a:gridCol>
                <a:gridCol w="1144531">
                  <a:extLst>
                    <a:ext uri="{9D8B030D-6E8A-4147-A177-3AD203B41FA5}">
                      <a16:colId xmlns:a16="http://schemas.microsoft.com/office/drawing/2014/main" val="799177594"/>
                    </a:ext>
                  </a:extLst>
                </a:gridCol>
                <a:gridCol w="1142344">
                  <a:extLst>
                    <a:ext uri="{9D8B030D-6E8A-4147-A177-3AD203B41FA5}">
                      <a16:colId xmlns:a16="http://schemas.microsoft.com/office/drawing/2014/main" val="2377389328"/>
                    </a:ext>
                  </a:extLst>
                </a:gridCol>
                <a:gridCol w="1142344">
                  <a:extLst>
                    <a:ext uri="{9D8B030D-6E8A-4147-A177-3AD203B41FA5}">
                      <a16:colId xmlns:a16="http://schemas.microsoft.com/office/drawing/2014/main" val="3530208183"/>
                    </a:ext>
                  </a:extLst>
                </a:gridCol>
                <a:gridCol w="1145624">
                  <a:extLst>
                    <a:ext uri="{9D8B030D-6E8A-4147-A177-3AD203B41FA5}">
                      <a16:colId xmlns:a16="http://schemas.microsoft.com/office/drawing/2014/main" val="1629548056"/>
                    </a:ext>
                  </a:extLst>
                </a:gridCol>
              </a:tblGrid>
              <a:tr h="823007">
                <a:tc gridSpan="3">
                  <a:txBody>
                    <a:bodyPr/>
                    <a:lstStyle/>
                    <a:p>
                      <a:pPr marL="0" marR="0" algn="ctr">
                        <a:lnSpc>
                          <a:spcPct val="110000"/>
                        </a:lnSpc>
                        <a:spcBef>
                          <a:spcPts val="0"/>
                        </a:spcBef>
                        <a:spcAft>
                          <a:spcPts val="0"/>
                        </a:spcAft>
                      </a:pPr>
                      <a:r>
                        <a:rPr lang="en-US" sz="1600" dirty="0" smtClean="0">
                          <a:solidFill>
                            <a:schemeClr val="tx1"/>
                          </a:solidFill>
                          <a:effectLst/>
                          <a:latin typeface="Arial" panose="020B0604020202020204" pitchFamily="34" charset="0"/>
                          <a:ea typeface="+mn-ea"/>
                          <a:cs typeface="Arial" panose="020B0604020202020204" pitchFamily="34" charset="0"/>
                        </a:rPr>
                        <a:t>MULTIHEAD-ATTENTION-RNN</a:t>
                      </a:r>
                      <a:endParaRPr lang="en-US" sz="16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gridSpan="3">
                  <a:txBody>
                    <a:bodyPr/>
                    <a:lstStyle/>
                    <a:p>
                      <a:pPr marL="0" marR="0" algn="ctr">
                        <a:lnSpc>
                          <a:spcPct val="110000"/>
                        </a:lnSpc>
                        <a:spcBef>
                          <a:spcPts val="0"/>
                        </a:spcBef>
                        <a:spcAft>
                          <a:spcPts val="0"/>
                        </a:spcAft>
                      </a:pPr>
                      <a:r>
                        <a:rPr lang="en-US" sz="1600" dirty="0" smtClean="0">
                          <a:solidFill>
                            <a:schemeClr val="tx1"/>
                          </a:solidFill>
                          <a:effectLst/>
                          <a:latin typeface="Arial" panose="020B0604020202020204" pitchFamily="34" charset="0"/>
                          <a:cs typeface="Arial" panose="020B0604020202020204" pitchFamily="34" charset="0"/>
                        </a:rPr>
                        <a:t>TC-RESNET</a:t>
                      </a:r>
                      <a:endParaRPr lang="en-US" sz="16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747175"/>
                  </a:ext>
                </a:extLst>
              </a:tr>
              <a:tr h="588108">
                <a:tc>
                  <a:txBody>
                    <a:bodyPr/>
                    <a:lstStyle/>
                    <a:p>
                      <a:pPr marL="0" marR="0" algn="ctr">
                        <a:lnSpc>
                          <a:spcPct val="110000"/>
                        </a:lnSpc>
                        <a:spcBef>
                          <a:spcPts val="300"/>
                        </a:spcBef>
                        <a:spcAft>
                          <a:spcPts val="0"/>
                        </a:spcAft>
                      </a:pPr>
                      <a:r>
                        <a:rPr lang="en-US" sz="1500" dirty="0">
                          <a:solidFill>
                            <a:schemeClr val="tx1"/>
                          </a:solidFill>
                          <a:effectLst/>
                          <a:latin typeface="Arial" panose="020B0604020202020204" pitchFamily="34" charset="0"/>
                          <a:cs typeface="Arial" panose="020B0604020202020204" pitchFamily="34" charset="0"/>
                        </a:rPr>
                        <a:t>Bộ dữ liệu</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Độ chính xác</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Điểm F1</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Bộ dữ liệu</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Độ chính xác</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b="1" dirty="0">
                          <a:solidFill>
                            <a:schemeClr val="tx1"/>
                          </a:solidFill>
                          <a:effectLst/>
                          <a:latin typeface="Arial" panose="020B0604020202020204" pitchFamily="34" charset="0"/>
                          <a:cs typeface="Arial" panose="020B0604020202020204" pitchFamily="34" charset="0"/>
                        </a:rPr>
                        <a:t>Điểm F1</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4829660"/>
                  </a:ext>
                </a:extLst>
              </a:tr>
              <a:tr h="837297">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DS1</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96.79</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96.78</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300"/>
                        </a:spcBef>
                        <a:spcAft>
                          <a:spcPts val="0"/>
                        </a:spcAft>
                      </a:pPr>
                      <a:r>
                        <a:rPr lang="en-US" sz="1500" b="1"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DS1</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0"/>
                        </a:spcBef>
                        <a:spcAft>
                          <a:spcPts val="0"/>
                        </a:spcAft>
                      </a:pPr>
                      <a:r>
                        <a:rPr lang="en-US" sz="1500" dirty="0">
                          <a:solidFill>
                            <a:schemeClr val="tx1"/>
                          </a:solidFill>
                          <a:effectLst/>
                          <a:latin typeface="Arial" panose="020B0604020202020204" pitchFamily="34" charset="0"/>
                          <a:cs typeface="Arial" panose="020B0604020202020204" pitchFamily="34" charset="0"/>
                        </a:rPr>
                        <a:t>97.50</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tc>
                  <a:txBody>
                    <a:bodyPr/>
                    <a:lstStyle/>
                    <a:p>
                      <a:pPr marL="0" marR="0" algn="ctr">
                        <a:lnSpc>
                          <a:spcPct val="110000"/>
                        </a:lnSpc>
                        <a:spcBef>
                          <a:spcPts val="0"/>
                        </a:spcBef>
                        <a:spcAft>
                          <a:spcPts val="0"/>
                        </a:spcAft>
                      </a:pPr>
                      <a:r>
                        <a:rPr lang="en-US" sz="1500" dirty="0">
                          <a:solidFill>
                            <a:schemeClr val="tx1"/>
                          </a:solidFill>
                          <a:effectLst/>
                          <a:latin typeface="Arial" panose="020B0604020202020204" pitchFamily="34" charset="0"/>
                          <a:cs typeface="Arial" panose="020B0604020202020204" pitchFamily="34" charset="0"/>
                        </a:rPr>
                        <a:t>97.50</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5000"/>
                        <a:lumOff val="75000"/>
                      </a:schemeClr>
                    </a:solidFill>
                  </a:tcPr>
                </a:tc>
                <a:extLst>
                  <a:ext uri="{0D108BD9-81ED-4DB2-BD59-A6C34878D82A}">
                    <a16:rowId xmlns:a16="http://schemas.microsoft.com/office/drawing/2014/main" val="4137611294"/>
                  </a:ext>
                </a:extLst>
              </a:tr>
              <a:tr h="837297">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DS2</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94.65</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94.64</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b="1"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DS2</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dirty="0">
                          <a:solidFill>
                            <a:schemeClr val="tx1"/>
                          </a:solidFill>
                          <a:effectLst/>
                          <a:latin typeface="Arial" panose="020B0604020202020204" pitchFamily="34" charset="0"/>
                          <a:cs typeface="Arial" panose="020B0604020202020204" pitchFamily="34" charset="0"/>
                        </a:rPr>
                        <a:t>94.47</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0"/>
                        </a:spcBef>
                        <a:spcAft>
                          <a:spcPts val="0"/>
                        </a:spcAft>
                      </a:pPr>
                      <a:r>
                        <a:rPr lang="en-US" sz="1500" dirty="0">
                          <a:solidFill>
                            <a:schemeClr val="tx1"/>
                          </a:solidFill>
                          <a:effectLst/>
                          <a:latin typeface="Arial" panose="020B0604020202020204" pitchFamily="34" charset="0"/>
                          <a:cs typeface="Arial" panose="020B0604020202020204" pitchFamily="34" charset="0"/>
                        </a:rPr>
                        <a:t>94.48</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4890951"/>
                  </a:ext>
                </a:extLst>
              </a:tr>
            </a:tbl>
          </a:graphicData>
        </a:graphic>
      </p:graphicFrame>
    </p:spTree>
    <p:extLst>
      <p:ext uri="{BB962C8B-B14F-4D97-AF65-F5344CB8AC3E}">
        <p14:creationId xmlns:p14="http://schemas.microsoft.com/office/powerpoint/2010/main" val="352079855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30</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Thời gian nhận diện của mô hình trên thiết bị   </a:t>
            </a: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481807941"/>
              </p:ext>
            </p:extLst>
          </p:nvPr>
        </p:nvGraphicFramePr>
        <p:xfrm>
          <a:off x="1277475" y="781390"/>
          <a:ext cx="6863024" cy="3959051"/>
        </p:xfrm>
        <a:graphic>
          <a:graphicData uri="http://schemas.openxmlformats.org/drawingml/2006/table">
            <a:tbl>
              <a:tblPr firstRow="1" firstCol="1" bandRow="1">
                <a:tableStyleId>{5C22544A-7EE6-4342-B048-85BDC9FD1C3A}</a:tableStyleId>
              </a:tblPr>
              <a:tblGrid>
                <a:gridCol w="1715112">
                  <a:extLst>
                    <a:ext uri="{9D8B030D-6E8A-4147-A177-3AD203B41FA5}">
                      <a16:colId xmlns:a16="http://schemas.microsoft.com/office/drawing/2014/main" val="3123542429"/>
                    </a:ext>
                  </a:extLst>
                </a:gridCol>
                <a:gridCol w="1715112">
                  <a:extLst>
                    <a:ext uri="{9D8B030D-6E8A-4147-A177-3AD203B41FA5}">
                      <a16:colId xmlns:a16="http://schemas.microsoft.com/office/drawing/2014/main" val="1734348155"/>
                    </a:ext>
                  </a:extLst>
                </a:gridCol>
                <a:gridCol w="1716400">
                  <a:extLst>
                    <a:ext uri="{9D8B030D-6E8A-4147-A177-3AD203B41FA5}">
                      <a16:colId xmlns:a16="http://schemas.microsoft.com/office/drawing/2014/main" val="588021979"/>
                    </a:ext>
                  </a:extLst>
                </a:gridCol>
                <a:gridCol w="1716400">
                  <a:extLst>
                    <a:ext uri="{9D8B030D-6E8A-4147-A177-3AD203B41FA5}">
                      <a16:colId xmlns:a16="http://schemas.microsoft.com/office/drawing/2014/main" val="2263110435"/>
                    </a:ext>
                  </a:extLst>
                </a:gridCol>
              </a:tblGrid>
              <a:tr h="995930">
                <a:tc gridSpan="2">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TC-RESNET</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gridSpan="2">
                  <a:txBody>
                    <a:bodyPr/>
                    <a:lstStyle/>
                    <a:p>
                      <a:pPr marL="0" marR="0" algn="ctr">
                        <a:lnSpc>
                          <a:spcPct val="110000"/>
                        </a:lnSpc>
                        <a:spcBef>
                          <a:spcPts val="300"/>
                        </a:spcBef>
                        <a:spcAft>
                          <a:spcPts val="0"/>
                        </a:spcAft>
                      </a:pPr>
                      <a:r>
                        <a:rPr lang="en-US" sz="1500" dirty="0">
                          <a:solidFill>
                            <a:schemeClr val="tx1"/>
                          </a:solidFill>
                          <a:effectLst/>
                          <a:latin typeface="Arial" panose="020B0604020202020204" pitchFamily="34" charset="0"/>
                          <a:cs typeface="Arial" panose="020B0604020202020204" pitchFamily="34" charset="0"/>
                        </a:rPr>
                        <a:t>MULTIHEAD-ATTENTION-RNN</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2227373827"/>
                  </a:ext>
                </a:extLst>
              </a:tr>
              <a:tr h="995930">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Phần thời gian</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Thời gian (ms)</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Phần thời gian</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Thời gian (ms)</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5144738"/>
                  </a:ext>
                </a:extLst>
              </a:tr>
              <a:tr h="483866">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Tiền xử lý</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dirty="0">
                          <a:solidFill>
                            <a:schemeClr val="tx1"/>
                          </a:solidFill>
                          <a:effectLst/>
                          <a:latin typeface="Arial" panose="020B0604020202020204" pitchFamily="34" charset="0"/>
                          <a:cs typeface="Arial" panose="020B0604020202020204" pitchFamily="34" charset="0"/>
                        </a:rPr>
                        <a:t>8</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Tiền xử lý</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dirty="0">
                          <a:solidFill>
                            <a:schemeClr val="tx1"/>
                          </a:solidFill>
                          <a:effectLst/>
                          <a:latin typeface="Arial" panose="020B0604020202020204" pitchFamily="34" charset="0"/>
                          <a:cs typeface="Arial" panose="020B0604020202020204" pitchFamily="34" charset="0"/>
                        </a:rPr>
                        <a:t>8</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620175"/>
                  </a:ext>
                </a:extLst>
              </a:tr>
              <a:tr h="515593">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Tách đặc trưng</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20 </a:t>
                      </a:r>
                      <a:r>
                        <a:rPr lang="en-US" sz="1500" dirty="0">
                          <a:solidFill>
                            <a:schemeClr val="tx1"/>
                          </a:solidFill>
                          <a:effectLst/>
                          <a:latin typeface="Arial" panose="020B0604020202020204" pitchFamily="34" charset="0"/>
                          <a:cs typeface="Arial" panose="020B0604020202020204" pitchFamily="34" charset="0"/>
                        </a:rPr>
                        <a:t>- </a:t>
                      </a:r>
                      <a:r>
                        <a:rPr lang="en-US" sz="1500" dirty="0" smtClean="0">
                          <a:solidFill>
                            <a:schemeClr val="tx1"/>
                          </a:solidFill>
                          <a:effectLst/>
                          <a:latin typeface="Arial" panose="020B0604020202020204" pitchFamily="34" charset="0"/>
                          <a:cs typeface="Arial" panose="020B0604020202020204" pitchFamily="34" charset="0"/>
                        </a:rPr>
                        <a:t>60</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Tách đặc trưng</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23 -</a:t>
                      </a:r>
                      <a:r>
                        <a:rPr lang="en-US" sz="1500" baseline="0" dirty="0" smtClean="0">
                          <a:solidFill>
                            <a:schemeClr val="tx1"/>
                          </a:solidFill>
                          <a:effectLst/>
                          <a:latin typeface="Arial" panose="020B0604020202020204" pitchFamily="34" charset="0"/>
                          <a:cs typeface="Arial" panose="020B0604020202020204" pitchFamily="34" charset="0"/>
                        </a:rPr>
                        <a:t> 60</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500791"/>
                  </a:ext>
                </a:extLst>
              </a:tr>
              <a:tr h="483866">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Dự đoán</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ea typeface="+mn-ea"/>
                          <a:cs typeface="Arial" panose="020B0604020202020204" pitchFamily="34" charset="0"/>
                        </a:rPr>
                        <a:t>7</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Dự đoán</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ea typeface="+mn-ea"/>
                          <a:cs typeface="Arial" panose="020B0604020202020204" pitchFamily="34" charset="0"/>
                        </a:rPr>
                        <a:t>278</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9169677"/>
                  </a:ext>
                </a:extLst>
              </a:tr>
              <a:tr h="483866">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Tổng</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ea typeface="+mn-ea"/>
                          <a:cs typeface="Arial" panose="020B0604020202020204" pitchFamily="34" charset="0"/>
                        </a:rPr>
                        <a:t>35</a:t>
                      </a:r>
                      <a:r>
                        <a:rPr lang="en-US" sz="1500" baseline="0" dirty="0" smtClean="0">
                          <a:solidFill>
                            <a:schemeClr val="tx1"/>
                          </a:solidFill>
                          <a:effectLst/>
                          <a:latin typeface="Arial" panose="020B0604020202020204" pitchFamily="34" charset="0"/>
                          <a:ea typeface="+mn-ea"/>
                          <a:cs typeface="Arial" panose="020B0604020202020204" pitchFamily="34" charset="0"/>
                        </a:rPr>
                        <a:t> - 76</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b="1" dirty="0">
                          <a:solidFill>
                            <a:schemeClr val="tx1"/>
                          </a:solidFill>
                          <a:effectLst/>
                          <a:latin typeface="Arial" panose="020B0604020202020204" pitchFamily="34" charset="0"/>
                          <a:cs typeface="Arial" panose="020B0604020202020204" pitchFamily="34" charset="0"/>
                        </a:rPr>
                        <a:t>Tổng</a:t>
                      </a:r>
                      <a:endParaRPr lang="en-US" sz="15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10000"/>
                        </a:lnSpc>
                        <a:spcBef>
                          <a:spcPts val="300"/>
                        </a:spcBef>
                        <a:spcAft>
                          <a:spcPts val="0"/>
                        </a:spcAft>
                      </a:pPr>
                      <a:r>
                        <a:rPr lang="en-US" sz="1500" dirty="0" smtClean="0">
                          <a:solidFill>
                            <a:schemeClr val="tx1"/>
                          </a:solidFill>
                          <a:effectLst/>
                          <a:latin typeface="Arial" panose="020B0604020202020204" pitchFamily="34" charset="0"/>
                          <a:cs typeface="Arial" panose="020B0604020202020204" pitchFamily="34" charset="0"/>
                        </a:rPr>
                        <a:t>309</a:t>
                      </a:r>
                      <a:r>
                        <a:rPr lang="en-US" sz="1500" baseline="0" dirty="0" smtClean="0">
                          <a:solidFill>
                            <a:schemeClr val="tx1"/>
                          </a:solidFill>
                          <a:effectLst/>
                          <a:latin typeface="Arial" panose="020B0604020202020204" pitchFamily="34" charset="0"/>
                          <a:cs typeface="Arial" panose="020B0604020202020204" pitchFamily="34" charset="0"/>
                        </a:rPr>
                        <a:t> - 350</a:t>
                      </a:r>
                      <a:endParaRPr lang="en-US" sz="15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8032681"/>
                  </a:ext>
                </a:extLst>
              </a:tr>
            </a:tbl>
          </a:graphicData>
        </a:graphic>
      </p:graphicFrame>
    </p:spTree>
    <p:extLst>
      <p:ext uri="{BB962C8B-B14F-4D97-AF65-F5344CB8AC3E}">
        <p14:creationId xmlns:p14="http://schemas.microsoft.com/office/powerpoint/2010/main" val="14135481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31</a:t>
            </a:fld>
            <a:endParaRPr/>
          </a:p>
        </p:txBody>
      </p:sp>
      <p:sp>
        <p:nvSpPr>
          <p:cNvPr id="9" name="Content Placeholder 2"/>
          <p:cNvSpPr txBox="1">
            <a:spLocks/>
          </p:cNvSpPr>
          <p:nvPr/>
        </p:nvSpPr>
        <p:spPr>
          <a:xfrm>
            <a:off x="551449" y="246806"/>
            <a:ext cx="8315077" cy="489669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K</a:t>
            </a:r>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ết quả nhận diện của một số trường hợp cụ thể</a:t>
            </a: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388900427"/>
              </p:ext>
            </p:extLst>
          </p:nvPr>
        </p:nvGraphicFramePr>
        <p:xfrm>
          <a:off x="1162489" y="756483"/>
          <a:ext cx="7116730" cy="4272583"/>
        </p:xfrm>
        <a:graphic>
          <a:graphicData uri="http://schemas.openxmlformats.org/drawingml/2006/table">
            <a:tbl>
              <a:tblPr firstRow="1" firstCol="1" bandRow="1">
                <a:tableStyleId>{1AACA145-2711-4909-83B6-47A45A03EB26}</a:tableStyleId>
              </a:tblPr>
              <a:tblGrid>
                <a:gridCol w="1053886">
                  <a:extLst>
                    <a:ext uri="{9D8B030D-6E8A-4147-A177-3AD203B41FA5}">
                      <a16:colId xmlns:a16="http://schemas.microsoft.com/office/drawing/2014/main" val="2034038190"/>
                    </a:ext>
                  </a:extLst>
                </a:gridCol>
                <a:gridCol w="951635">
                  <a:extLst>
                    <a:ext uri="{9D8B030D-6E8A-4147-A177-3AD203B41FA5}">
                      <a16:colId xmlns:a16="http://schemas.microsoft.com/office/drawing/2014/main" val="1308260370"/>
                    </a:ext>
                  </a:extLst>
                </a:gridCol>
                <a:gridCol w="1430143">
                  <a:extLst>
                    <a:ext uri="{9D8B030D-6E8A-4147-A177-3AD203B41FA5}">
                      <a16:colId xmlns:a16="http://schemas.microsoft.com/office/drawing/2014/main" val="3274361745"/>
                    </a:ext>
                  </a:extLst>
                </a:gridCol>
                <a:gridCol w="1234240">
                  <a:extLst>
                    <a:ext uri="{9D8B030D-6E8A-4147-A177-3AD203B41FA5}">
                      <a16:colId xmlns:a16="http://schemas.microsoft.com/office/drawing/2014/main" val="3763459578"/>
                    </a:ext>
                  </a:extLst>
                </a:gridCol>
                <a:gridCol w="822826">
                  <a:extLst>
                    <a:ext uri="{9D8B030D-6E8A-4147-A177-3AD203B41FA5}">
                      <a16:colId xmlns:a16="http://schemas.microsoft.com/office/drawing/2014/main" val="2164961568"/>
                    </a:ext>
                  </a:extLst>
                </a:gridCol>
                <a:gridCol w="1624000">
                  <a:extLst>
                    <a:ext uri="{9D8B030D-6E8A-4147-A177-3AD203B41FA5}">
                      <a16:colId xmlns:a16="http://schemas.microsoft.com/office/drawing/2014/main" val="1883882581"/>
                    </a:ext>
                  </a:extLst>
                </a:gridCol>
              </a:tblGrid>
              <a:tr h="400580">
                <a:tc>
                  <a:txBody>
                    <a:bodyPr/>
                    <a:lstStyle/>
                    <a:p>
                      <a:pPr marL="0" marR="0" algn="ctr">
                        <a:lnSpc>
                          <a:spcPct val="107000"/>
                        </a:lnSpc>
                        <a:spcBef>
                          <a:spcPts val="0"/>
                        </a:spcBef>
                        <a:spcAft>
                          <a:spcPts val="0"/>
                        </a:spcAft>
                      </a:pPr>
                      <a:r>
                        <a:rPr lang="en-US" sz="1200" b="1" dirty="0">
                          <a:effectLst/>
                        </a:rPr>
                        <a:t>Âm thanh</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200" b="1" dirty="0">
                          <a:effectLst/>
                        </a:rPr>
                        <a:t>Kiểu giọng</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200" b="1" dirty="0">
                          <a:effectLst/>
                        </a:rPr>
                        <a:t>Nhãn được </a:t>
                      </a:r>
                    </a:p>
                    <a:p>
                      <a:pPr marL="0" marR="0" algn="ctr">
                        <a:lnSpc>
                          <a:spcPct val="107000"/>
                        </a:lnSpc>
                        <a:spcBef>
                          <a:spcPts val="0"/>
                        </a:spcBef>
                        <a:spcAft>
                          <a:spcPts val="0"/>
                        </a:spcAft>
                      </a:pPr>
                      <a:r>
                        <a:rPr lang="en-US" sz="1200" b="1" dirty="0">
                          <a:effectLst/>
                        </a:rPr>
                        <a:t>dự đoán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200" b="1" dirty="0">
                          <a:effectLst/>
                        </a:rPr>
                        <a:t>Độ tin </a:t>
                      </a:r>
                      <a:r>
                        <a:rPr lang="en-US" sz="1200" b="1" dirty="0" smtClean="0">
                          <a:effectLst/>
                        </a:rPr>
                        <a:t>cậy của </a:t>
                      </a:r>
                    </a:p>
                    <a:p>
                      <a:pPr marL="0" marR="0" algn="ctr">
                        <a:lnSpc>
                          <a:spcPct val="107000"/>
                        </a:lnSpc>
                        <a:spcBef>
                          <a:spcPts val="0"/>
                        </a:spcBef>
                        <a:spcAft>
                          <a:spcPts val="0"/>
                        </a:spcAft>
                      </a:pPr>
                      <a:r>
                        <a:rPr lang="en-US" sz="1200" b="1" dirty="0" smtClean="0">
                          <a:effectLst/>
                        </a:rPr>
                        <a:t>mô </a:t>
                      </a:r>
                      <a:r>
                        <a:rPr lang="en-US" sz="1200" b="1" dirty="0">
                          <a:effectLst/>
                        </a:rPr>
                        <a:t>hình</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200" b="1" dirty="0">
                          <a:effectLst/>
                        </a:rPr>
                        <a:t>Thời gian </a:t>
                      </a:r>
                    </a:p>
                    <a:p>
                      <a:pPr marL="0" marR="0" algn="ctr">
                        <a:lnSpc>
                          <a:spcPct val="107000"/>
                        </a:lnSpc>
                        <a:spcBef>
                          <a:spcPts val="0"/>
                        </a:spcBef>
                        <a:spcAft>
                          <a:spcPts val="0"/>
                        </a:spcAft>
                      </a:pPr>
                      <a:r>
                        <a:rPr lang="en-US" sz="1200" b="1" dirty="0">
                          <a:effectLst/>
                        </a:rPr>
                        <a:t>dự đoán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200" b="1" dirty="0">
                          <a:effectLst/>
                        </a:rPr>
                        <a:t>Nhận xét</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extLst>
                  <a:ext uri="{0D108BD9-81ED-4DB2-BD59-A6C34878D82A}">
                    <a16:rowId xmlns:a16="http://schemas.microsoft.com/office/drawing/2014/main" val="3873772400"/>
                  </a:ext>
                </a:extLst>
              </a:tr>
              <a:tr h="338735">
                <a:tc>
                  <a:txBody>
                    <a:bodyPr/>
                    <a:lstStyle/>
                    <a:p>
                      <a:pPr marL="0" marR="0" algn="ctr">
                        <a:lnSpc>
                          <a:spcPct val="107000"/>
                        </a:lnSpc>
                        <a:spcBef>
                          <a:spcPts val="0"/>
                        </a:spcBef>
                        <a:spcAft>
                          <a:spcPts val="0"/>
                        </a:spcAft>
                      </a:pPr>
                      <a:r>
                        <a:rPr lang="en-US" sz="1100" dirty="0">
                          <a:effectLst/>
                        </a:rPr>
                        <a:t>Hai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Nữ miền Bắc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Hai</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1.0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rPr>
                        <a:t>0.05 </a:t>
                      </a:r>
                      <a:r>
                        <a:rPr lang="en-US" sz="1100" dirty="0">
                          <a:effectLst/>
                        </a:rPr>
                        <a:t>giây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Ghi âm trong môi trường có ít tiếng ồn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extLst>
                  <a:ext uri="{0D108BD9-81ED-4DB2-BD59-A6C34878D82A}">
                    <a16:rowId xmlns:a16="http://schemas.microsoft.com/office/drawing/2014/main" val="2287040590"/>
                  </a:ext>
                </a:extLst>
              </a:tr>
              <a:tr h="338735">
                <a:tc>
                  <a:txBody>
                    <a:bodyPr/>
                    <a:lstStyle/>
                    <a:p>
                      <a:pPr marL="0" marR="0" algn="ctr">
                        <a:lnSpc>
                          <a:spcPct val="107000"/>
                        </a:lnSpc>
                        <a:spcBef>
                          <a:spcPts val="0"/>
                        </a:spcBef>
                        <a:spcAft>
                          <a:spcPts val="0"/>
                        </a:spcAft>
                      </a:pPr>
                      <a:r>
                        <a:rPr lang="en-US" sz="1100" dirty="0">
                          <a:effectLst/>
                        </a:rPr>
                        <a:t>Không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a:effectLst/>
                        </a:rPr>
                        <a:t>Nam miền Bắc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Không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1.0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a:effectLst/>
                        </a:rPr>
                        <a:t>0.073 giây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a:effectLst/>
                        </a:rPr>
                        <a:t>Ghi âm trong môi trường có ít tiếng ồn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extLst>
                  <a:ext uri="{0D108BD9-81ED-4DB2-BD59-A6C34878D82A}">
                    <a16:rowId xmlns:a16="http://schemas.microsoft.com/office/drawing/2014/main" val="407364152"/>
                  </a:ext>
                </a:extLst>
              </a:tr>
              <a:tr h="677470">
                <a:tc>
                  <a:txBody>
                    <a:bodyPr/>
                    <a:lstStyle/>
                    <a:p>
                      <a:pPr marL="0" marR="0" algn="ctr">
                        <a:lnSpc>
                          <a:spcPct val="107000"/>
                        </a:lnSpc>
                        <a:spcBef>
                          <a:spcPts val="0"/>
                        </a:spcBef>
                        <a:spcAft>
                          <a:spcPts val="0"/>
                        </a:spcAft>
                      </a:pPr>
                      <a:r>
                        <a:rPr lang="en-US" sz="1100" dirty="0">
                          <a:effectLst/>
                        </a:rPr>
                        <a:t>Tiếng </a:t>
                      </a:r>
                      <a:endParaRPr lang="en-US" sz="1100" dirty="0" smtClean="0">
                        <a:effectLst/>
                      </a:endParaRPr>
                    </a:p>
                    <a:p>
                      <a:pPr marL="0" marR="0" algn="ctr">
                        <a:lnSpc>
                          <a:spcPct val="107000"/>
                        </a:lnSpc>
                        <a:spcBef>
                          <a:spcPts val="0"/>
                        </a:spcBef>
                        <a:spcAft>
                          <a:spcPts val="0"/>
                        </a:spcAft>
                      </a:pPr>
                      <a:r>
                        <a:rPr lang="en-US" sz="1100" dirty="0" smtClean="0">
                          <a:effectLst/>
                        </a:rPr>
                        <a:t>xịt </a:t>
                      </a:r>
                      <a:r>
                        <a:rPr lang="en-US" sz="1100" dirty="0">
                          <a:effectLst/>
                        </a:rPr>
                        <a:t>xoạt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Không có</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Tám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0.42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0.11 giây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Tuy mô hình có nhận diện được ra nhãn từ khoá nhưng độ tin cậy rất thấp</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extLst>
                  <a:ext uri="{0D108BD9-81ED-4DB2-BD59-A6C34878D82A}">
                    <a16:rowId xmlns:a16="http://schemas.microsoft.com/office/drawing/2014/main" val="832228260"/>
                  </a:ext>
                </a:extLst>
              </a:tr>
              <a:tr h="677470">
                <a:tc>
                  <a:txBody>
                    <a:bodyPr/>
                    <a:lstStyle/>
                    <a:p>
                      <a:pPr marL="0" marR="0" algn="ctr">
                        <a:lnSpc>
                          <a:spcPct val="107000"/>
                        </a:lnSpc>
                        <a:spcBef>
                          <a:spcPts val="0"/>
                        </a:spcBef>
                        <a:spcAft>
                          <a:spcPts val="0"/>
                        </a:spcAft>
                      </a:pPr>
                      <a:r>
                        <a:rPr lang="en-US" sz="1100" dirty="0" smtClean="0">
                          <a:effectLst/>
                          <a:latin typeface="Arial"/>
                          <a:ea typeface="Calibri" panose="020F0502020204030204" pitchFamily="34" charset="0"/>
                          <a:cs typeface="Arial"/>
                        </a:rPr>
                        <a:t>Mười/Kêu/Gâu</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latin typeface="Arial"/>
                          <a:ea typeface="Calibri" panose="020F0502020204030204" pitchFamily="34" charset="0"/>
                          <a:cs typeface="Arial"/>
                        </a:rPr>
                        <a:t>Nam</a:t>
                      </a:r>
                      <a:r>
                        <a:rPr lang="en-US" sz="1100" baseline="0" dirty="0" smtClean="0">
                          <a:effectLst/>
                          <a:latin typeface="Arial"/>
                          <a:ea typeface="Calibri" panose="020F0502020204030204" pitchFamily="34" charset="0"/>
                          <a:cs typeface="Arial"/>
                        </a:rPr>
                        <a:t> miền Bắc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latin typeface="Arial"/>
                          <a:ea typeface="Calibri" panose="020F0502020204030204" pitchFamily="34" charset="0"/>
                          <a:cs typeface="Arial"/>
                        </a:rPr>
                        <a:t>Lùi/Tiến/Một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rPr>
                        <a:t>0.99</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0.11 giây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latin typeface="+mn-lt"/>
                          <a:ea typeface="Calibri" panose="020F0502020204030204" pitchFamily="34" charset="0"/>
                          <a:cs typeface="Times New Roman" panose="02020603050405020304" pitchFamily="18" charset="0"/>
                        </a:rPr>
                        <a:t>Một</a:t>
                      </a:r>
                      <a:r>
                        <a:rPr lang="en-US" sz="1100" baseline="0" dirty="0" smtClean="0">
                          <a:effectLst/>
                          <a:latin typeface="+mn-lt"/>
                          <a:ea typeface="Calibri" panose="020F0502020204030204" pitchFamily="34" charset="0"/>
                          <a:cs typeface="Times New Roman" panose="02020603050405020304" pitchFamily="18" charset="0"/>
                        </a:rPr>
                        <a:t> số từ không thuộc trong 17 nhãn từ khoá được huấn luyện bị dự đoán nhầm</a:t>
                      </a:r>
                      <a:endParaRPr lang="en-US" sz="1100" dirty="0">
                        <a:effectLst/>
                        <a:latin typeface="+mn-lt"/>
                        <a:ea typeface="Calibri" panose="020F0502020204030204" pitchFamily="34" charset="0"/>
                        <a:cs typeface="Times New Roman" panose="02020603050405020304" pitchFamily="18" charset="0"/>
                      </a:endParaRPr>
                    </a:p>
                  </a:txBody>
                  <a:tcPr marL="46363" marR="46363" marT="0" marB="0" anchor="ctr"/>
                </a:tc>
                <a:extLst>
                  <a:ext uri="{0D108BD9-81ED-4DB2-BD59-A6C34878D82A}">
                    <a16:rowId xmlns:a16="http://schemas.microsoft.com/office/drawing/2014/main" val="1923215924"/>
                  </a:ext>
                </a:extLst>
              </a:tr>
              <a:tr h="639136">
                <a:tc>
                  <a:txBody>
                    <a:bodyPr/>
                    <a:lstStyle/>
                    <a:p>
                      <a:pPr marL="0" marR="0" algn="ctr">
                        <a:lnSpc>
                          <a:spcPct val="107000"/>
                        </a:lnSpc>
                        <a:spcBef>
                          <a:spcPts val="0"/>
                        </a:spcBef>
                        <a:spcAft>
                          <a:spcPts val="0"/>
                        </a:spcAft>
                      </a:pPr>
                      <a:r>
                        <a:rPr lang="en-US" sz="1100" dirty="0" smtClean="0">
                          <a:effectLst/>
                          <a:latin typeface="Arial"/>
                          <a:ea typeface="Calibri" panose="020F0502020204030204" pitchFamily="34" charset="0"/>
                          <a:cs typeface="Arial"/>
                        </a:rPr>
                        <a:t>Bá/Sau/Chí/Xú</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latin typeface="Arial"/>
                          <a:ea typeface="Calibri" panose="020F0502020204030204" pitchFamily="34" charset="0"/>
                          <a:cs typeface="Arial"/>
                        </a:rPr>
                        <a:t>Nam</a:t>
                      </a:r>
                      <a:r>
                        <a:rPr lang="en-US" sz="1100" baseline="0" dirty="0" smtClean="0">
                          <a:effectLst/>
                          <a:latin typeface="Arial"/>
                          <a:ea typeface="Calibri" panose="020F0502020204030204" pitchFamily="34" charset="0"/>
                          <a:cs typeface="Arial"/>
                        </a:rPr>
                        <a:t> miền Bắc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latin typeface="+mn-lt"/>
                          <a:ea typeface="Calibri" panose="020F0502020204030204" pitchFamily="34" charset="0"/>
                          <a:cs typeface="Times New Roman" panose="02020603050405020304" pitchFamily="18" charset="0"/>
                        </a:rPr>
                        <a:t>Ba/Sáu/Chín/Xuống</a:t>
                      </a:r>
                      <a:endParaRPr lang="en-US" sz="1100" dirty="0">
                        <a:effectLst/>
                        <a:latin typeface="+mn-lt"/>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latin typeface="Arial"/>
                          <a:ea typeface="Calibri" panose="020F0502020204030204" pitchFamily="34" charset="0"/>
                          <a:cs typeface="Arial"/>
                        </a:rPr>
                        <a:t>1.0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rPr>
                        <a:t>0.06 </a:t>
                      </a:r>
                      <a:r>
                        <a:rPr lang="en-US" sz="1100" dirty="0">
                          <a:effectLst/>
                        </a:rPr>
                        <a:t>giây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smtClean="0">
                          <a:effectLst/>
                          <a:latin typeface="+mn-lt"/>
                          <a:ea typeface="Calibri" panose="020F0502020204030204" pitchFamily="34" charset="0"/>
                          <a:cs typeface="Times New Roman" panose="02020603050405020304" pitchFamily="18" charset="0"/>
                        </a:rPr>
                        <a:t>Các</a:t>
                      </a:r>
                      <a:r>
                        <a:rPr lang="en-US" sz="1100" baseline="0" dirty="0" smtClean="0">
                          <a:effectLst/>
                          <a:latin typeface="+mn-lt"/>
                          <a:ea typeface="Calibri" panose="020F0502020204030204" pitchFamily="34" charset="0"/>
                          <a:cs typeface="Times New Roman" panose="02020603050405020304" pitchFamily="18" charset="0"/>
                        </a:rPr>
                        <a:t> từ có các âm giống với các âm của từ khoá được huấn luyện</a:t>
                      </a:r>
                      <a:endParaRPr lang="en-US" sz="1100" dirty="0">
                        <a:effectLst/>
                        <a:latin typeface="+mn-lt"/>
                        <a:ea typeface="Calibri" panose="020F0502020204030204" pitchFamily="34" charset="0"/>
                        <a:cs typeface="Times New Roman" panose="02020603050405020304" pitchFamily="18" charset="0"/>
                      </a:endParaRPr>
                    </a:p>
                  </a:txBody>
                  <a:tcPr marL="46363" marR="46363" marT="0" marB="0" anchor="ctr"/>
                </a:tc>
                <a:extLst>
                  <a:ext uri="{0D108BD9-81ED-4DB2-BD59-A6C34878D82A}">
                    <a16:rowId xmlns:a16="http://schemas.microsoft.com/office/drawing/2014/main" val="346351406"/>
                  </a:ext>
                </a:extLst>
              </a:tr>
              <a:tr h="375684">
                <a:tc>
                  <a:txBody>
                    <a:bodyPr/>
                    <a:lstStyle/>
                    <a:p>
                      <a:pPr marL="0" marR="0" algn="ctr">
                        <a:lnSpc>
                          <a:spcPct val="107000"/>
                        </a:lnSpc>
                        <a:spcBef>
                          <a:spcPts val="0"/>
                        </a:spcBef>
                        <a:spcAft>
                          <a:spcPts val="0"/>
                        </a:spcAft>
                      </a:pPr>
                      <a:r>
                        <a:rPr lang="en-US" sz="1100" dirty="0">
                          <a:effectLst/>
                        </a:rPr>
                        <a:t>Tiếng xe cộ</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a:effectLst/>
                        </a:rPr>
                        <a:t>Giao thông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Tám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a:effectLst/>
                        </a:rPr>
                        <a:t>0.38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0.076 giây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Rất nhiều tạp âm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extLst>
                  <a:ext uri="{0D108BD9-81ED-4DB2-BD59-A6C34878D82A}">
                    <a16:rowId xmlns:a16="http://schemas.microsoft.com/office/drawing/2014/main" val="882411857"/>
                  </a:ext>
                </a:extLst>
              </a:tr>
              <a:tr h="677470">
                <a:tc>
                  <a:txBody>
                    <a:bodyPr/>
                    <a:lstStyle/>
                    <a:p>
                      <a:pPr marL="0" marR="0" algn="ctr">
                        <a:lnSpc>
                          <a:spcPct val="107000"/>
                        </a:lnSpc>
                        <a:spcBef>
                          <a:spcPts val="0"/>
                        </a:spcBef>
                        <a:spcAft>
                          <a:spcPts val="0"/>
                        </a:spcAft>
                      </a:pPr>
                      <a:r>
                        <a:rPr lang="en-US" sz="1100" dirty="0">
                          <a:effectLst/>
                        </a:rPr>
                        <a:t>Tiếng </a:t>
                      </a:r>
                      <a:endParaRPr lang="en-US" sz="1100" dirty="0" smtClean="0">
                        <a:effectLst/>
                      </a:endParaRPr>
                    </a:p>
                    <a:p>
                      <a:pPr marL="0" marR="0" algn="ctr">
                        <a:lnSpc>
                          <a:spcPct val="107000"/>
                        </a:lnSpc>
                        <a:spcBef>
                          <a:spcPts val="0"/>
                        </a:spcBef>
                        <a:spcAft>
                          <a:spcPts val="0"/>
                        </a:spcAft>
                      </a:pPr>
                      <a:r>
                        <a:rPr lang="en-US" sz="1100" dirty="0" smtClean="0">
                          <a:effectLst/>
                        </a:rPr>
                        <a:t>đám </a:t>
                      </a:r>
                      <a:r>
                        <a:rPr lang="en-US" sz="1100" dirty="0">
                          <a:effectLst/>
                        </a:rPr>
                        <a:t>đông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a:effectLst/>
                        </a:rPr>
                        <a:t>Đám đông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a:effectLst/>
                        </a:rPr>
                        <a:t>Phải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1.0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0.1 giây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tc>
                  <a:txBody>
                    <a:bodyPr/>
                    <a:lstStyle/>
                    <a:p>
                      <a:pPr marL="0" marR="0" algn="ctr">
                        <a:lnSpc>
                          <a:spcPct val="107000"/>
                        </a:lnSpc>
                        <a:spcBef>
                          <a:spcPts val="0"/>
                        </a:spcBef>
                        <a:spcAft>
                          <a:spcPts val="0"/>
                        </a:spcAft>
                      </a:pPr>
                      <a:r>
                        <a:rPr lang="en-US" sz="1100" dirty="0">
                          <a:effectLst/>
                        </a:rPr>
                        <a:t>Trong các câu hội thoại đám đông, có thể xuất hiện một số từ khoá: Phải, Xuống, Lên,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6363" marR="46363" marT="0" marB="0" anchor="ctr"/>
                </a:tc>
                <a:extLst>
                  <a:ext uri="{0D108BD9-81ED-4DB2-BD59-A6C34878D82A}">
                    <a16:rowId xmlns:a16="http://schemas.microsoft.com/office/drawing/2014/main" val="1973160149"/>
                  </a:ext>
                </a:extLst>
              </a:tr>
            </a:tbl>
          </a:graphicData>
        </a:graphic>
      </p:graphicFrame>
    </p:spTree>
    <p:extLst>
      <p:ext uri="{BB962C8B-B14F-4D97-AF65-F5344CB8AC3E}">
        <p14:creationId xmlns:p14="http://schemas.microsoft.com/office/powerpoint/2010/main" val="21601224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32</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Demo</a:t>
            </a:r>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411600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ctrTitle"/>
          </p:nvPr>
        </p:nvSpPr>
        <p:spPr>
          <a:xfrm>
            <a:off x="4113599" y="2878750"/>
            <a:ext cx="4822295"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smtClean="0"/>
              <a:t>HẠN CHẾ</a:t>
            </a:r>
            <a:endParaRPr dirty="0"/>
          </a:p>
        </p:txBody>
      </p:sp>
      <p:sp>
        <p:nvSpPr>
          <p:cNvPr id="148" name="Google Shape;148;p16"/>
          <p:cNvSpPr txBox="1"/>
          <p:nvPr/>
        </p:nvSpPr>
        <p:spPr>
          <a:xfrm>
            <a:off x="0" y="503350"/>
            <a:ext cx="3471300" cy="381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0" dirty="0">
                <a:solidFill>
                  <a:srgbClr val="18637B"/>
                </a:solidFill>
                <a:latin typeface="Roboto Slab"/>
                <a:ea typeface="Roboto Slab"/>
                <a:cs typeface="Roboto Slab"/>
                <a:sym typeface="Roboto Slab"/>
              </a:rPr>
              <a:t>4</a:t>
            </a:r>
            <a:endParaRPr sz="20000" dirty="0">
              <a:solidFill>
                <a:srgbClr val="18637B"/>
              </a:solidFill>
              <a:latin typeface="Roboto Slab"/>
              <a:ea typeface="Roboto Slab"/>
              <a:cs typeface="Roboto Slab"/>
              <a:sym typeface="Roboto Slab"/>
            </a:endParaRPr>
          </a:p>
        </p:txBody>
      </p:sp>
      <p:sp>
        <p:nvSpPr>
          <p:cNvPr id="149" name="Google Shape;149;p16"/>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33</a:t>
            </a:fld>
            <a:endParaRPr/>
          </a:p>
        </p:txBody>
      </p:sp>
    </p:spTree>
    <p:extLst>
      <p:ext uri="{BB962C8B-B14F-4D97-AF65-F5344CB8AC3E}">
        <p14:creationId xmlns:p14="http://schemas.microsoft.com/office/powerpoint/2010/main" val="163082919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34</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Một số hạn chế của bài toán   </a:t>
            </a: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6" name="Google Shape;192;p20"/>
          <p:cNvSpPr txBox="1">
            <a:spLocks/>
          </p:cNvSpPr>
          <p:nvPr/>
        </p:nvSpPr>
        <p:spPr>
          <a:xfrm>
            <a:off x="551449" y="769087"/>
            <a:ext cx="8315077" cy="337612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spcBef>
                <a:spcPts val="600"/>
              </a:spcBef>
              <a:buFont typeface="Arial" panose="020B0604020202020204" pitchFamily="34" charset="0"/>
              <a:buChar char="•"/>
            </a:pPr>
            <a:r>
              <a:rPr lang="vi-VN" sz="1600" dirty="0">
                <a:latin typeface="Arial" panose="020B0604020202020204" pitchFamily="34" charset="0"/>
                <a:cs typeface="Arial" panose="020B0604020202020204" pitchFamily="34" charset="0"/>
              </a:rPr>
              <a:t>Một số từ bắt đầu bằng các âm giống với các âm đầu của từ </a:t>
            </a:r>
            <a:r>
              <a:rPr lang="vi-VN" sz="1600" dirty="0" smtClean="0">
                <a:latin typeface="Arial" panose="020B0604020202020204" pitchFamily="34" charset="0"/>
                <a:cs typeface="Arial" panose="020B0604020202020204" pitchFamily="34" charset="0"/>
              </a:rPr>
              <a:t>khoá</a:t>
            </a:r>
            <a:r>
              <a:rPr lang="en-US" sz="1600" dirty="0" smtClean="0">
                <a:latin typeface="Arial" panose="020B0604020202020204" pitchFamily="34" charset="0"/>
                <a:cs typeface="Arial" panose="020B0604020202020204" pitchFamily="34" charset="0"/>
              </a:rPr>
              <a:t> được huấn luyện</a:t>
            </a:r>
            <a:r>
              <a:rPr lang="vi-VN" sz="1600" dirty="0" smtClean="0">
                <a:latin typeface="Arial" panose="020B0604020202020204" pitchFamily="34" charset="0"/>
                <a:cs typeface="Arial" panose="020B0604020202020204" pitchFamily="34" charset="0"/>
              </a:rPr>
              <a:t> </a:t>
            </a:r>
            <a:r>
              <a:rPr lang="vi-VN" sz="1600" dirty="0">
                <a:latin typeface="Arial" panose="020B0604020202020204" pitchFamily="34" charset="0"/>
                <a:cs typeface="Arial" panose="020B0604020202020204" pitchFamily="34" charset="0"/>
              </a:rPr>
              <a:t>thì mô hình dễ bị nhận diện nhầm.</a:t>
            </a:r>
          </a:p>
          <a:p>
            <a:pPr marL="285750" indent="-285750">
              <a:spcBef>
                <a:spcPts val="600"/>
              </a:spcBef>
              <a:buFont typeface="Arial" panose="020B0604020202020204" pitchFamily="34" charset="0"/>
              <a:buChar char="•"/>
            </a:pPr>
            <a:r>
              <a:rPr lang="vi-VN" sz="1600" dirty="0">
                <a:latin typeface="Arial" panose="020B0604020202020204" pitchFamily="34" charset="0"/>
                <a:cs typeface="Arial" panose="020B0604020202020204" pitchFamily="34" charset="0"/>
              </a:rPr>
              <a:t>Mô hình nhận diện không tốt trong môi trường nhiều tiếng </a:t>
            </a:r>
            <a:r>
              <a:rPr lang="vi-VN" sz="1600" dirty="0" smtClean="0">
                <a:latin typeface="Arial" panose="020B0604020202020204" pitchFamily="34" charset="0"/>
                <a:cs typeface="Arial" panose="020B0604020202020204" pitchFamily="34" charset="0"/>
              </a:rPr>
              <a:t>ồn</a:t>
            </a:r>
            <a:r>
              <a:rPr lang="en-US" sz="1600" dirty="0" smtClean="0">
                <a:latin typeface="Arial" panose="020B0604020202020204" pitchFamily="34" charset="0"/>
                <a:cs typeface="Arial" panose="020B0604020202020204" pitchFamily="34" charset="0"/>
              </a:rPr>
              <a:t>.</a:t>
            </a:r>
            <a:r>
              <a:rPr lang="vi-VN" sz="1600" dirty="0" smtClean="0">
                <a:latin typeface="Arial" panose="020B0604020202020204" pitchFamily="34" charset="0"/>
                <a:cs typeface="Arial" panose="020B0604020202020204" pitchFamily="34" charset="0"/>
              </a:rPr>
              <a:t> </a:t>
            </a:r>
            <a:endParaRPr lang="vi-VN" sz="1600" dirty="0">
              <a:latin typeface="Arial" panose="020B0604020202020204" pitchFamily="34" charset="0"/>
              <a:cs typeface="Arial" panose="020B0604020202020204" pitchFamily="34" charset="0"/>
            </a:endParaRPr>
          </a:p>
          <a:p>
            <a:pPr marL="285750" indent="-285750">
              <a:spcBef>
                <a:spcPts val="600"/>
              </a:spcBef>
              <a:buFont typeface="Arial" panose="020B0604020202020204" pitchFamily="34" charset="0"/>
              <a:buChar char="•"/>
            </a:pPr>
            <a:r>
              <a:rPr lang="vi-VN" sz="1600" dirty="0">
                <a:latin typeface="Arial" panose="020B0604020202020204" pitchFamily="34" charset="0"/>
                <a:cs typeface="Arial" panose="020B0604020202020204" pitchFamily="34" charset="0"/>
              </a:rPr>
              <a:t>Vấn đề thu thập dữ liệu còn gặp nhiều khó </a:t>
            </a:r>
            <a:r>
              <a:rPr lang="vi-VN" sz="1600" dirty="0" smtClean="0">
                <a:latin typeface="Arial" panose="020B0604020202020204" pitchFamily="34" charset="0"/>
                <a:cs typeface="Arial" panose="020B0604020202020204" pitchFamily="34" charset="0"/>
              </a:rPr>
              <a:t>khăn</a:t>
            </a:r>
            <a:r>
              <a:rPr lang="en-US" sz="1600" dirty="0" smtClean="0">
                <a:latin typeface="Arial" panose="020B0604020202020204" pitchFamily="34" charset="0"/>
                <a:cs typeface="Arial" panose="020B0604020202020204" pitchFamily="34" charset="0"/>
              </a:rPr>
              <a:t>.</a:t>
            </a:r>
            <a:endParaRPr lang="vi-VN" sz="1600" dirty="0">
              <a:latin typeface="Arial" panose="020B0604020202020204" pitchFamily="34" charset="0"/>
              <a:cs typeface="Arial" panose="020B0604020202020204" pitchFamily="34" charset="0"/>
            </a:endParaRPr>
          </a:p>
          <a:p>
            <a:pPr marL="285750" indent="-285750">
              <a:spcBef>
                <a:spcPts val="600"/>
              </a:spcBef>
              <a:buFont typeface="Arial" panose="020B0604020202020204" pitchFamily="34" charset="0"/>
              <a:buChar char="•"/>
            </a:pPr>
            <a:r>
              <a:rPr lang="vi-VN" sz="1600" dirty="0">
                <a:latin typeface="Arial" panose="020B0604020202020204" pitchFamily="34" charset="0"/>
                <a:cs typeface="Arial" panose="020B0604020202020204" pitchFamily="34" charset="0"/>
              </a:rPr>
              <a:t>Số lượng nhãn từ khoá chưa đa </a:t>
            </a:r>
            <a:r>
              <a:rPr lang="vi-VN" sz="1600" dirty="0" smtClean="0">
                <a:latin typeface="Arial" panose="020B0604020202020204" pitchFamily="34" charset="0"/>
                <a:cs typeface="Arial" panose="020B0604020202020204" pitchFamily="34" charset="0"/>
              </a:rPr>
              <a:t>dạng</a:t>
            </a:r>
            <a:r>
              <a:rPr lang="en-US" sz="1600" dirty="0" smtClean="0">
                <a:latin typeface="Arial" panose="020B0604020202020204" pitchFamily="34" charset="0"/>
                <a:cs typeface="Arial" panose="020B0604020202020204" pitchFamily="34" charset="0"/>
              </a:rPr>
              <a:t>.</a:t>
            </a:r>
            <a:endParaRPr lang="vi-VN" sz="1600" dirty="0">
              <a:latin typeface="Arial" panose="020B0604020202020204" pitchFamily="34" charset="0"/>
              <a:cs typeface="Arial" panose="020B0604020202020204" pitchFamily="34" charset="0"/>
            </a:endParaRPr>
          </a:p>
          <a:p>
            <a:pPr marL="285750" indent="-285750">
              <a:spcBef>
                <a:spcPts val="600"/>
              </a:spcBef>
              <a:buFont typeface="Arial" panose="020B0604020202020204" pitchFamily="34" charset="0"/>
              <a:buChar char="•"/>
            </a:pPr>
            <a:r>
              <a:rPr lang="vi-VN" sz="1600" dirty="0">
                <a:latin typeface="Arial" panose="020B0604020202020204" pitchFamily="34" charset="0"/>
                <a:cs typeface="Arial" panose="020B0604020202020204" pitchFamily="34" charset="0"/>
              </a:rPr>
              <a:t>Thuật toán ghi âm audio theo thời gian thực có thể không kết thúc khi người dùng nói quá nhanh (không đủ số frame là tiếng người</a:t>
            </a:r>
            <a:r>
              <a:rPr lang="vi-VN" sz="1600" dirty="0" smtClean="0">
                <a:latin typeface="Arial" panose="020B0604020202020204" pitchFamily="34" charset="0"/>
                <a:cs typeface="Arial" panose="020B0604020202020204" pitchFamily="34" charset="0"/>
              </a:rPr>
              <a:t>)</a:t>
            </a:r>
            <a:r>
              <a:rPr lang="en-US" sz="1600" dirty="0" smtClean="0">
                <a:latin typeface="Arial" panose="020B0604020202020204" pitchFamily="34" charset="0"/>
                <a:cs typeface="Arial" panose="020B0604020202020204" pitchFamily="34" charset="0"/>
              </a:rPr>
              <a:t>.</a:t>
            </a:r>
            <a:endParaRPr lang="vi-V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22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barn(inVertical)">
                                      <p:cBhvr>
                                        <p:cTn id="7" dur="500"/>
                                        <p:tgtEl>
                                          <p:spTgt spid="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6">
                                            <p:txEl>
                                              <p:pRg st="1" end="1"/>
                                            </p:txEl>
                                          </p:spTgt>
                                        </p:tgtEl>
                                        <p:attrNameLst>
                                          <p:attrName>style.visibility</p:attrName>
                                        </p:attrNameLst>
                                      </p:cBhvr>
                                      <p:to>
                                        <p:strVal val="visible"/>
                                      </p:to>
                                    </p:set>
                                    <p:animEffect transition="in" filter="barn(inVertical)">
                                      <p:cBhvr>
                                        <p:cTn id="12" dur="500"/>
                                        <p:tgtEl>
                                          <p:spTgt spid="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6">
                                            <p:txEl>
                                              <p:pRg st="2" end="2"/>
                                            </p:txEl>
                                          </p:spTgt>
                                        </p:tgtEl>
                                        <p:attrNameLst>
                                          <p:attrName>style.visibility</p:attrName>
                                        </p:attrNameLst>
                                      </p:cBhvr>
                                      <p:to>
                                        <p:strVal val="visible"/>
                                      </p:to>
                                    </p:set>
                                    <p:animEffect transition="in" filter="barn(inVertical)">
                                      <p:cBhvr>
                                        <p:cTn id="17" dur="500"/>
                                        <p:tgtEl>
                                          <p:spTgt spid="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6">
                                            <p:txEl>
                                              <p:pRg st="3" end="3"/>
                                            </p:txEl>
                                          </p:spTgt>
                                        </p:tgtEl>
                                        <p:attrNameLst>
                                          <p:attrName>style.visibility</p:attrName>
                                        </p:attrNameLst>
                                      </p:cBhvr>
                                      <p:to>
                                        <p:strVal val="visible"/>
                                      </p:to>
                                    </p:set>
                                    <p:animEffect transition="in" filter="barn(inVertical)">
                                      <p:cBhvr>
                                        <p:cTn id="22" dur="500"/>
                                        <p:tgtEl>
                                          <p:spTgt spid="3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6">
                                            <p:txEl>
                                              <p:pRg st="4" end="4"/>
                                            </p:txEl>
                                          </p:spTgt>
                                        </p:tgtEl>
                                        <p:attrNameLst>
                                          <p:attrName>style.visibility</p:attrName>
                                        </p:attrNameLst>
                                      </p:cBhvr>
                                      <p:to>
                                        <p:strVal val="visible"/>
                                      </p:to>
                                    </p:set>
                                    <p:animEffect transition="in" filter="barn(inVertical)">
                                      <p:cBhvr>
                                        <p:cTn id="27" dur="500"/>
                                        <p:tgtEl>
                                          <p:spTgt spid="3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ctrTitle"/>
          </p:nvPr>
        </p:nvSpPr>
        <p:spPr>
          <a:xfrm>
            <a:off x="4113599" y="2878750"/>
            <a:ext cx="4822295"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smtClean="0"/>
              <a:t>KẾT LUẬN VÀ HƯỚNG PHÁT TRIỂN</a:t>
            </a:r>
            <a:endParaRPr dirty="0"/>
          </a:p>
        </p:txBody>
      </p:sp>
      <p:sp>
        <p:nvSpPr>
          <p:cNvPr id="148" name="Google Shape;148;p16"/>
          <p:cNvSpPr txBox="1"/>
          <p:nvPr/>
        </p:nvSpPr>
        <p:spPr>
          <a:xfrm>
            <a:off x="0" y="503350"/>
            <a:ext cx="3471300" cy="3818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0" dirty="0">
                <a:solidFill>
                  <a:srgbClr val="18637B"/>
                </a:solidFill>
                <a:latin typeface="Roboto Slab"/>
                <a:ea typeface="Roboto Slab"/>
                <a:cs typeface="Roboto Slab"/>
                <a:sym typeface="Roboto Slab"/>
              </a:rPr>
              <a:t>5</a:t>
            </a:r>
            <a:endParaRPr sz="20000" dirty="0">
              <a:solidFill>
                <a:srgbClr val="18637B"/>
              </a:solidFill>
              <a:latin typeface="Roboto Slab"/>
              <a:ea typeface="Roboto Slab"/>
              <a:cs typeface="Roboto Slab"/>
              <a:sym typeface="Roboto Slab"/>
            </a:endParaRPr>
          </a:p>
        </p:txBody>
      </p:sp>
      <p:sp>
        <p:nvSpPr>
          <p:cNvPr id="149" name="Google Shape;149;p16"/>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35</a:t>
            </a:fld>
            <a:endParaRPr/>
          </a:p>
        </p:txBody>
      </p:sp>
    </p:spTree>
    <p:extLst>
      <p:ext uri="{BB962C8B-B14F-4D97-AF65-F5344CB8AC3E}">
        <p14:creationId xmlns:p14="http://schemas.microsoft.com/office/powerpoint/2010/main" val="9599682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10" name="Google Shape;410;p33"/>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36</a:t>
            </a:fld>
            <a:endParaRPr/>
          </a:p>
        </p:txBody>
      </p:sp>
      <p:sp>
        <p:nvSpPr>
          <p:cNvPr id="9" name="Content Placeholder 2"/>
          <p:cNvSpPr txBox="1">
            <a:spLocks/>
          </p:cNvSpPr>
          <p:nvPr/>
        </p:nvSpPr>
        <p:spPr>
          <a:xfrm>
            <a:off x="551449" y="246806"/>
            <a:ext cx="8315077" cy="463634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just">
              <a:buNone/>
            </a:pPr>
            <a:r>
              <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Đóng góp của đồ </a:t>
            </a:r>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án </a:t>
            </a:r>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marL="285750" indent="-285750" algn="just">
              <a:lnSpc>
                <a:spcPct val="150000"/>
              </a:lnSpc>
              <a:buFont typeface="Arial" panose="020B0604020202020204" pitchFamily="34" charset="0"/>
              <a:buChar char="•"/>
            </a:pP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Thu thập và đề xuất phương pháp tiền xử lý, làm giàu dữ liệu.</a:t>
            </a:r>
          </a:p>
          <a:p>
            <a:pPr marL="285750" indent="-285750" algn="just">
              <a:lnSpc>
                <a:spcPct val="150000"/>
              </a:lnSpc>
              <a:buFont typeface="Arial" panose="020B0604020202020204" pitchFamily="34" charset="0"/>
              <a:buChar char="•"/>
            </a:pP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Xây dựng các mô hình nhận diện phát âm từ khoá dựa trên các mô hình học máy, học sâu.</a:t>
            </a:r>
          </a:p>
          <a:p>
            <a:pPr marL="285750" indent="-285750" algn="just">
              <a:lnSpc>
                <a:spcPct val="150000"/>
              </a:lnSpc>
              <a:buFont typeface="Arial" panose="020B0604020202020204" pitchFamily="34" charset="0"/>
              <a:buChar char="•"/>
            </a:pP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Ứng dụng được mô hình lên thiết bị JETSON </a:t>
            </a: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NANO </a:t>
            </a: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với thời gian phản hồi cho một giao dịch dự đoán không quá 0.5 giây</a:t>
            </a:r>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a:t>
            </a:r>
            <a:endParaRPr lang="en-US" sz="24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marL="0" indent="0" algn="just">
              <a:buNone/>
            </a:pPr>
            <a:r>
              <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rPr>
              <a:t>Hướng phát </a:t>
            </a:r>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triển trong tương lai</a:t>
            </a:r>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marL="285750" indent="-285750" algn="just">
              <a:lnSpc>
                <a:spcPct val="150000"/>
              </a:lnSpc>
              <a:buFont typeface="Arial" panose="020B0604020202020204" pitchFamily="34" charset="0"/>
              <a:buChar char="•"/>
            </a:pP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Thu thập thêm nhiều dữ liệu, đặc biệt là dữ liệu audio miền trong</a:t>
            </a:r>
          </a:p>
          <a:p>
            <a:pPr marL="285750" indent="-285750" algn="just">
              <a:lnSpc>
                <a:spcPct val="150000"/>
              </a:lnSpc>
              <a:buFont typeface="Arial" panose="020B0604020202020204" pitchFamily="34" charset="0"/>
              <a:buChar char="•"/>
            </a:pP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Tìm hiểu thêm các mô hình học sâu khác để cải thiện độ chính xác</a:t>
            </a:r>
          </a:p>
          <a:p>
            <a:pPr marL="285750" indent="-285750" algn="just">
              <a:lnSpc>
                <a:spcPct val="150000"/>
              </a:lnSpc>
              <a:buFont typeface="Arial" panose="020B0604020202020204" pitchFamily="34" charset="0"/>
              <a:buChar char="•"/>
            </a:pP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Tìm hiểu thêm các phương pháp phát hiện nhiễu, phát hiện tiếng nói</a:t>
            </a:r>
          </a:p>
          <a:p>
            <a:pPr marL="285750" indent="-285750" algn="just">
              <a:lnSpc>
                <a:spcPct val="150000"/>
              </a:lnSpc>
              <a:buFont typeface="Arial" panose="020B0604020202020204" pitchFamily="34" charset="0"/>
              <a:buChar char="•"/>
            </a:pPr>
            <a:r>
              <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rPr>
              <a:t>Phát triển, ứng dụng được mô hình trên nhiều thiết bị thông minh khác nhau</a:t>
            </a:r>
          </a:p>
          <a:p>
            <a:pPr algn="just"/>
            <a:r>
              <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endParaRPr lang="en-US" sz="2200" b="1" dirty="0" smtClean="0">
              <a:solidFill>
                <a:schemeClr val="tx1"/>
              </a:solidFill>
              <a:latin typeface="Arial" panose="020B0604020202020204" pitchFamily="34" charset="0"/>
              <a:ea typeface="Arial Unicode MS" panose="020B0604020202020204" pitchFamily="34" charset="-128"/>
              <a:cs typeface="Arial" panose="020B0604020202020204" pitchFamily="34" charset="0"/>
            </a:endParaRPr>
          </a:p>
          <a:p>
            <a:pPr algn="just"/>
            <a:r>
              <a:rPr lang="en-US" sz="1600" dirty="0" smtClean="0">
                <a:solidFill>
                  <a:schemeClr val="tx1"/>
                </a:solidFill>
                <a:latin typeface="Arial" panose="020B0604020202020204" pitchFamily="34" charset="0"/>
                <a:ea typeface="Arial Unicode MS" panose="020B0604020202020204" pitchFamily="34" charset="-128"/>
                <a:cs typeface="Arial" panose="020B0604020202020204" pitchFamily="34" charset="0"/>
              </a:rPr>
              <a:t>   </a:t>
            </a:r>
          </a:p>
          <a:p>
            <a:pPr lvl="5" algn="just"/>
            <a:endParaRPr lang="en-US" sz="1600" dirty="0">
              <a:solidFill>
                <a:schemeClr val="tx1"/>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3824451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arn(inVertic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barn(inVertical)">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barn(inVertical)">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barn(inVertical)">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barn(inVertical)">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barn(inVertical)">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barn(inVertical)">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9">
                                            <p:txEl>
                                              <p:pRg st="7" end="7"/>
                                            </p:txEl>
                                          </p:spTgt>
                                        </p:tgtEl>
                                        <p:attrNameLst>
                                          <p:attrName>style.visibility</p:attrName>
                                        </p:attrNameLst>
                                      </p:cBhvr>
                                      <p:to>
                                        <p:strVal val="visible"/>
                                      </p:to>
                                    </p:set>
                                    <p:animEffect transition="in" filter="barn(inVertical)">
                                      <p:cBhvr>
                                        <p:cTn id="42" dur="500"/>
                                        <p:tgtEl>
                                          <p:spTgt spid="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animEffect transition="in" filter="barn(inVertical)">
                                      <p:cBhvr>
                                        <p:cTn id="47"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7"/>
          <p:cNvSpPr txBox="1">
            <a:spLocks noGrp="1"/>
          </p:cNvSpPr>
          <p:nvPr>
            <p:ph type="subTitle" idx="4294967295"/>
          </p:nvPr>
        </p:nvSpPr>
        <p:spPr>
          <a:xfrm>
            <a:off x="685800" y="505225"/>
            <a:ext cx="7884600" cy="38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US" sz="2400" b="1" dirty="0" smtClean="0">
                <a:solidFill>
                  <a:srgbClr val="FFFFFF"/>
                </a:solidFill>
                <a:latin typeface="+mn-lt"/>
              </a:rPr>
              <a:t>CẢM ƠN THẦY CÔ VÀ CÁC BẠN </a:t>
            </a:r>
            <a:r>
              <a:rPr lang="en-US" sz="2400" b="1" smtClean="0">
                <a:solidFill>
                  <a:srgbClr val="FFFFFF"/>
                </a:solidFill>
                <a:latin typeface="+mn-lt"/>
              </a:rPr>
              <a:t>ĐÃ THEO DÕI</a:t>
            </a:r>
            <a:endParaRPr sz="2400" b="1" dirty="0">
              <a:solidFill>
                <a:srgbClr val="FFFFFF"/>
              </a:solidFill>
              <a:latin typeface="+mn-lt"/>
            </a:endParaRPr>
          </a:p>
        </p:txBody>
      </p:sp>
      <p:sp>
        <p:nvSpPr>
          <p:cNvPr id="440" name="Google Shape;440;p37"/>
          <p:cNvSpPr txBox="1">
            <a:spLocks noGrp="1"/>
          </p:cNvSpPr>
          <p:nvPr>
            <p:ph type="sldNum" idx="12"/>
          </p:nvPr>
        </p:nvSpPr>
        <p:spPr>
          <a:xfrm>
            <a:off x="-51050" y="4819400"/>
            <a:ext cx="349200" cy="32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37</a:t>
            </a:fld>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arwick template">
  <a:themeElements>
    <a:clrScheme name="Custom 347">
      <a:dk1>
        <a:srgbClr val="114454"/>
      </a:dk1>
      <a:lt1>
        <a:srgbClr val="FFFFFF"/>
      </a:lt1>
      <a:dk2>
        <a:srgbClr val="5F6C70"/>
      </a:dk2>
      <a:lt2>
        <a:srgbClr val="CED5D8"/>
      </a:lt2>
      <a:accent1>
        <a:srgbClr val="114454"/>
      </a:accent1>
      <a:accent2>
        <a:srgbClr val="18637B"/>
      </a:accent2>
      <a:accent3>
        <a:srgbClr val="0F3D38"/>
      </a:accent3>
      <a:accent4>
        <a:srgbClr val="2E6E4B"/>
      </a:accent4>
      <a:accent5>
        <a:srgbClr val="3B8D61"/>
      </a:accent5>
      <a:accent6>
        <a:srgbClr val="94BF6E"/>
      </a:accent6>
      <a:hlink>
        <a:srgbClr val="114454"/>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1071</TotalTime>
  <Words>3894</Words>
  <Application>Microsoft Office PowerPoint</Application>
  <PresentationFormat>On-screen Show (16:9)</PresentationFormat>
  <Paragraphs>512</Paragraphs>
  <Slides>37</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 Unicode MS</vt:lpstr>
      <vt:lpstr>Calibri</vt:lpstr>
      <vt:lpstr>Roboto Slab</vt:lpstr>
      <vt:lpstr>Arial</vt:lpstr>
      <vt:lpstr>Times New Roman</vt:lpstr>
      <vt:lpstr>Nixie One</vt:lpstr>
      <vt:lpstr>Warwick template</vt:lpstr>
      <vt:lpstr>ĐỒ ÁN TỐT NGHIỆP Nhận diện phát âm  từ khoá trên thiết bị</vt:lpstr>
      <vt:lpstr>Nội dung chính</vt:lpstr>
      <vt:lpstr>ĐẶT VẤN ĐỀ</vt:lpstr>
      <vt:lpstr>PowerPoint Presentation</vt:lpstr>
      <vt:lpstr>PowerPoint Presentation</vt:lpstr>
      <vt:lpstr>Nhận xét</vt:lpstr>
      <vt:lpstr>PowerPoint Presentation</vt:lpstr>
      <vt:lpstr>PowerPoint Presentation</vt:lpstr>
      <vt:lpstr>PHƯƠNG PHÁP GIẢI QUYẾT BÀI TOÁN</vt:lpstr>
      <vt:lpstr>Quy trình thực hiện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KẾT QUẢ ĐẠT ĐƯỢC</vt:lpstr>
      <vt:lpstr>PowerPoint Presentation</vt:lpstr>
      <vt:lpstr>PowerPoint Presentation</vt:lpstr>
      <vt:lpstr>PowerPoint Presentation</vt:lpstr>
      <vt:lpstr>PowerPoint Presentation</vt:lpstr>
      <vt:lpstr>PowerPoint Presentation</vt:lpstr>
      <vt:lpstr>HẠN CHẾ</vt:lpstr>
      <vt:lpstr>PowerPoint Presentation</vt:lpstr>
      <vt:lpstr>KẾT LUẬN VÀ HƯỚNG PHÁT TRIỂN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Nhận diện phát âm từ khoá trên thiết bị</dc:title>
  <cp:lastModifiedBy>Nguyen Hy</cp:lastModifiedBy>
  <cp:revision>212</cp:revision>
  <dcterms:modified xsi:type="dcterms:W3CDTF">2021-07-09T12:54:58Z</dcterms:modified>
</cp:coreProperties>
</file>